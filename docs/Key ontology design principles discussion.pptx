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58"/>
  </p:normalViewPr>
  <p:slideViewPr>
    <p:cSldViewPr snapToGrid="0">
      <p:cViewPr varScale="1">
        <p:scale>
          <a:sx n="96" d="100"/>
          <a:sy n="96" d="100"/>
        </p:scale>
        <p:origin x="16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27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6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2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8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3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1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0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1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B41877D-78BB-2247-8513-F6E22C041017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110F77D-6A9B-DC4D-AF01-FB451275D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19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EFAF44-F8AC-8E0C-F65F-87CD601F69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1142995" y="643466"/>
            <a:ext cx="990600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06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E6C3E7-52AC-326A-1F4E-59A19DF01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25305"/>
            <a:ext cx="10905066" cy="460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4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A537A9-7FFF-B0D3-3015-1CB935EAE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29886"/>
            <a:ext cx="10905066" cy="479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0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EAC15C-4782-14AF-342C-0710245D4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09242"/>
            <a:ext cx="7772400" cy="283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4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4289B0-C57E-2C1C-D4DF-ACCAEAD71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93460"/>
            <a:ext cx="10905066" cy="447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4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6F05E8-F449-5BEF-01EA-EE91FDD20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07093"/>
            <a:ext cx="10905066" cy="444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16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640080" y="300000"/>
            <a:ext cx="10911840" cy="30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en-US" sz="1100" b="1" spc="200">
                <a:solidFill>
                  <a:srgbClr val="2FA98C"/>
                </a:solidFill>
              </a:rPr>
              <a:t>ARTMIND · KNOWLEDGE MODEL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80" y="620000"/>
            <a:ext cx="1091184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+mj-lt"/>
              </a:rPr>
              <a:t>Structured ↔ unstructured: where we've landed</a:t>
            </a:r>
          </a:p>
        </p:txBody>
      </p:sp>
      <p:sp>
        <p:nvSpPr>
          <p:cNvPr id="12" name="Rule"/>
          <p:cNvSpPr/>
          <p:nvPr/>
        </p:nvSpPr>
        <p:spPr>
          <a:xfrm>
            <a:off x="640080" y="1230000"/>
            <a:ext cx="1500000" cy="34000"/>
          </a:xfrm>
          <a:prstGeom prst="rect">
            <a:avLst/>
          </a:prstGeom>
          <a:solidFill>
            <a:srgbClr val="0850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reamble"/>
          <p:cNvSpPr txBox="1"/>
          <p:nvPr/>
        </p:nvSpPr>
        <p:spPr>
          <a:xfrm>
            <a:off x="640080" y="1360000"/>
            <a:ext cx="1091184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sz="1200">
                <a:solidFill>
                  <a:srgbClr val="C9C9C9"/>
                </a:solidFill>
              </a:rPr>
              <a:t>This is so central to artmind — and to getting it right. I don't mind Option 2 (going further); we don't need to be backward compatible. Here's what I've laid out so far.</a:t>
            </a:r>
          </a:p>
        </p:txBody>
      </p:sp>
      <p:sp>
        <p:nvSpPr>
          <p:cNvPr id="20" name="Badge 1"/>
          <p:cNvSpPr/>
          <p:nvPr/>
        </p:nvSpPr>
        <p:spPr>
          <a:xfrm>
            <a:off x="640080" y="2080000"/>
            <a:ext cx="520000" cy="520000"/>
          </a:xfrm>
          <a:prstGeom prst="roundRect">
            <a:avLst>
              <a:gd name="adj" fmla="val 20000"/>
            </a:avLst>
          </a:prstGeom>
          <a:solidFill>
            <a:srgbClr val="08504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1320000" y="2080000"/>
            <a:ext cx="1023192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100" b="1">
                <a:solidFill>
                  <a:srgbClr val="FFFFFF"/>
                </a:solidFill>
              </a:rPr>
              <a:t>FIBO</a:t>
            </a:r>
            <a:r>
              <a:rPr lang="en-US" sz="1100">
                <a:solidFill>
                  <a:srgbClr val="CFCFCF"/>
                </a:solidFill>
              </a:rPr>
              <a:t> is good for structured data's metadata but isn't useful beyond a small subset for unstructured data extraction or organization — it can at most be a reference. However, its concept of classes is where the possibility of joining structured and unstructured data comes in.</a:t>
            </a:r>
          </a:p>
        </p:txBody>
      </p:sp>
      <p:sp>
        <p:nvSpPr>
          <p:cNvPr id="22" name="Badge 2"/>
          <p:cNvSpPr/>
          <p:nvPr/>
        </p:nvSpPr>
        <p:spPr>
          <a:xfrm>
            <a:off x="640080" y="2900000"/>
            <a:ext cx="520000" cy="520000"/>
          </a:xfrm>
          <a:prstGeom prst="roundRect">
            <a:avLst>
              <a:gd name="adj" fmla="val 20000"/>
            </a:avLst>
          </a:prstGeom>
          <a:solidFill>
            <a:srgbClr val="3C348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1320000" y="2900000"/>
            <a:ext cx="10231920" cy="5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100" b="1">
                <a:solidFill>
                  <a:srgbClr val="FFFFFF"/>
                </a:solidFill>
              </a:rPr>
              <a:t>APQC</a:t>
            </a:r>
            <a:r>
              <a:rPr lang="en-US" sz="1100">
                <a:solidFill>
                  <a:srgbClr val="CFCFCF"/>
                </a:solidFill>
              </a:rPr>
              <a:t> provides process-level keywords that are useful as a reference for defining document schemas for extraction, as it helps standardise the entity names for the graphs.</a:t>
            </a:r>
          </a:p>
        </p:txBody>
      </p:sp>
      <p:sp>
        <p:nvSpPr>
          <p:cNvPr id="24" name="Badge 3"/>
          <p:cNvSpPr/>
          <p:nvPr/>
        </p:nvSpPr>
        <p:spPr>
          <a:xfrm>
            <a:off x="640080" y="3720000"/>
            <a:ext cx="520000" cy="520000"/>
          </a:xfrm>
          <a:prstGeom prst="roundRect">
            <a:avLst>
              <a:gd name="adj" fmla="val 20000"/>
            </a:avLst>
          </a:prstGeom>
          <a:solidFill>
            <a:srgbClr val="712B1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 3"/>
          <p:cNvSpPr txBox="1"/>
          <p:nvPr/>
        </p:nvSpPr>
        <p:spPr>
          <a:xfrm>
            <a:off x="1320000" y="3720000"/>
            <a:ext cx="10231920" cy="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100" b="1">
                <a:solidFill>
                  <a:srgbClr val="FFFFFF"/>
                </a:solidFill>
              </a:rPr>
              <a:t>Domains</a:t>
            </a:r>
            <a:r>
              <a:rPr lang="en-US" sz="1100">
                <a:solidFill>
                  <a:srgbClr val="CFCFCF"/>
                </a:solidFill>
              </a:rPr>
              <a:t> in artmind serve at least two purposes, and if possible I want to keep it that way: (a) a filter for queries, to zoom down on a part of the graph — otherwise we'll have too many entity definitions and graph nodes to deal with for any query; (b) the extraction schemas for the KG live at a domain (or domain.xxx) level — otherwise an extraction prompt with too many entities or relationships becomes too long and complex for an LLM to practically extract graph entities from a document chunk.</a:t>
            </a:r>
          </a:p>
        </p:txBody>
      </p:sp>
      <p:sp>
        <p:nvSpPr>
          <p:cNvPr id="26" name="Badge 4"/>
          <p:cNvSpPr/>
          <p:nvPr/>
        </p:nvSpPr>
        <p:spPr>
          <a:xfrm>
            <a:off x="640080" y="4720000"/>
            <a:ext cx="520000" cy="520000"/>
          </a:xfrm>
          <a:prstGeom prst="roundRect">
            <a:avLst>
              <a:gd name="adj" fmla="val 20000"/>
            </a:avLst>
          </a:prstGeom>
          <a:solidFill>
            <a:srgbClr val="08504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 4"/>
          <p:cNvSpPr txBox="1"/>
          <p:nvPr/>
        </p:nvSpPr>
        <p:spPr>
          <a:xfrm>
            <a:off x="1320000" y="4720000"/>
            <a:ext cx="10231920" cy="8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100" b="1">
                <a:solidFill>
                  <a:srgbClr val="FFFFFF"/>
                </a:solidFill>
              </a:rPr>
              <a:t>What lives where</a:t>
            </a:r>
            <a:r>
              <a:rPr lang="en-US" sz="1100">
                <a:solidFill>
                  <a:srgbClr val="CFCFCF"/>
                </a:solidFill>
              </a:rPr>
              <a:t> — structured store vs. graph — is also an important consideration. We resolved that instance data and lookup data are at home in structured tables, and normative data in the graph (todo: write these definitions down more strictly). This raises the questions of "joining" and "detecting conflicts" between structured and unstructured data, both of which require a bridge. Temporality is handled by graph temporality and SCD2 for structured data.</a:t>
            </a:r>
          </a:p>
        </p:txBody>
      </p:sp>
      <p:sp>
        <p:nvSpPr>
          <p:cNvPr id="28" name="Badge 5"/>
          <p:cNvSpPr/>
          <p:nvPr/>
        </p:nvSpPr>
        <p:spPr>
          <a:xfrm>
            <a:off x="640080" y="5640000"/>
            <a:ext cx="520000" cy="520000"/>
          </a:xfrm>
          <a:prstGeom prst="roundRect">
            <a:avLst>
              <a:gd name="adj" fmla="val 20000"/>
            </a:avLst>
          </a:prstGeom>
          <a:solidFill>
            <a:srgbClr val="3C348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 5"/>
          <p:cNvSpPr txBox="1"/>
          <p:nvPr/>
        </p:nvSpPr>
        <p:spPr>
          <a:xfrm>
            <a:off x="1320000" y="5640000"/>
            <a:ext cx="10231920" cy="8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100" b="1">
                <a:solidFill>
                  <a:srgbClr val="FFFFFF"/>
                </a:solidFill>
              </a:rPr>
              <a:t>The join</a:t>
            </a:r>
            <a:r>
              <a:rPr lang="en-US" sz="1100">
                <a:solidFill>
                  <a:srgbClr val="CFCFCF"/>
                </a:solidFill>
              </a:rPr>
              <a:t> — we still need some kind of joining mechanism between structured and unstructured data. It won't be a one-to-one relationship between entity_class and table_name, so the question we're trying to answer is: what is it? entity_class could be the answer — we need to test this out in terms of pros and cons and finalize.</a:t>
            </a:r>
          </a:p>
        </p:txBody>
      </p:sp>
    </p:spTree>
    <p:extLst>
      <p:ext uri="{BB962C8B-B14F-4D97-AF65-F5344CB8AC3E}">
        <p14:creationId xmlns:p14="http://schemas.microsoft.com/office/powerpoint/2010/main" val="99456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F64F6C-D5D2-534F-1602-8FA17DF21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98042"/>
            <a:ext cx="10905066" cy="466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50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7A04C0-B8C0-6CFB-5508-D21F854BF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66199"/>
            <a:ext cx="10905066" cy="45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2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</TotalTime>
  <Words>387</Words>
  <Application>Microsoft Macintosh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SURJIT DAS</dc:creator>
  <cp:lastModifiedBy>SURJIT DAS</cp:lastModifiedBy>
  <cp:revision>2</cp:revision>
  <dcterms:created xsi:type="dcterms:W3CDTF">2026-07-25T06:22:51Z</dcterms:created>
  <dcterms:modified xsi:type="dcterms:W3CDTF">2026-07-25T10:57:54Z</dcterms:modified>
</cp:coreProperties>
</file>