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9"/>
  </p:notesMasterIdLst>
  <p:sldIdLst>
    <p:sldId id="457" r:id="rId5"/>
    <p:sldId id="2147374945" r:id="rId6"/>
    <p:sldId id="2142531849" r:id="rId7"/>
    <p:sldId id="214737529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79" autoAdjust="0"/>
    <p:restoredTop sz="94658"/>
  </p:normalViewPr>
  <p:slideViewPr>
    <p:cSldViewPr snapToGrid="0">
      <p:cViewPr varScale="1">
        <p:scale>
          <a:sx n="116" d="100"/>
          <a:sy n="116" d="100"/>
        </p:scale>
        <p:origin x="12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07202-7351-4C3C-BC2E-38EDC2E42236}" type="datetimeFigureOut">
              <a:rPr lang="en-IN" smtClean="0"/>
              <a:t>30/04/26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38AE23-0690-4FA9-9364-8236F70E02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076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46DC93-F8AB-4319-80D7-1D13B74DE5BC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449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IN"/>
              <a:t>Prepopulated form with existing customer data form – colour code</a:t>
            </a:r>
          </a:p>
          <a:p>
            <a:pPr marL="228600" indent="-228600">
              <a:buAutoNum type="arabicPeriod"/>
            </a:pPr>
            <a:r>
              <a:rPr lang="en-IN"/>
              <a:t>Applied Infused AI specifically OCR for document verification</a:t>
            </a:r>
          </a:p>
          <a:p>
            <a:pPr marL="228600" indent="-228600">
              <a:buAutoNum type="arabicPeriod"/>
            </a:pPr>
            <a:r>
              <a:rPr lang="en-IN"/>
              <a:t>3. fee collection is process digitisation – introducing digital payments</a:t>
            </a:r>
          </a:p>
          <a:p>
            <a:pPr marL="228600" indent="-228600">
              <a:buAutoNum type="arabicPeriod"/>
            </a:pPr>
            <a:r>
              <a:rPr lang="en-IN"/>
              <a:t>Put process slide back in</a:t>
            </a:r>
          </a:p>
        </p:txBody>
      </p:sp>
    </p:spTree>
    <p:extLst>
      <p:ext uri="{BB962C8B-B14F-4D97-AF65-F5344CB8AC3E}">
        <p14:creationId xmlns:p14="http://schemas.microsoft.com/office/powerpoint/2010/main" val="2819667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D51A79-DCC7-488C-BBAF-33AF2F246F9F}" type="slidenum">
              <a:rPr kumimoji="0" lang="en-I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3316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695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6404D-0E92-5044-D6CE-FEA4395E4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6E42A-2F25-9D59-90AB-893F235C8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BCD8A-C48C-713F-BBFA-CE8AB687C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795B-F9A2-E84A-BAFE-8092886CD915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A6387-FF41-5157-02EB-B513556CF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A91F-71AB-46EF-ECCD-BAFB9726D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0E9AD-8079-AB45-BA84-6F13477B7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55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B8A0E-53A5-FBDB-6CEF-AD61A569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B9BF2-AA2F-1BBC-B296-2B86AD144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496DD-AE43-03E1-21FF-B99EFD9A1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795B-F9A2-E84A-BAFE-8092886CD915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094FF-40D1-7434-4EB8-50299EB35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DED4C-FED4-C82E-0D7D-FF6020F4A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0E9AD-8079-AB45-BA84-6F13477B7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086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1356E-EE7D-81EE-EAF8-C90E9583B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69430-ACB8-1977-3F8B-383144D6D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0DDE2-89B4-98D5-87ED-34028CF51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795B-F9A2-E84A-BAFE-8092886CD915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0AC06-7DCA-2EA6-1140-F5CD8C4A9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D451C-323A-1A7D-B8AC-5E9BF6D3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0E9AD-8079-AB45-BA84-6F13477B7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361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308E4-2B18-C1D6-8686-1E591F463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DC589-042E-70FA-EC3A-3309C188FB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F545CE-3064-FAED-EE18-20C9D460D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12199C-BC6E-2DE5-60A1-335969A65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795B-F9A2-E84A-BAFE-8092886CD915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3DEEF-E204-C2A4-0C37-91AEDAE69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AB3B0-9A83-E32C-2779-BAF8573D4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0E9AD-8079-AB45-BA84-6F13477B7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241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E9B9A-8C4C-F877-23D4-759CE37C8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6D0C6-D77F-F868-14C3-177008348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1758E9-B3AC-1B6E-9EB2-EF1F188B3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392041-BB32-89D4-9FDA-B93A1BA9C3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5CA5AB-F4F2-2D41-881C-88CFB73C3D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5476C0-C13A-F09F-22A3-11D018359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795B-F9A2-E84A-BAFE-8092886CD915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9E4AA4-7C04-4D17-6A21-C5612DE73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2FAC9C-D960-B77F-BF38-30ADAA07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0E9AD-8079-AB45-BA84-6F13477B7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26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15405-DD78-16C9-F59B-0F0A204A5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0654A9-DA92-ECF7-7CB9-E1CE82328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795B-F9A2-E84A-BAFE-8092886CD915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B7FC38-FBFF-20FD-22C4-481A830BE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9787E5-7114-7AF2-A20E-A89D8EBD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0E9AD-8079-AB45-BA84-6F13477B7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7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9A5EF7-179F-70E8-2260-183669BDA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795B-F9A2-E84A-BAFE-8092886CD915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90667D-E67B-D140-19FE-75A809CA1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7C0A1-BBEE-BA33-D33B-89DF17A69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0E9AD-8079-AB45-BA84-6F13477B7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386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C66DD-4BC3-9EE2-5EBD-4CC3378E9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5E721-8C9E-775E-368C-A702360B8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6DFC7A-267B-8593-97F9-47489DFBB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A3EBB-88D2-08C1-AEB2-C277B3018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795B-F9A2-E84A-BAFE-8092886CD915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69D0BB-7F49-C78F-1462-924C88C6D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E976B-A332-7B7C-0947-1C342F06E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0E9AD-8079-AB45-BA84-6F13477B7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513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797B6-57BF-DD3C-FF09-B46D8A845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7729B0-16AA-C1D5-EC12-16793670A5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6D1112-5D2A-C034-3196-388DA0105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A4612-4D20-DDA9-085C-AA5319E49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795B-F9A2-E84A-BAFE-8092886CD915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5AC997-1D8A-EC8D-E789-17B436FF0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ABFCF-3068-C201-E5AB-1900EEAA8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0E9AD-8079-AB45-BA84-6F13477B7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C5C9A-8AF2-99B0-D9ED-17A4A541C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788526-9B05-84B2-8474-ABC122C05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A32B9-9C81-E817-C4C8-E2BE02FD5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795B-F9A2-E84A-BAFE-8092886CD915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30A60-4B7D-DED3-8FE5-71729A66D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99F25-4298-764B-278B-A089B4BD5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0E9AD-8079-AB45-BA84-6F13477B7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740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C61A7F-0937-17E5-83A1-8CC0526852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499950-6CA8-8111-153D-561B3E94CF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40E07-5EC6-E67C-5A3F-71485B768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795B-F9A2-E84A-BAFE-8092886CD915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77EDC-9196-C2BD-0073-A80465730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E88E7-30F6-A6E6-F12C-B187035B3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0E9AD-8079-AB45-BA84-6F13477B7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68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2020 / © 2020 </a:t>
            </a:r>
            <a:r>
              <a:rPr lang="en-US" dirty="0" err="1"/>
              <a:t>TechPartner</a:t>
            </a:r>
            <a:r>
              <a:rPr lang="en-US" dirty="0"/>
              <a:t>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96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F4BF77-2773-FEB9-A5E7-F5E3DE4A3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0BF1B-C988-712E-AFA1-5FA6A7C63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5E2CF-3E1D-4A27-2EC5-13509F6DF5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8795B-F9A2-E84A-BAFE-8092886CD915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D6E64-F2B3-7730-6071-AF5951590B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6E1E5-5603-6153-25C1-E51982CAF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0E9AD-8079-AB45-BA84-6F13477B7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06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tiff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tiff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sv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35554FC-F33A-4355-8981-B63A5B0715F9}"/>
              </a:ext>
            </a:extLst>
          </p:cNvPr>
          <p:cNvSpPr/>
          <p:nvPr/>
        </p:nvSpPr>
        <p:spPr>
          <a:xfrm>
            <a:off x="4735238" y="1883369"/>
            <a:ext cx="2600338" cy="2870450"/>
          </a:xfrm>
          <a:prstGeom prst="roundRect">
            <a:avLst>
              <a:gd name="adj" fmla="val 984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Enable</a:t>
            </a:r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DE6C1CC2-9304-4B79-88A6-F668D0FB688D}"/>
              </a:ext>
            </a:extLst>
          </p:cNvPr>
          <p:cNvSpPr/>
          <p:nvPr/>
        </p:nvSpPr>
        <p:spPr>
          <a:xfrm flipH="1">
            <a:off x="7169154" y="-4139238"/>
            <a:ext cx="11889248" cy="15657236"/>
          </a:xfrm>
          <a:prstGeom prst="arc">
            <a:avLst>
              <a:gd name="adj1" fmla="val 16162861"/>
              <a:gd name="adj2" fmla="val 5432034"/>
            </a:avLst>
          </a:prstGeom>
          <a:noFill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Engineer advanced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platform capabilities</a:t>
            </a:r>
          </a:p>
        </p:txBody>
      </p:sp>
      <p:sp>
        <p:nvSpPr>
          <p:cNvPr id="60" name="Arc 59">
            <a:extLst>
              <a:ext uri="{FF2B5EF4-FFF2-40B4-BE49-F238E27FC236}">
                <a16:creationId xmlns:a16="http://schemas.microsoft.com/office/drawing/2014/main" id="{FB019E47-0BF5-4592-9EE6-37EB1A28FF37}"/>
              </a:ext>
            </a:extLst>
          </p:cNvPr>
          <p:cNvSpPr/>
          <p:nvPr/>
        </p:nvSpPr>
        <p:spPr>
          <a:xfrm>
            <a:off x="-6998607" y="-4403428"/>
            <a:ext cx="11889248" cy="15657236"/>
          </a:xfrm>
          <a:prstGeom prst="arc">
            <a:avLst>
              <a:gd name="adj1" fmla="val 16162861"/>
              <a:gd name="adj2" fmla="val 5432034"/>
            </a:avLst>
          </a:prstGeom>
          <a:noFill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Establish data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foundation</a:t>
            </a:r>
          </a:p>
        </p:txBody>
      </p:sp>
      <p:sp>
        <p:nvSpPr>
          <p:cNvPr id="63" name="Arc 62">
            <a:extLst>
              <a:ext uri="{FF2B5EF4-FFF2-40B4-BE49-F238E27FC236}">
                <a16:creationId xmlns:a16="http://schemas.microsoft.com/office/drawing/2014/main" id="{80C61F4F-18F2-4538-8CB1-2E4991EFC32B}"/>
              </a:ext>
            </a:extLst>
          </p:cNvPr>
          <p:cNvSpPr/>
          <p:nvPr/>
        </p:nvSpPr>
        <p:spPr>
          <a:xfrm rot="5400000">
            <a:off x="66255" y="-11690615"/>
            <a:ext cx="11889248" cy="15657236"/>
          </a:xfrm>
          <a:prstGeom prst="arc">
            <a:avLst>
              <a:gd name="adj1" fmla="val 16162861"/>
              <a:gd name="adj2" fmla="val 5432034"/>
            </a:avLst>
          </a:prstGeom>
          <a:noFill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b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Utilize capabilities for transformation</a:t>
            </a:r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B66C6977-C458-4C3B-971F-75398833E373}"/>
              </a:ext>
            </a:extLst>
          </p:cNvPr>
          <p:cNvSpPr/>
          <p:nvPr/>
        </p:nvSpPr>
        <p:spPr>
          <a:xfrm rot="16200000">
            <a:off x="66254" y="2782163"/>
            <a:ext cx="11889248" cy="15657236"/>
          </a:xfrm>
          <a:prstGeom prst="arc">
            <a:avLst>
              <a:gd name="adj1" fmla="val 16162861"/>
              <a:gd name="adj2" fmla="val 5432034"/>
            </a:avLst>
          </a:prstGeom>
          <a:noFill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vert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Automate for efficiency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1DF022-B68B-4839-B591-8218FFD1B2C3}"/>
              </a:ext>
            </a:extLst>
          </p:cNvPr>
          <p:cNvSpPr/>
          <p:nvPr/>
        </p:nvSpPr>
        <p:spPr>
          <a:xfrm>
            <a:off x="442023" y="2856047"/>
            <a:ext cx="1677971" cy="113828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Siloed data marts or Legacy data warehouse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[1.0]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BA2C0F5-FC57-4C52-89BA-7F7C003CCCFD}"/>
              </a:ext>
            </a:extLst>
          </p:cNvPr>
          <p:cNvGrpSpPr/>
          <p:nvPr/>
        </p:nvGrpSpPr>
        <p:grpSpPr>
          <a:xfrm>
            <a:off x="2876157" y="2558644"/>
            <a:ext cx="1314524" cy="1740127"/>
            <a:chOff x="2782135" y="2734916"/>
            <a:chExt cx="1314524" cy="1740127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716FA49-DC5C-4915-97C1-9FBCA3DDD361}"/>
                </a:ext>
              </a:extLst>
            </p:cNvPr>
            <p:cNvSpPr/>
            <p:nvPr/>
          </p:nvSpPr>
          <p:spPr>
            <a:xfrm>
              <a:off x="2782135" y="2734916"/>
              <a:ext cx="1314524" cy="8106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>
                      <a:lumMod val="2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Data platform architecture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>
                      <a:lumMod val="2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[2.0]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2C1972D-1CB9-43C9-8D46-D06D4634D643}"/>
                </a:ext>
              </a:extLst>
            </p:cNvPr>
            <p:cNvSpPr/>
            <p:nvPr/>
          </p:nvSpPr>
          <p:spPr>
            <a:xfrm>
              <a:off x="2782135" y="3664371"/>
              <a:ext cx="1314524" cy="8106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>
                      <a:lumMod val="2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Data acquisition services</a:t>
              </a: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E3ABA13F-79B0-4ACA-AE49-73C696D5617D}"/>
              </a:ext>
            </a:extLst>
          </p:cNvPr>
          <p:cNvSpPr/>
          <p:nvPr/>
        </p:nvSpPr>
        <p:spPr>
          <a:xfrm>
            <a:off x="5389643" y="2561804"/>
            <a:ext cx="1314524" cy="13749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Data exploitation &amp; monetization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50C1201-E562-4B73-A67E-6BAD4EC602FB}"/>
              </a:ext>
            </a:extLst>
          </p:cNvPr>
          <p:cNvSpPr/>
          <p:nvPr/>
        </p:nvSpPr>
        <p:spPr>
          <a:xfrm>
            <a:off x="4699541" y="5016584"/>
            <a:ext cx="1239615" cy="81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>
                    <a:lumMod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Devops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for data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7BC39C2-105E-42F4-8CD6-E04A4173D029}"/>
              </a:ext>
            </a:extLst>
          </p:cNvPr>
          <p:cNvSpPr/>
          <p:nvPr/>
        </p:nvSpPr>
        <p:spPr>
          <a:xfrm>
            <a:off x="6095960" y="5016584"/>
            <a:ext cx="1239615" cy="81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Data testing automation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9275252-615E-43E5-B23C-6FB58F8A50D9}"/>
              </a:ext>
            </a:extLst>
          </p:cNvPr>
          <p:cNvSpPr/>
          <p:nvPr/>
        </p:nvSpPr>
        <p:spPr>
          <a:xfrm>
            <a:off x="4702186" y="900041"/>
            <a:ext cx="1239615" cy="81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Data lineage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C4DC9F9-7675-4C16-9785-83A877A1BF54}"/>
              </a:ext>
            </a:extLst>
          </p:cNvPr>
          <p:cNvSpPr/>
          <p:nvPr/>
        </p:nvSpPr>
        <p:spPr>
          <a:xfrm>
            <a:off x="6095960" y="900041"/>
            <a:ext cx="1239615" cy="81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Data migration services</a:t>
            </a:r>
          </a:p>
        </p:txBody>
      </p:sp>
      <p:sp>
        <p:nvSpPr>
          <p:cNvPr id="55" name="Arc 54">
            <a:extLst>
              <a:ext uri="{FF2B5EF4-FFF2-40B4-BE49-F238E27FC236}">
                <a16:creationId xmlns:a16="http://schemas.microsoft.com/office/drawing/2014/main" id="{EFD50382-CBA6-457C-AFB4-B3F1E983EC8F}"/>
              </a:ext>
            </a:extLst>
          </p:cNvPr>
          <p:cNvSpPr/>
          <p:nvPr/>
        </p:nvSpPr>
        <p:spPr>
          <a:xfrm flipH="1">
            <a:off x="11386558" y="-4425676"/>
            <a:ext cx="11889248" cy="15657236"/>
          </a:xfrm>
          <a:prstGeom prst="arc">
            <a:avLst>
              <a:gd name="adj1" fmla="val 16162861"/>
              <a:gd name="adj2" fmla="val 5432034"/>
            </a:avLst>
          </a:prstGeom>
          <a:noFill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Take agility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 the next level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DBC2BB9-0F91-4DDB-A13A-2A36107207F8}"/>
              </a:ext>
            </a:extLst>
          </p:cNvPr>
          <p:cNvSpPr/>
          <p:nvPr/>
        </p:nvSpPr>
        <p:spPr>
          <a:xfrm>
            <a:off x="9830291" y="2550950"/>
            <a:ext cx="1314524" cy="1500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Data on cloud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[3.0]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30AE49-0774-4FAC-A0C3-1D4785A0AF1B}"/>
              </a:ext>
            </a:extLst>
          </p:cNvPr>
          <p:cNvSpPr/>
          <p:nvPr/>
        </p:nvSpPr>
        <p:spPr>
          <a:xfrm>
            <a:off x="7815662" y="2558644"/>
            <a:ext cx="1314524" cy="810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Data interfaces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FAEED5-3700-40DB-ADEC-EF2FE958891F}"/>
              </a:ext>
            </a:extLst>
          </p:cNvPr>
          <p:cNvSpPr/>
          <p:nvPr/>
        </p:nvSpPr>
        <p:spPr>
          <a:xfrm>
            <a:off x="7815662" y="3488099"/>
            <a:ext cx="1314524" cy="810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Realtime Data warehouse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34021A9A-7CA0-4E7F-B6B5-0E4A121B1CEA}"/>
              </a:ext>
            </a:extLst>
          </p:cNvPr>
          <p:cNvSpPr/>
          <p:nvPr/>
        </p:nvSpPr>
        <p:spPr>
          <a:xfrm>
            <a:off x="2230897" y="3335399"/>
            <a:ext cx="497587" cy="161401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12ED91F4-C13E-4277-8627-3393FCA409B4}"/>
              </a:ext>
            </a:extLst>
          </p:cNvPr>
          <p:cNvSpPr/>
          <p:nvPr/>
        </p:nvSpPr>
        <p:spPr>
          <a:xfrm>
            <a:off x="6795633" y="3335399"/>
            <a:ext cx="497587" cy="161401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3101EFF7-8C29-41DC-B19A-0E8B2979EF5F}"/>
              </a:ext>
            </a:extLst>
          </p:cNvPr>
          <p:cNvSpPr/>
          <p:nvPr/>
        </p:nvSpPr>
        <p:spPr>
          <a:xfrm>
            <a:off x="9169758" y="3335399"/>
            <a:ext cx="497587" cy="161401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5" name="Arrow: Bent 44">
            <a:extLst>
              <a:ext uri="{FF2B5EF4-FFF2-40B4-BE49-F238E27FC236}">
                <a16:creationId xmlns:a16="http://schemas.microsoft.com/office/drawing/2014/main" id="{BDCC8DBE-FFD5-4823-96EF-F594F8183497}"/>
              </a:ext>
            </a:extLst>
          </p:cNvPr>
          <p:cNvSpPr/>
          <p:nvPr/>
        </p:nvSpPr>
        <p:spPr>
          <a:xfrm>
            <a:off x="3529919" y="1306489"/>
            <a:ext cx="808137" cy="760233"/>
          </a:xfrm>
          <a:prstGeom prst="bentArrow">
            <a:avLst>
              <a:gd name="adj1" fmla="val 9183"/>
              <a:gd name="adj2" fmla="val 12225"/>
              <a:gd name="adj3" fmla="val 16483"/>
              <a:gd name="adj4" fmla="val 43750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6" name="Arrow: Bent 65">
            <a:extLst>
              <a:ext uri="{FF2B5EF4-FFF2-40B4-BE49-F238E27FC236}">
                <a16:creationId xmlns:a16="http://schemas.microsoft.com/office/drawing/2014/main" id="{146B5EDD-B2A5-4C99-B3CF-D61A33D4A8D7}"/>
              </a:ext>
            </a:extLst>
          </p:cNvPr>
          <p:cNvSpPr/>
          <p:nvPr/>
        </p:nvSpPr>
        <p:spPr>
          <a:xfrm flipV="1">
            <a:off x="3529919" y="4716360"/>
            <a:ext cx="808137" cy="695391"/>
          </a:xfrm>
          <a:prstGeom prst="bentArrow">
            <a:avLst>
              <a:gd name="adj1" fmla="val 9183"/>
              <a:gd name="adj2" fmla="val 12225"/>
              <a:gd name="adj3" fmla="val 16483"/>
              <a:gd name="adj4" fmla="val 43750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0F3394DC-8909-42E5-BFB6-DCEF1489A4F9}"/>
              </a:ext>
            </a:extLst>
          </p:cNvPr>
          <p:cNvSpPr/>
          <p:nvPr/>
        </p:nvSpPr>
        <p:spPr>
          <a:xfrm rot="5400000">
            <a:off x="5861668" y="2052541"/>
            <a:ext cx="288392" cy="11375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8" name="Arrow: Bent 67">
            <a:extLst>
              <a:ext uri="{FF2B5EF4-FFF2-40B4-BE49-F238E27FC236}">
                <a16:creationId xmlns:a16="http://schemas.microsoft.com/office/drawing/2014/main" id="{D06D1E9B-05E3-4C3B-8076-939034E81722}"/>
              </a:ext>
            </a:extLst>
          </p:cNvPr>
          <p:cNvSpPr/>
          <p:nvPr/>
        </p:nvSpPr>
        <p:spPr>
          <a:xfrm rot="16200000" flipV="1">
            <a:off x="7819751" y="4578730"/>
            <a:ext cx="636621" cy="911880"/>
          </a:xfrm>
          <a:prstGeom prst="bentArrow">
            <a:avLst>
              <a:gd name="adj1" fmla="val 9183"/>
              <a:gd name="adj2" fmla="val 12225"/>
              <a:gd name="adj3" fmla="val 16483"/>
              <a:gd name="adj4" fmla="val 43750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D3623F-C816-4839-AAE5-97C4B489FF7A}"/>
              </a:ext>
            </a:extLst>
          </p:cNvPr>
          <p:cNvSpPr txBox="1"/>
          <p:nvPr/>
        </p:nvSpPr>
        <p:spPr>
          <a:xfrm>
            <a:off x="499384" y="4053149"/>
            <a:ext cx="156324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Expensive, Redundant data &amp;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Transformation logic,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Missing lineage &amp; metadata,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9D1699-647D-49C5-91B2-B0F51C746021}"/>
              </a:ext>
            </a:extLst>
          </p:cNvPr>
          <p:cNvSpPr txBox="1"/>
          <p:nvPr/>
        </p:nvSpPr>
        <p:spPr>
          <a:xfrm>
            <a:off x="2715560" y="4322900"/>
            <a:ext cx="1663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Industrialized, efficient, utilities based – hydration of Data Lake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801C4B-6B21-45FF-8F7C-801A2CB1D211}"/>
              </a:ext>
            </a:extLst>
          </p:cNvPr>
          <p:cNvSpPr txBox="1"/>
          <p:nvPr/>
        </p:nvSpPr>
        <p:spPr>
          <a:xfrm>
            <a:off x="2128721" y="2044797"/>
            <a:ext cx="257346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Big-data platform (Hadoop, No SQL), Simplified Transformation logic, Deep history, Embedded metadata, Analytics sandbox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FFBADD5-FDDD-4B96-9AAD-B3EE7B2A2005}"/>
              </a:ext>
            </a:extLst>
          </p:cNvPr>
          <p:cNvSpPr txBox="1"/>
          <p:nvPr/>
        </p:nvSpPr>
        <p:spPr>
          <a:xfrm>
            <a:off x="4645436" y="414120"/>
            <a:ext cx="277994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Reverse engineering of existing logic, Implementing design patterns to migrate from SQL based platforms to modern ETL packages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4BE972-188B-4F45-AE16-33D1AA8B586B}"/>
              </a:ext>
            </a:extLst>
          </p:cNvPr>
          <p:cNvSpPr txBox="1"/>
          <p:nvPr/>
        </p:nvSpPr>
        <p:spPr>
          <a:xfrm>
            <a:off x="5214947" y="3936708"/>
            <a:ext cx="1663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Analytics use cases delivering business benefits utilizing advanced techniques including Graph analytics, AI &amp; ML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1EAF465-A794-46D2-9AD5-B83A7082380B}"/>
              </a:ext>
            </a:extLst>
          </p:cNvPr>
          <p:cNvSpPr txBox="1"/>
          <p:nvPr/>
        </p:nvSpPr>
        <p:spPr>
          <a:xfrm>
            <a:off x="4371488" y="5818890"/>
            <a:ext cx="3324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Accelerating the Build of the new platform utilizing automated CI/CD pipelines for DevOps and Test automation for data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E391426-E801-470F-BFDC-CB598CEF7752}"/>
              </a:ext>
            </a:extLst>
          </p:cNvPr>
          <p:cNvSpPr txBox="1"/>
          <p:nvPr/>
        </p:nvSpPr>
        <p:spPr>
          <a:xfrm>
            <a:off x="7595642" y="1930064"/>
            <a:ext cx="175456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Exposing the insights from the analytics to digital channels using APIs (leading to Microservices)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767905F-D5B1-4DB8-9B82-7CA950B9C2A2}"/>
              </a:ext>
            </a:extLst>
          </p:cNvPr>
          <p:cNvSpPr txBox="1"/>
          <p:nvPr/>
        </p:nvSpPr>
        <p:spPr>
          <a:xfrm>
            <a:off x="7534744" y="4321555"/>
            <a:ext cx="1876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Delivery of insights with reduced latency from batch to near real time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D2C470D-8B23-4A6E-9055-7FD9FB66605E}"/>
              </a:ext>
            </a:extLst>
          </p:cNvPr>
          <p:cNvSpPr txBox="1"/>
          <p:nvPr/>
        </p:nvSpPr>
        <p:spPr>
          <a:xfrm>
            <a:off x="9657476" y="4069432"/>
            <a:ext cx="1663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If you started the journey today, you would begin here !</a:t>
            </a:r>
            <a:endParaRPr kumimoji="0" lang="en-IN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CE029C0-7674-4306-B287-E1678027E7EC}"/>
              </a:ext>
            </a:extLst>
          </p:cNvPr>
          <p:cNvSpPr txBox="1"/>
          <p:nvPr/>
        </p:nvSpPr>
        <p:spPr>
          <a:xfrm>
            <a:off x="9371929" y="1786251"/>
            <a:ext cx="2159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 a Cloud Native Data Platform that can auto-scale and handle diverse work loads of batch,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realtime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data pipelines as well as industrialized AI (including Deep Learning)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2CF833-12F3-8901-5D42-A594D50DB15E}"/>
              </a:ext>
            </a:extLst>
          </p:cNvPr>
          <p:cNvSpPr/>
          <p:nvPr/>
        </p:nvSpPr>
        <p:spPr>
          <a:xfrm>
            <a:off x="0" y="6240037"/>
            <a:ext cx="12188528" cy="584775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565151"/>
                </a:solidFill>
                <a:effectLst/>
                <a:uLnTx/>
                <a:uFillTx/>
                <a:latin typeface="IBM Plex Sans" charset="0"/>
                <a:ea typeface="+mn-ea"/>
                <a:cs typeface="Arial" panose="020B0604020202020204" pitchFamily="34" charset="0"/>
              </a:rPr>
              <a:t>2016: 100 </a:t>
            </a:r>
            <a:r>
              <a:rPr kumimoji="0" lang="en-GB" sz="1400" b="1" i="0" u="none" strike="noStrike" kern="0" cap="none" spc="0" normalizeH="0" baseline="0" noProof="0" dirty="0" err="1">
                <a:ln>
                  <a:noFill/>
                </a:ln>
                <a:solidFill>
                  <a:srgbClr val="565151"/>
                </a:solidFill>
                <a:effectLst/>
                <a:uLnTx/>
                <a:uFillTx/>
                <a:latin typeface="IBM Plex Sans" charset="0"/>
                <a:ea typeface="+mn-ea"/>
                <a:cs typeface="Arial" panose="020B0604020202020204" pitchFamily="34" charset="0"/>
              </a:rPr>
              <a:t>TechPartners</a:t>
            </a:r>
            <a:r>
              <a:rPr kumimoji="0" lang="en-GB" sz="1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                  &gt;&gt;                                 </a:t>
            </a: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565151"/>
                </a:solidFill>
                <a:effectLst/>
                <a:uLnTx/>
                <a:uFillTx/>
                <a:latin typeface="IBM Plex Sans" charset="0"/>
                <a:ea typeface="+mn-ea"/>
                <a:cs typeface="Arial" panose="020B0604020202020204" pitchFamily="34" charset="0"/>
              </a:rPr>
              <a:t>2018: 350 </a:t>
            </a:r>
            <a:r>
              <a:rPr kumimoji="0" lang="en-GB" sz="1400" b="1" i="0" u="none" strike="noStrike" kern="0" cap="none" spc="0" normalizeH="0" baseline="0" noProof="0" dirty="0" err="1">
                <a:ln>
                  <a:noFill/>
                </a:ln>
                <a:solidFill>
                  <a:srgbClr val="565151"/>
                </a:solidFill>
                <a:effectLst/>
                <a:uLnTx/>
                <a:uFillTx/>
                <a:latin typeface="IBM Plex Sans" charset="0"/>
                <a:ea typeface="+mn-ea"/>
                <a:cs typeface="Arial" panose="020B0604020202020204" pitchFamily="34" charset="0"/>
              </a:rPr>
              <a:t>TechPartners</a:t>
            </a: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565151"/>
                </a:solidFill>
                <a:effectLst/>
                <a:uLnTx/>
                <a:uFillTx/>
                <a:latin typeface="IBM Plex Sans" charset="0"/>
                <a:ea typeface="+mn-ea"/>
                <a:cs typeface="Arial" panose="020B0604020202020204" pitchFamily="34" charset="0"/>
              </a:rPr>
              <a:t>                               </a:t>
            </a:r>
            <a:r>
              <a:rPr kumimoji="0" lang="en-GB" sz="1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&gt;&gt;                            </a:t>
            </a: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565151"/>
                </a:solidFill>
                <a:effectLst/>
                <a:uLnTx/>
                <a:uFillTx/>
                <a:latin typeface="IBM Plex Sans" charset="0"/>
                <a:ea typeface="+mn-ea"/>
                <a:cs typeface="Arial" panose="020B0604020202020204" pitchFamily="34" charset="0"/>
              </a:rPr>
              <a:t>2022: 500 </a:t>
            </a:r>
            <a:r>
              <a:rPr kumimoji="0" lang="en-GB" sz="1400" b="1" i="0" u="none" strike="noStrike" kern="0" cap="none" spc="0" normalizeH="0" baseline="0" noProof="0" dirty="0" err="1">
                <a:ln>
                  <a:noFill/>
                </a:ln>
                <a:solidFill>
                  <a:srgbClr val="565151"/>
                </a:solidFill>
                <a:effectLst/>
                <a:uLnTx/>
                <a:uFillTx/>
                <a:latin typeface="IBM Plex Sans" charset="0"/>
                <a:ea typeface="+mn-ea"/>
                <a:cs typeface="Arial" panose="020B0604020202020204" pitchFamily="34" charset="0"/>
              </a:rPr>
              <a:t>TechPartners</a:t>
            </a: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rgbClr val="565151"/>
              </a:solidFill>
              <a:effectLst/>
              <a:uLnTx/>
              <a:uFillTx/>
              <a:latin typeface="IBM Plex Sans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 dirty="0">
              <a:ln w="0"/>
              <a:solidFill>
                <a:srgbClr val="4472C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1A0FB57-EBEB-5FAE-4176-7CA6BFBB8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59" y="33157"/>
            <a:ext cx="10515600" cy="414167"/>
          </a:xfrm>
        </p:spPr>
        <p:txBody>
          <a:bodyPr>
            <a:normAutofit fontScale="90000"/>
          </a:bodyPr>
          <a:lstStyle/>
          <a:p>
            <a:r>
              <a:rPr lang="en-US" sz="2800" b="1" kern="0" dirty="0">
                <a:solidFill>
                  <a:srgbClr val="565151"/>
                </a:solidFill>
                <a:latin typeface="IBM Plex Sans" charset="0"/>
                <a:cs typeface="Arial" panose="020B0604020202020204" pitchFamily="34" charset="0"/>
              </a:rPr>
              <a:t>EMORY Bank - Data Management Transformation Journey</a:t>
            </a:r>
          </a:p>
        </p:txBody>
      </p:sp>
    </p:spTree>
    <p:extLst>
      <p:ext uri="{BB962C8B-B14F-4D97-AF65-F5344CB8AC3E}">
        <p14:creationId xmlns:p14="http://schemas.microsoft.com/office/powerpoint/2010/main" val="1311296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90959" y="112202"/>
            <a:ext cx="10515600" cy="1325563"/>
          </a:xfrm>
        </p:spPr>
        <p:txBody>
          <a:bodyPr anchor="t">
            <a:noAutofit/>
          </a:bodyPr>
          <a:lstStyle/>
          <a:p>
            <a:pPr>
              <a:buClr>
                <a:schemeClr val="bg1"/>
              </a:buClr>
            </a:pPr>
            <a:r>
              <a:rPr lang="en-US" sz="2800" b="1" kern="0" dirty="0">
                <a:solidFill>
                  <a:srgbClr val="565151"/>
                </a:solidFill>
                <a:latin typeface="IBM Plex Sans" charset="0"/>
                <a:cs typeface="Arial" panose="020B0604020202020204" pitchFamily="34" charset="0"/>
              </a:rPr>
              <a:t>Mortgages Domain Automation of processes </a:t>
            </a:r>
            <a:br>
              <a:rPr lang="en-US" sz="2400" b="1" dirty="0"/>
            </a:br>
            <a:r>
              <a:rPr lang="en-US" sz="2000" b="1" i="1" dirty="0"/>
              <a:t>Automation driven by Data, Insights &amp; AI to increase the efficiency of the Business Processes and Operations</a:t>
            </a:r>
            <a:endParaRPr lang="en-GB" sz="2400" b="1" i="1" dirty="0"/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1DD87FBD-248A-4176-A5C9-4BD03A326C6D}"/>
              </a:ext>
            </a:extLst>
          </p:cNvPr>
          <p:cNvCxnSpPr>
            <a:cxnSpLocks/>
          </p:cNvCxnSpPr>
          <p:nvPr/>
        </p:nvCxnSpPr>
        <p:spPr>
          <a:xfrm flipV="1">
            <a:off x="1439875" y="2315071"/>
            <a:ext cx="9768733" cy="16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FE7C56FB-C63A-48AF-BDCD-7D38F12BDBCE}"/>
              </a:ext>
            </a:extLst>
          </p:cNvPr>
          <p:cNvSpPr/>
          <p:nvPr/>
        </p:nvSpPr>
        <p:spPr>
          <a:xfrm>
            <a:off x="1736014" y="1064537"/>
            <a:ext cx="454756" cy="454756"/>
          </a:xfrm>
          <a:prstGeom prst="ellipse">
            <a:avLst/>
          </a:prstGeom>
          <a:solidFill>
            <a:srgbClr val="F3F3F3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2345" tIns="31173" rIns="62345" bIns="3117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4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63A43AD6-3E90-442F-9A9D-FC8204FBEBEC}"/>
              </a:ext>
            </a:extLst>
          </p:cNvPr>
          <p:cNvSpPr/>
          <p:nvPr/>
        </p:nvSpPr>
        <p:spPr>
          <a:xfrm>
            <a:off x="3953109" y="1039298"/>
            <a:ext cx="454756" cy="454756"/>
          </a:xfrm>
          <a:prstGeom prst="ellipse">
            <a:avLst/>
          </a:prstGeom>
          <a:solidFill>
            <a:srgbClr val="F3F3F3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2345" tIns="31173" rIns="62345" bIns="3117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4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EEE1A55E-6274-44CA-BBB4-E1C619F61036}"/>
              </a:ext>
            </a:extLst>
          </p:cNvPr>
          <p:cNvSpPr/>
          <p:nvPr/>
        </p:nvSpPr>
        <p:spPr>
          <a:xfrm>
            <a:off x="7573890" y="1054730"/>
            <a:ext cx="454756" cy="454756"/>
          </a:xfrm>
          <a:prstGeom prst="ellipse">
            <a:avLst/>
          </a:prstGeom>
          <a:solidFill>
            <a:srgbClr val="F3F3F3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2345" tIns="31173" rIns="62345" bIns="3117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4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5EFE7404-B5D2-4339-AE6C-13663118B794}"/>
              </a:ext>
            </a:extLst>
          </p:cNvPr>
          <p:cNvSpPr/>
          <p:nvPr/>
        </p:nvSpPr>
        <p:spPr>
          <a:xfrm>
            <a:off x="8836869" y="1070741"/>
            <a:ext cx="454756" cy="454756"/>
          </a:xfrm>
          <a:prstGeom prst="ellipse">
            <a:avLst/>
          </a:prstGeom>
          <a:solidFill>
            <a:srgbClr val="F3F3F3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2345" tIns="31173" rIns="62345" bIns="3117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4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120CFEA-6336-462E-AAC2-F4CEF00A3FF7}"/>
              </a:ext>
            </a:extLst>
          </p:cNvPr>
          <p:cNvSpPr txBox="1"/>
          <p:nvPr/>
        </p:nvSpPr>
        <p:spPr>
          <a:xfrm>
            <a:off x="1543106" y="1719146"/>
            <a:ext cx="836164" cy="4547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623428" rtl="0" eaLnBrk="1" fontAlgn="auto" latinLnBrk="0" hangingPunct="1">
              <a:lnSpc>
                <a:spcPct val="105000"/>
              </a:lnSpc>
              <a:spcBef>
                <a:spcPts val="68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IBM Plex Sans" charset="0"/>
                <a:cs typeface="IBM Plex Sans" charset="0"/>
              </a:rPr>
              <a:t>Client Targeting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828854EF-D36C-4C32-A92E-395191E9BBAC}"/>
              </a:ext>
            </a:extLst>
          </p:cNvPr>
          <p:cNvSpPr txBox="1"/>
          <p:nvPr/>
        </p:nvSpPr>
        <p:spPr>
          <a:xfrm>
            <a:off x="3752213" y="1738455"/>
            <a:ext cx="836164" cy="1686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623428" rtl="0" eaLnBrk="1" fontAlgn="auto" latinLnBrk="0" hangingPunct="1">
              <a:lnSpc>
                <a:spcPct val="105000"/>
              </a:lnSpc>
              <a:spcBef>
                <a:spcPts val="68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IBM Plex Sans" charset="0"/>
                <a:cs typeface="IBM Plex Sans" charset="0"/>
              </a:rPr>
              <a:t>Account Opening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E78F956-C7A3-4FB6-9A8B-3FBF7DD1ED8E}"/>
              </a:ext>
            </a:extLst>
          </p:cNvPr>
          <p:cNvSpPr txBox="1"/>
          <p:nvPr/>
        </p:nvSpPr>
        <p:spPr>
          <a:xfrm>
            <a:off x="7387657" y="1692695"/>
            <a:ext cx="836164" cy="1686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623428" rtl="0" eaLnBrk="1" fontAlgn="auto" latinLnBrk="0" hangingPunct="1">
              <a:lnSpc>
                <a:spcPct val="105000"/>
              </a:lnSpc>
              <a:spcBef>
                <a:spcPts val="68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IBM Plex Sans" charset="0"/>
                <a:cs typeface="IBM Plex Sans" charset="0"/>
              </a:rPr>
              <a:t>Client Servicing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30D88D53-5277-4924-85C6-259AB353E2F7}"/>
              </a:ext>
            </a:extLst>
          </p:cNvPr>
          <p:cNvSpPr txBox="1"/>
          <p:nvPr/>
        </p:nvSpPr>
        <p:spPr>
          <a:xfrm>
            <a:off x="8646163" y="1727715"/>
            <a:ext cx="836164" cy="1686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623428" rtl="0" eaLnBrk="1" fontAlgn="auto" latinLnBrk="0" hangingPunct="1">
              <a:lnSpc>
                <a:spcPct val="105000"/>
              </a:lnSpc>
              <a:spcBef>
                <a:spcPts val="68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IBM Plex Sans" charset="0"/>
                <a:cs typeface="IBM Plex Sans" charset="0"/>
              </a:rPr>
              <a:t>Collections</a:t>
            </a:r>
          </a:p>
        </p:txBody>
      </p:sp>
      <p:pic>
        <p:nvPicPr>
          <p:cNvPr id="160" name="Graphic 159" descr="Magnifying glass">
            <a:extLst>
              <a:ext uri="{FF2B5EF4-FFF2-40B4-BE49-F238E27FC236}">
                <a16:creationId xmlns:a16="http://schemas.microsoft.com/office/drawing/2014/main" id="{CCC5BFF9-64B2-4291-A46D-DBB5EC0ABD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5866" y="1154387"/>
            <a:ext cx="275053" cy="275053"/>
          </a:xfrm>
          <a:prstGeom prst="rect">
            <a:avLst/>
          </a:prstGeom>
        </p:spPr>
      </p:pic>
      <p:pic>
        <p:nvPicPr>
          <p:cNvPr id="161" name="Graphic 160" descr="Unlock">
            <a:extLst>
              <a:ext uri="{FF2B5EF4-FFF2-40B4-BE49-F238E27FC236}">
                <a16:creationId xmlns:a16="http://schemas.microsoft.com/office/drawing/2014/main" id="{9907DECF-C096-47BB-9418-175434B293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1278" y="1111405"/>
            <a:ext cx="275053" cy="275053"/>
          </a:xfrm>
          <a:prstGeom prst="rect">
            <a:avLst/>
          </a:prstGeom>
        </p:spPr>
      </p:pic>
      <p:pic>
        <p:nvPicPr>
          <p:cNvPr id="162" name="Graphic 161" descr="Decision chart">
            <a:extLst>
              <a:ext uri="{FF2B5EF4-FFF2-40B4-BE49-F238E27FC236}">
                <a16:creationId xmlns:a16="http://schemas.microsoft.com/office/drawing/2014/main" id="{1F65550F-D8B5-483B-AB5F-C8C5ABB84E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68211" y="1144579"/>
            <a:ext cx="275053" cy="275053"/>
          </a:xfrm>
          <a:prstGeom prst="rect">
            <a:avLst/>
          </a:prstGeom>
        </p:spPr>
      </p:pic>
      <p:pic>
        <p:nvPicPr>
          <p:cNvPr id="163" name="Graphic 162" descr="Handshake">
            <a:extLst>
              <a:ext uri="{FF2B5EF4-FFF2-40B4-BE49-F238E27FC236}">
                <a16:creationId xmlns:a16="http://schemas.microsoft.com/office/drawing/2014/main" id="{1CEDB3C3-CBCA-401E-9A3A-20011A7266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41640" y="1171689"/>
            <a:ext cx="275053" cy="275053"/>
          </a:xfrm>
          <a:prstGeom prst="rect">
            <a:avLst/>
          </a:prstGeom>
        </p:spPr>
      </p:pic>
      <p:sp>
        <p:nvSpPr>
          <p:cNvPr id="164" name="Oval 163">
            <a:extLst>
              <a:ext uri="{FF2B5EF4-FFF2-40B4-BE49-F238E27FC236}">
                <a16:creationId xmlns:a16="http://schemas.microsoft.com/office/drawing/2014/main" id="{D5C81534-7717-48B9-B6F0-EA1779DF8776}"/>
              </a:ext>
            </a:extLst>
          </p:cNvPr>
          <p:cNvSpPr/>
          <p:nvPr/>
        </p:nvSpPr>
        <p:spPr>
          <a:xfrm>
            <a:off x="5141858" y="1054728"/>
            <a:ext cx="454756" cy="454756"/>
          </a:xfrm>
          <a:prstGeom prst="ellipse">
            <a:avLst/>
          </a:prstGeom>
          <a:solidFill>
            <a:srgbClr val="F3F3F3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2345" tIns="31173" rIns="62345" bIns="3117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4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592F5CB0-D024-4919-A45D-1C74C9C181BF}"/>
              </a:ext>
            </a:extLst>
          </p:cNvPr>
          <p:cNvSpPr txBox="1"/>
          <p:nvPr/>
        </p:nvSpPr>
        <p:spPr>
          <a:xfrm>
            <a:off x="4942182" y="1727026"/>
            <a:ext cx="836164" cy="1686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623428" rtl="0" eaLnBrk="1" fontAlgn="auto" latinLnBrk="0" hangingPunct="1">
              <a:lnSpc>
                <a:spcPct val="105000"/>
              </a:lnSpc>
              <a:spcBef>
                <a:spcPts val="68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IBM Plex Sans" charset="0"/>
                <a:cs typeface="IBM Plex Sans" charset="0"/>
              </a:rPr>
              <a:t>Credit Approval</a:t>
            </a:r>
          </a:p>
        </p:txBody>
      </p:sp>
      <p:pic>
        <p:nvPicPr>
          <p:cNvPr id="166" name="Graphic 165" descr="Gears">
            <a:extLst>
              <a:ext uri="{FF2B5EF4-FFF2-40B4-BE49-F238E27FC236}">
                <a16:creationId xmlns:a16="http://schemas.microsoft.com/office/drawing/2014/main" id="{AF67AD62-619C-43CC-9DAA-B401828207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59957" y="1105070"/>
            <a:ext cx="399164" cy="399164"/>
          </a:xfrm>
          <a:prstGeom prst="rect">
            <a:avLst/>
          </a:prstGeom>
        </p:spPr>
      </p:pic>
      <p:sp>
        <p:nvSpPr>
          <p:cNvPr id="167" name="Oval 166">
            <a:extLst>
              <a:ext uri="{FF2B5EF4-FFF2-40B4-BE49-F238E27FC236}">
                <a16:creationId xmlns:a16="http://schemas.microsoft.com/office/drawing/2014/main" id="{52A031BD-E430-482A-B21B-98DBE9E48E00}"/>
              </a:ext>
            </a:extLst>
          </p:cNvPr>
          <p:cNvSpPr/>
          <p:nvPr/>
        </p:nvSpPr>
        <p:spPr>
          <a:xfrm>
            <a:off x="6304405" y="1061722"/>
            <a:ext cx="454756" cy="454756"/>
          </a:xfrm>
          <a:prstGeom prst="ellipse">
            <a:avLst/>
          </a:prstGeom>
          <a:solidFill>
            <a:srgbClr val="F3F3F3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2345" tIns="31173" rIns="62345" bIns="3117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4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821E6D25-D11E-4368-A5FF-6E7367B38881}"/>
              </a:ext>
            </a:extLst>
          </p:cNvPr>
          <p:cNvSpPr txBox="1"/>
          <p:nvPr/>
        </p:nvSpPr>
        <p:spPr>
          <a:xfrm>
            <a:off x="9924761" y="1686464"/>
            <a:ext cx="836164" cy="1686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623428" rtl="0" eaLnBrk="1" fontAlgn="auto" latinLnBrk="0" hangingPunct="1">
              <a:lnSpc>
                <a:spcPct val="105000"/>
              </a:lnSpc>
              <a:spcBef>
                <a:spcPts val="68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IBM Plex Sans" charset="0"/>
                <a:cs typeface="IBM Plex Sans" charset="0"/>
              </a:rPr>
              <a:t>Portfolio Monitoring</a:t>
            </a:r>
          </a:p>
        </p:txBody>
      </p:sp>
      <p:pic>
        <p:nvPicPr>
          <p:cNvPr id="169" name="Graphic 168" descr="Gears">
            <a:extLst>
              <a:ext uri="{FF2B5EF4-FFF2-40B4-BE49-F238E27FC236}">
                <a16:creationId xmlns:a16="http://schemas.microsoft.com/office/drawing/2014/main" id="{B2708195-8732-4E0F-8F46-E53A3EB016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34415" y="1112873"/>
            <a:ext cx="396061" cy="396061"/>
          </a:xfrm>
          <a:prstGeom prst="rect">
            <a:avLst/>
          </a:prstGeom>
        </p:spPr>
      </p:pic>
      <p:sp>
        <p:nvSpPr>
          <p:cNvPr id="173" name="Rectangle 172">
            <a:extLst>
              <a:ext uri="{FF2B5EF4-FFF2-40B4-BE49-F238E27FC236}">
                <a16:creationId xmlns:a16="http://schemas.microsoft.com/office/drawing/2014/main" id="{21A63F66-C7B4-4142-A729-42021CB7AF28}"/>
              </a:ext>
            </a:extLst>
          </p:cNvPr>
          <p:cNvSpPr>
            <a:spLocks noChangeAspect="1"/>
          </p:cNvSpPr>
          <p:nvPr/>
        </p:nvSpPr>
        <p:spPr>
          <a:xfrm>
            <a:off x="3640784" y="2081454"/>
            <a:ext cx="978299" cy="459388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3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Compliance Checks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B00BA0D2-9A1E-4EB1-B24D-21E6A3E43655}"/>
              </a:ext>
            </a:extLst>
          </p:cNvPr>
          <p:cNvSpPr>
            <a:spLocks noChangeAspect="1"/>
          </p:cNvSpPr>
          <p:nvPr/>
        </p:nvSpPr>
        <p:spPr>
          <a:xfrm>
            <a:off x="1524768" y="2094384"/>
            <a:ext cx="872837" cy="459388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3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Marketing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6B7243AF-8B59-42CD-85F2-E5994F6FD0BA}"/>
              </a:ext>
            </a:extLst>
          </p:cNvPr>
          <p:cNvSpPr/>
          <p:nvPr/>
        </p:nvSpPr>
        <p:spPr>
          <a:xfrm>
            <a:off x="3683112" y="2763039"/>
            <a:ext cx="975467" cy="116268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Solicitor’s portal  integration with Bank platform for  e-COTs and e-Offers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3DCF6C88-9E10-4795-AA82-FDBCE120AF42}"/>
              </a:ext>
            </a:extLst>
          </p:cNvPr>
          <p:cNvSpPr>
            <a:spLocks noChangeAspect="1"/>
          </p:cNvSpPr>
          <p:nvPr/>
        </p:nvSpPr>
        <p:spPr>
          <a:xfrm>
            <a:off x="4844242" y="2078934"/>
            <a:ext cx="1015525" cy="474837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3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Perform Credit Approval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E2C0094E-1F24-4E1A-A876-351302387752}"/>
              </a:ext>
            </a:extLst>
          </p:cNvPr>
          <p:cNvSpPr>
            <a:spLocks noChangeAspect="1"/>
          </p:cNvSpPr>
          <p:nvPr/>
        </p:nvSpPr>
        <p:spPr>
          <a:xfrm>
            <a:off x="6130092" y="2094384"/>
            <a:ext cx="872837" cy="459388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3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Loan Funded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AA753FE7-C8CE-4A97-8908-F79BCB0E459E}"/>
              </a:ext>
            </a:extLst>
          </p:cNvPr>
          <p:cNvSpPr>
            <a:spLocks noChangeAspect="1"/>
          </p:cNvSpPr>
          <p:nvPr/>
        </p:nvSpPr>
        <p:spPr>
          <a:xfrm>
            <a:off x="7374256" y="2094384"/>
            <a:ext cx="872837" cy="459388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3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Client Servicing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64B7E314-E7C0-4CA4-B37D-938C7BDF3E16}"/>
              </a:ext>
            </a:extLst>
          </p:cNvPr>
          <p:cNvSpPr>
            <a:spLocks noChangeAspect="1"/>
          </p:cNvSpPr>
          <p:nvPr/>
        </p:nvSpPr>
        <p:spPr>
          <a:xfrm>
            <a:off x="8548985" y="2094384"/>
            <a:ext cx="1021283" cy="459388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3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Loan Repayments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7EFCFC23-07C5-4AB4-B279-D18C02E283CB}"/>
              </a:ext>
            </a:extLst>
          </p:cNvPr>
          <p:cNvSpPr>
            <a:spLocks noChangeAspect="1"/>
          </p:cNvSpPr>
          <p:nvPr/>
        </p:nvSpPr>
        <p:spPr>
          <a:xfrm>
            <a:off x="9957279" y="2099284"/>
            <a:ext cx="942268" cy="438873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3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Ongoing Monitoring</a:t>
            </a:r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380C5B8C-EF74-4AF9-A6ED-307F70C5F3B0}"/>
              </a:ext>
            </a:extLst>
          </p:cNvPr>
          <p:cNvCxnSpPr>
            <a:cxnSpLocks/>
          </p:cNvCxnSpPr>
          <p:nvPr/>
        </p:nvCxnSpPr>
        <p:spPr>
          <a:xfrm>
            <a:off x="2518917" y="1018233"/>
            <a:ext cx="0" cy="3680604"/>
          </a:xfrm>
          <a:prstGeom prst="line">
            <a:avLst/>
          </a:prstGeom>
          <a:ln w="12700">
            <a:solidFill>
              <a:schemeClr val="accent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7D4A9FD0-9D5C-4D70-996E-3C460004C227}"/>
              </a:ext>
            </a:extLst>
          </p:cNvPr>
          <p:cNvCxnSpPr>
            <a:cxnSpLocks/>
          </p:cNvCxnSpPr>
          <p:nvPr/>
        </p:nvCxnSpPr>
        <p:spPr>
          <a:xfrm>
            <a:off x="7188592" y="1011029"/>
            <a:ext cx="0" cy="3709125"/>
          </a:xfrm>
          <a:prstGeom prst="line">
            <a:avLst/>
          </a:prstGeom>
          <a:ln w="12700">
            <a:solidFill>
              <a:schemeClr val="accent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AF826DF8-614D-4744-99DC-EB913255F62C}"/>
              </a:ext>
            </a:extLst>
          </p:cNvPr>
          <p:cNvCxnSpPr>
            <a:cxnSpLocks/>
          </p:cNvCxnSpPr>
          <p:nvPr/>
        </p:nvCxnSpPr>
        <p:spPr>
          <a:xfrm>
            <a:off x="8432755" y="991986"/>
            <a:ext cx="0" cy="3706851"/>
          </a:xfrm>
          <a:prstGeom prst="line">
            <a:avLst/>
          </a:prstGeom>
          <a:ln w="12700">
            <a:solidFill>
              <a:schemeClr val="accent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861A6DB1-B3C8-4E2E-B91C-3A37765F1281}"/>
              </a:ext>
            </a:extLst>
          </p:cNvPr>
          <p:cNvCxnSpPr>
            <a:cxnSpLocks/>
          </p:cNvCxnSpPr>
          <p:nvPr/>
        </p:nvCxnSpPr>
        <p:spPr>
          <a:xfrm>
            <a:off x="9676917" y="1039644"/>
            <a:ext cx="0" cy="3637876"/>
          </a:xfrm>
          <a:prstGeom prst="line">
            <a:avLst/>
          </a:prstGeom>
          <a:ln w="12700">
            <a:solidFill>
              <a:schemeClr val="accent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F60D6767-E93D-4BA2-A214-CDFF30C2EF70}"/>
              </a:ext>
            </a:extLst>
          </p:cNvPr>
          <p:cNvSpPr txBox="1"/>
          <p:nvPr/>
        </p:nvSpPr>
        <p:spPr>
          <a:xfrm>
            <a:off x="529074" y="2197897"/>
            <a:ext cx="1081911" cy="2999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623428" rtl="0" eaLnBrk="1" fontAlgn="auto" latinLnBrk="0" hangingPunct="1">
              <a:lnSpc>
                <a:spcPct val="105000"/>
              </a:lnSpc>
              <a:spcBef>
                <a:spcPts val="68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IBM Plex Sans" charset="0"/>
                <a:cs typeface="IBM Plex Sans" charset="0"/>
              </a:rPr>
              <a:t>Level 1 </a:t>
            </a:r>
            <a:br>
              <a:rPr kumimoji="0" lang="en-US" sz="10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IBM Plex Sans" charset="0"/>
                <a:cs typeface="IBM Plex Sans" charset="0"/>
              </a:rPr>
            </a:br>
            <a:r>
              <a:rPr kumimoji="0" lang="en-US" sz="10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IBM Plex Sans" charset="0"/>
                <a:cs typeface="IBM Plex Sans" charset="0"/>
              </a:rPr>
              <a:t>Process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23D620CC-65F6-4BA0-A758-49189761882D}"/>
              </a:ext>
            </a:extLst>
          </p:cNvPr>
          <p:cNvSpPr txBox="1"/>
          <p:nvPr/>
        </p:nvSpPr>
        <p:spPr>
          <a:xfrm>
            <a:off x="558732" y="1216277"/>
            <a:ext cx="872837" cy="3158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623428" rtl="0" eaLnBrk="1" fontAlgn="auto" latinLnBrk="0" hangingPunct="1">
              <a:lnSpc>
                <a:spcPct val="105000"/>
              </a:lnSpc>
              <a:spcBef>
                <a:spcPts val="68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IBM Plex Sans" charset="0"/>
                <a:cs typeface="IBM Plex Sans" charset="0"/>
              </a:rPr>
              <a:t>Business Component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7C99DFD-1C92-41EF-8481-9C368B179D52}"/>
              </a:ext>
            </a:extLst>
          </p:cNvPr>
          <p:cNvSpPr txBox="1"/>
          <p:nvPr/>
        </p:nvSpPr>
        <p:spPr>
          <a:xfrm>
            <a:off x="6113699" y="1738599"/>
            <a:ext cx="836164" cy="1686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623428" rtl="0" eaLnBrk="1" fontAlgn="auto" latinLnBrk="0" hangingPunct="1">
              <a:lnSpc>
                <a:spcPct val="105000"/>
              </a:lnSpc>
              <a:spcBef>
                <a:spcPts val="68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IBM Plex Sans" charset="0"/>
                <a:cs typeface="IBM Plex Sans" charset="0"/>
              </a:rPr>
              <a:t>Funding</a:t>
            </a: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CF53D472-2B2D-412A-8D53-21678203F5F4}"/>
              </a:ext>
            </a:extLst>
          </p:cNvPr>
          <p:cNvSpPr/>
          <p:nvPr/>
        </p:nvSpPr>
        <p:spPr>
          <a:xfrm>
            <a:off x="10112269" y="1056122"/>
            <a:ext cx="454756" cy="454756"/>
          </a:xfrm>
          <a:prstGeom prst="ellipse">
            <a:avLst/>
          </a:prstGeom>
          <a:solidFill>
            <a:srgbClr val="F3F3F3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2345" tIns="31173" rIns="62345" bIns="3117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4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pic>
        <p:nvPicPr>
          <p:cNvPr id="193" name="Graphic 192" descr="Gears">
            <a:extLst>
              <a:ext uri="{FF2B5EF4-FFF2-40B4-BE49-F238E27FC236}">
                <a16:creationId xmlns:a16="http://schemas.microsoft.com/office/drawing/2014/main" id="{AFBCF59B-6EF6-459C-9077-BEF0A19B8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1620" y="1117482"/>
            <a:ext cx="396061" cy="396061"/>
          </a:xfrm>
          <a:prstGeom prst="rect">
            <a:avLst/>
          </a:prstGeom>
        </p:spPr>
      </p:pic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8D24D16A-1CEB-43A0-B03B-FD0E1BD3EC72}"/>
              </a:ext>
            </a:extLst>
          </p:cNvPr>
          <p:cNvCxnSpPr>
            <a:cxnSpLocks/>
          </p:cNvCxnSpPr>
          <p:nvPr/>
        </p:nvCxnSpPr>
        <p:spPr>
          <a:xfrm>
            <a:off x="5918592" y="1123935"/>
            <a:ext cx="0" cy="3574901"/>
          </a:xfrm>
          <a:prstGeom prst="line">
            <a:avLst/>
          </a:prstGeom>
          <a:ln w="12700">
            <a:solidFill>
              <a:schemeClr val="accent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Oval 195">
            <a:extLst>
              <a:ext uri="{FF2B5EF4-FFF2-40B4-BE49-F238E27FC236}">
                <a16:creationId xmlns:a16="http://schemas.microsoft.com/office/drawing/2014/main" id="{30BA1F47-3625-4B76-A5F0-AE8058C269DB}"/>
              </a:ext>
            </a:extLst>
          </p:cNvPr>
          <p:cNvSpPr/>
          <p:nvPr/>
        </p:nvSpPr>
        <p:spPr>
          <a:xfrm>
            <a:off x="2796678" y="1054177"/>
            <a:ext cx="454756" cy="454756"/>
          </a:xfrm>
          <a:prstGeom prst="ellipse">
            <a:avLst/>
          </a:prstGeom>
          <a:solidFill>
            <a:srgbClr val="F3F3F3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2345" tIns="31173" rIns="62345" bIns="3117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4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E0D01C78-63B2-42C2-AFD2-CC080EB29B3C}"/>
              </a:ext>
            </a:extLst>
          </p:cNvPr>
          <p:cNvSpPr txBox="1"/>
          <p:nvPr/>
        </p:nvSpPr>
        <p:spPr>
          <a:xfrm>
            <a:off x="2701251" y="1709804"/>
            <a:ext cx="648959" cy="4547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623428" rtl="0" eaLnBrk="1" fontAlgn="auto" latinLnBrk="0" hangingPunct="1">
              <a:lnSpc>
                <a:spcPct val="105000"/>
              </a:lnSpc>
              <a:spcBef>
                <a:spcPts val="68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IBM Plex Sans" charset="0"/>
                <a:cs typeface="IBM Plex Sans" charset="0"/>
              </a:rPr>
              <a:t>Client Sales</a:t>
            </a:r>
          </a:p>
        </p:txBody>
      </p:sp>
      <p:pic>
        <p:nvPicPr>
          <p:cNvPr id="198" name="Graphic 197" descr="Magnifying glass">
            <a:extLst>
              <a:ext uri="{FF2B5EF4-FFF2-40B4-BE49-F238E27FC236}">
                <a16:creationId xmlns:a16="http://schemas.microsoft.com/office/drawing/2014/main" id="{6A06B640-396C-4F42-80FB-E69D9BACC0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86528" y="1144029"/>
            <a:ext cx="275053" cy="275053"/>
          </a:xfrm>
          <a:prstGeom prst="rect">
            <a:avLst/>
          </a:prstGeom>
        </p:spPr>
      </p:pic>
      <p:sp>
        <p:nvSpPr>
          <p:cNvPr id="199" name="Rectangle 198">
            <a:extLst>
              <a:ext uri="{FF2B5EF4-FFF2-40B4-BE49-F238E27FC236}">
                <a16:creationId xmlns:a16="http://schemas.microsoft.com/office/drawing/2014/main" id="{7272980C-893E-4302-AF40-459F4CBB5F05}"/>
              </a:ext>
            </a:extLst>
          </p:cNvPr>
          <p:cNvSpPr>
            <a:spLocks noChangeAspect="1"/>
          </p:cNvSpPr>
          <p:nvPr/>
        </p:nvSpPr>
        <p:spPr>
          <a:xfrm>
            <a:off x="2621731" y="2091172"/>
            <a:ext cx="872837" cy="459388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3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Sales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13E5FC17-20B2-4987-A027-A6F79EFED681}"/>
              </a:ext>
            </a:extLst>
          </p:cNvPr>
          <p:cNvSpPr/>
          <p:nvPr/>
        </p:nvSpPr>
        <p:spPr>
          <a:xfrm>
            <a:off x="2596995" y="2775942"/>
            <a:ext cx="1027060" cy="908436"/>
          </a:xfrm>
          <a:prstGeom prst="rect">
            <a:avLst/>
          </a:prstGeom>
          <a:solidFill>
            <a:srgbClr val="00E3ED"/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Document  verification  using optical character recognition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0459E647-9477-419D-9FEA-D7128756AA5E}"/>
              </a:ext>
            </a:extLst>
          </p:cNvPr>
          <p:cNvSpPr/>
          <p:nvPr/>
        </p:nvSpPr>
        <p:spPr>
          <a:xfrm>
            <a:off x="7257348" y="2756972"/>
            <a:ext cx="1059160" cy="52830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Product change variation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3A50FD6E-1847-4D3C-B23B-ACB4245D5BAF}"/>
              </a:ext>
            </a:extLst>
          </p:cNvPr>
          <p:cNvSpPr/>
          <p:nvPr/>
        </p:nvSpPr>
        <p:spPr>
          <a:xfrm>
            <a:off x="9818376" y="2774191"/>
            <a:ext cx="1087393" cy="720073"/>
          </a:xfrm>
          <a:prstGeom prst="rect">
            <a:avLst/>
          </a:prstGeom>
          <a:solidFill>
            <a:srgbClr val="68A6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Pre-payment propensity checks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9C3D3E6A-3F34-47BC-8670-DFFE0E7C35AC}"/>
              </a:ext>
            </a:extLst>
          </p:cNvPr>
          <p:cNvSpPr txBox="1"/>
          <p:nvPr/>
        </p:nvSpPr>
        <p:spPr>
          <a:xfrm>
            <a:off x="506691" y="5372348"/>
            <a:ext cx="928764" cy="4116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623428" rtl="0" eaLnBrk="1" fontAlgn="auto" latinLnBrk="0" hangingPunct="1">
              <a:lnSpc>
                <a:spcPct val="105000"/>
              </a:lnSpc>
              <a:spcBef>
                <a:spcPts val="68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IBM Plex Sans" charset="0"/>
                <a:cs typeface="IBM Plex Sans" charset="0"/>
              </a:rPr>
              <a:t>High Level Solution Overview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465839CB-9FAC-42BC-9577-22F57B03DC44}"/>
              </a:ext>
            </a:extLst>
          </p:cNvPr>
          <p:cNvSpPr/>
          <p:nvPr/>
        </p:nvSpPr>
        <p:spPr>
          <a:xfrm>
            <a:off x="6002154" y="2780512"/>
            <a:ext cx="1098436" cy="54461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Fee reconciliation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6BA4FC2-7A68-4228-8824-72BDA21B687B}"/>
              </a:ext>
            </a:extLst>
          </p:cNvPr>
          <p:cNvSpPr/>
          <p:nvPr/>
        </p:nvSpPr>
        <p:spPr>
          <a:xfrm>
            <a:off x="1560268" y="2758731"/>
            <a:ext cx="898328" cy="135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Automated case creation across branch, broker and online channels</a:t>
            </a: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F5586E49-5199-41AD-98CB-58681F9A74DA}"/>
              </a:ext>
            </a:extLst>
          </p:cNvPr>
          <p:cNvSpPr/>
          <p:nvPr/>
        </p:nvSpPr>
        <p:spPr>
          <a:xfrm>
            <a:off x="8546745" y="2758731"/>
            <a:ext cx="985204" cy="79244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Redemption statements via solicitors portal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22ED766-DCC6-4E08-A943-4428CF7B5145}"/>
              </a:ext>
            </a:extLst>
          </p:cNvPr>
          <p:cNvSpPr txBox="1"/>
          <p:nvPr/>
        </p:nvSpPr>
        <p:spPr>
          <a:xfrm>
            <a:off x="543329" y="3002083"/>
            <a:ext cx="1081911" cy="2999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623428" rtl="0" eaLnBrk="1" fontAlgn="auto" latinLnBrk="0" hangingPunct="1">
              <a:lnSpc>
                <a:spcPct val="105000"/>
              </a:lnSpc>
              <a:spcBef>
                <a:spcPts val="68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IBM Plex Sans" charset="0"/>
                <a:cs typeface="IBM Plex Sans" charset="0"/>
              </a:rPr>
              <a:t>Automation undertaken 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9637A7B-0C57-4663-9501-E0B50DEF154C}"/>
              </a:ext>
            </a:extLst>
          </p:cNvPr>
          <p:cNvSpPr/>
          <p:nvPr/>
        </p:nvSpPr>
        <p:spPr>
          <a:xfrm>
            <a:off x="2589795" y="3716934"/>
            <a:ext cx="1028156" cy="94310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Product fee collection and refunds process 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F2118F0-2841-46F8-9C61-F3E650D809E5}"/>
              </a:ext>
            </a:extLst>
          </p:cNvPr>
          <p:cNvSpPr/>
          <p:nvPr/>
        </p:nvSpPr>
        <p:spPr>
          <a:xfrm>
            <a:off x="4881537" y="2811273"/>
            <a:ext cx="929145" cy="55460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ILA consent form automation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0A8DE30-3555-4851-869C-B2AEBEC8F0AE}"/>
              </a:ext>
            </a:extLst>
          </p:cNvPr>
          <p:cNvSpPr/>
          <p:nvPr/>
        </p:nvSpPr>
        <p:spPr>
          <a:xfrm>
            <a:off x="3662310" y="3977064"/>
            <a:ext cx="980719" cy="68724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ILA and offer letter creation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858F872-9FD6-4037-B646-77B1AD7F2508}"/>
              </a:ext>
            </a:extLst>
          </p:cNvPr>
          <p:cNvSpPr/>
          <p:nvPr/>
        </p:nvSpPr>
        <p:spPr>
          <a:xfrm>
            <a:off x="7235871" y="3338764"/>
            <a:ext cx="1090549" cy="73890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Rate switch process across channels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B36E046-082F-4B3D-91C9-0CAE46DF325E}"/>
              </a:ext>
            </a:extLst>
          </p:cNvPr>
          <p:cNvSpPr/>
          <p:nvPr/>
        </p:nvSpPr>
        <p:spPr>
          <a:xfrm>
            <a:off x="7235871" y="4107309"/>
            <a:ext cx="1110197" cy="6483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Customer information request form simplification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B21481C-DE95-4795-9111-92C4633B21FC}"/>
              </a:ext>
            </a:extLst>
          </p:cNvPr>
          <p:cNvSpPr/>
          <p:nvPr/>
        </p:nvSpPr>
        <p:spPr>
          <a:xfrm>
            <a:off x="6013565" y="3352296"/>
            <a:ext cx="1098435" cy="54461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Offer extensions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4A5A105-08D7-44FB-AFD4-DA2955CDA5FA}"/>
              </a:ext>
            </a:extLst>
          </p:cNvPr>
          <p:cNvSpPr txBox="1"/>
          <p:nvPr/>
        </p:nvSpPr>
        <p:spPr>
          <a:xfrm>
            <a:off x="509731" y="6127469"/>
            <a:ext cx="928764" cy="4116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623428" rtl="0" eaLnBrk="1" fontAlgn="auto" latinLnBrk="0" hangingPunct="1">
              <a:lnSpc>
                <a:spcPct val="105000"/>
              </a:lnSpc>
              <a:spcBef>
                <a:spcPts val="68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IBM Plex Sans" charset="0"/>
                <a:cs typeface="IBM Plex Sans" charset="0"/>
              </a:rPr>
              <a:t>Benefits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57A405F-712E-4149-9A49-EE98E4AABE1D}"/>
              </a:ext>
            </a:extLst>
          </p:cNvPr>
          <p:cNvSpPr/>
          <p:nvPr/>
        </p:nvSpPr>
        <p:spPr>
          <a:xfrm>
            <a:off x="1507809" y="6085338"/>
            <a:ext cx="2128939" cy="36708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100+ FTE savings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72797F3-8DBE-4DC7-BD87-ED43D71F3731}"/>
              </a:ext>
            </a:extLst>
          </p:cNvPr>
          <p:cNvSpPr/>
          <p:nvPr/>
        </p:nvSpPr>
        <p:spPr>
          <a:xfrm>
            <a:off x="3688999" y="6091006"/>
            <a:ext cx="1675409" cy="35575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Enhanced customer experience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A5D0589-6C59-4059-BF9A-27FA6531B82B}"/>
              </a:ext>
            </a:extLst>
          </p:cNvPr>
          <p:cNvSpPr/>
          <p:nvPr/>
        </p:nvSpPr>
        <p:spPr>
          <a:xfrm>
            <a:off x="5416659" y="6088905"/>
            <a:ext cx="2149259" cy="35995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Reduction in cycle time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9345B77-8B1F-46E3-9825-5A03E0C07DAC}"/>
              </a:ext>
            </a:extLst>
          </p:cNvPr>
          <p:cNvSpPr/>
          <p:nvPr/>
        </p:nvSpPr>
        <p:spPr>
          <a:xfrm>
            <a:off x="7618169" y="6089956"/>
            <a:ext cx="1811907" cy="35785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Error-free processing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0AA1FDA-0F7C-400B-AA15-09A8AA9DB223}"/>
              </a:ext>
            </a:extLst>
          </p:cNvPr>
          <p:cNvSpPr/>
          <p:nvPr/>
        </p:nvSpPr>
        <p:spPr>
          <a:xfrm>
            <a:off x="9482327" y="6085338"/>
            <a:ext cx="1571448" cy="36708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Automated audit trails 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169D900-8239-4EAB-BD5B-8755D81B2145}"/>
              </a:ext>
            </a:extLst>
          </p:cNvPr>
          <p:cNvSpPr txBox="1"/>
          <p:nvPr/>
        </p:nvSpPr>
        <p:spPr>
          <a:xfrm>
            <a:off x="507325" y="4817984"/>
            <a:ext cx="928764" cy="4116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623428" rtl="0" eaLnBrk="1" fontAlgn="auto" latinLnBrk="0" hangingPunct="1">
              <a:lnSpc>
                <a:spcPct val="105000"/>
              </a:lnSpc>
              <a:spcBef>
                <a:spcPts val="68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IBM Plex Sans" charset="0"/>
                <a:cs typeface="IBM Plex Sans" charset="0"/>
              </a:rPr>
              <a:t>Solutions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28DDC25A-7F0F-4533-8CEF-47AF4E8FA2D0}"/>
              </a:ext>
            </a:extLst>
          </p:cNvPr>
          <p:cNvSpPr/>
          <p:nvPr/>
        </p:nvSpPr>
        <p:spPr>
          <a:xfrm>
            <a:off x="1511845" y="4790015"/>
            <a:ext cx="2128939" cy="376679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API Integration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3D4B134C-9DD5-44C0-BD12-DACC9BE14583}"/>
              </a:ext>
            </a:extLst>
          </p:cNvPr>
          <p:cNvSpPr/>
          <p:nvPr/>
        </p:nvSpPr>
        <p:spPr>
          <a:xfrm>
            <a:off x="3697227" y="4800478"/>
            <a:ext cx="2128939" cy="355753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Optical Character Recognition tools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B3DB886D-6670-4B0C-BB30-5B9DCF103C30}"/>
              </a:ext>
            </a:extLst>
          </p:cNvPr>
          <p:cNvSpPr/>
          <p:nvPr/>
        </p:nvSpPr>
        <p:spPr>
          <a:xfrm>
            <a:off x="5872241" y="4796731"/>
            <a:ext cx="1239759" cy="363247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RPA tools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F57E0D1A-1E09-47BC-AB9F-48EC333FDD51}"/>
              </a:ext>
            </a:extLst>
          </p:cNvPr>
          <p:cNvSpPr/>
          <p:nvPr/>
        </p:nvSpPr>
        <p:spPr>
          <a:xfrm>
            <a:off x="7158074" y="4799522"/>
            <a:ext cx="1239759" cy="35766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Process Digitization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253785C7-B9A4-427A-82F3-B77CA45A16C5}"/>
              </a:ext>
            </a:extLst>
          </p:cNvPr>
          <p:cNvSpPr/>
          <p:nvPr/>
        </p:nvSpPr>
        <p:spPr>
          <a:xfrm>
            <a:off x="8432755" y="4798813"/>
            <a:ext cx="1239759" cy="359083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Process Simplification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6B8B8EB-E329-461D-8ECB-F0197C27D2AA}"/>
              </a:ext>
            </a:extLst>
          </p:cNvPr>
          <p:cNvSpPr/>
          <p:nvPr/>
        </p:nvSpPr>
        <p:spPr>
          <a:xfrm>
            <a:off x="9714466" y="4794195"/>
            <a:ext cx="1339309" cy="368319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Cognitive &amp; AI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CCD5CB02-ADF2-4A31-8337-730B3D09EF6D}"/>
              </a:ext>
            </a:extLst>
          </p:cNvPr>
          <p:cNvCxnSpPr>
            <a:cxnSpLocks/>
          </p:cNvCxnSpPr>
          <p:nvPr/>
        </p:nvCxnSpPr>
        <p:spPr>
          <a:xfrm>
            <a:off x="4775200" y="1089411"/>
            <a:ext cx="0" cy="3574901"/>
          </a:xfrm>
          <a:prstGeom prst="line">
            <a:avLst/>
          </a:prstGeom>
          <a:ln w="12700">
            <a:solidFill>
              <a:schemeClr val="accent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CE70B8F6-53B6-496E-A2DB-CBA1E751961F}"/>
              </a:ext>
            </a:extLst>
          </p:cNvPr>
          <p:cNvSpPr/>
          <p:nvPr/>
        </p:nvSpPr>
        <p:spPr>
          <a:xfrm>
            <a:off x="1511846" y="5374918"/>
            <a:ext cx="1739588" cy="61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Prepopulated Form with existing customer data sets from </a:t>
            </a:r>
            <a:r>
              <a:rPr kumimoji="0" lang="en-US" sz="1067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Data Platform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7FB4C54-0E2A-4280-8F40-92F4512E4F33}"/>
              </a:ext>
            </a:extLst>
          </p:cNvPr>
          <p:cNvSpPr/>
          <p:nvPr/>
        </p:nvSpPr>
        <p:spPr>
          <a:xfrm>
            <a:off x="3309769" y="5374918"/>
            <a:ext cx="1739588" cy="612000"/>
          </a:xfrm>
          <a:prstGeom prst="rect">
            <a:avLst/>
          </a:prstGeom>
          <a:solidFill>
            <a:srgbClr val="00E3ED"/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Infused AI </a:t>
            </a:r>
            <a:r>
              <a:rPr kumimoji="0" lang="en-US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specifically </a:t>
            </a:r>
            <a:r>
              <a:rPr kumimoji="0" lang="en-US" sz="1067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OCR</a:t>
            </a:r>
            <a:r>
              <a:rPr kumimoji="0" lang="en-US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 for document verification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F0B40CB-C103-4453-88A0-EFF3438EC5D0}"/>
              </a:ext>
            </a:extLst>
          </p:cNvPr>
          <p:cNvSpPr/>
          <p:nvPr/>
        </p:nvSpPr>
        <p:spPr>
          <a:xfrm>
            <a:off x="5107692" y="5374918"/>
            <a:ext cx="1529048" cy="61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Data Insights</a:t>
            </a:r>
            <a:r>
              <a:rPr kumimoji="0" lang="en-US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 driven Process Digitization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142C266-67D7-40C9-B13D-1132442DF953}"/>
              </a:ext>
            </a:extLst>
          </p:cNvPr>
          <p:cNvSpPr/>
          <p:nvPr/>
        </p:nvSpPr>
        <p:spPr>
          <a:xfrm>
            <a:off x="6695075" y="5374918"/>
            <a:ext cx="1430383" cy="612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API Integration (including 3</a:t>
            </a:r>
            <a:r>
              <a:rPr kumimoji="0" lang="en-US" sz="1067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rd</a:t>
            </a: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 Party APIs)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8A7622D-45F6-481C-9891-E1549DDC7225}"/>
              </a:ext>
            </a:extLst>
          </p:cNvPr>
          <p:cNvSpPr/>
          <p:nvPr/>
        </p:nvSpPr>
        <p:spPr>
          <a:xfrm>
            <a:off x="8183793" y="5374918"/>
            <a:ext cx="1430384" cy="612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Process Leaning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2380AB7-F828-4CC7-8F18-B9D74E3A848B}"/>
              </a:ext>
            </a:extLst>
          </p:cNvPr>
          <p:cNvSpPr/>
          <p:nvPr/>
        </p:nvSpPr>
        <p:spPr>
          <a:xfrm>
            <a:off x="9672514" y="5374918"/>
            <a:ext cx="1381261" cy="612000"/>
          </a:xfrm>
          <a:prstGeom prst="rect">
            <a:avLst/>
          </a:prstGeom>
          <a:solidFill>
            <a:srgbClr val="68A6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128" tIns="41564" rIns="83128" bIns="415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233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 Medium" panose="020B0503050203000203" pitchFamily="34" charset="0"/>
                <a:ea typeface="+mn-ea"/>
                <a:cs typeface="+mn-cs"/>
              </a:rPr>
              <a:t>ML based Modelling insights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52630D3-94B7-41EB-A976-2CBA527F2445}"/>
              </a:ext>
            </a:extLst>
          </p:cNvPr>
          <p:cNvSpPr txBox="1"/>
          <p:nvPr/>
        </p:nvSpPr>
        <p:spPr>
          <a:xfrm>
            <a:off x="3294951" y="1719145"/>
            <a:ext cx="648959" cy="4547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623428" rtl="0" eaLnBrk="1" fontAlgn="auto" latinLnBrk="0" hangingPunct="1">
              <a:lnSpc>
                <a:spcPct val="105000"/>
              </a:lnSpc>
              <a:spcBef>
                <a:spcPts val="68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IBM Plex Sans" charset="0"/>
                <a:cs typeface="IBM Plex Sans" charset="0"/>
              </a:rPr>
              <a:t>&amp;</a:t>
            </a:r>
          </a:p>
        </p:txBody>
      </p:sp>
    </p:spTree>
    <p:extLst>
      <p:ext uri="{BB962C8B-B14F-4D97-AF65-F5344CB8AC3E}">
        <p14:creationId xmlns:p14="http://schemas.microsoft.com/office/powerpoint/2010/main" val="130252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0D0A56F-A258-B34F-B705-BC15C5268BBA}"/>
              </a:ext>
            </a:extLst>
          </p:cNvPr>
          <p:cNvSpPr/>
          <p:nvPr/>
        </p:nvSpPr>
        <p:spPr>
          <a:xfrm>
            <a:off x="300040" y="1089025"/>
            <a:ext cx="11591925" cy="5435600"/>
          </a:xfrm>
          <a:prstGeom prst="rect">
            <a:avLst/>
          </a:prstGeom>
          <a:noFill/>
          <a:ln w="12700" cap="flat" cmpd="sng" algn="ctr">
            <a:solidFill>
              <a:srgbClr val="2396C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F6044A7-F192-0441-8453-546F9956A493}"/>
              </a:ext>
            </a:extLst>
          </p:cNvPr>
          <p:cNvGrpSpPr/>
          <p:nvPr/>
        </p:nvGrpSpPr>
        <p:grpSpPr>
          <a:xfrm>
            <a:off x="645246" y="5899198"/>
            <a:ext cx="2566369" cy="415499"/>
            <a:chOff x="616993" y="6348621"/>
            <a:chExt cx="2566369" cy="41550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760DBAC-8EBC-0840-8EF9-BD24B78468E4}"/>
                </a:ext>
              </a:extLst>
            </p:cNvPr>
            <p:cNvGrpSpPr/>
            <p:nvPr>
              <p:custDataLst>
                <p:tags r:id="rId1"/>
              </p:custDataLst>
            </p:nvPr>
          </p:nvGrpSpPr>
          <p:grpSpPr>
            <a:xfrm>
              <a:off x="616993" y="6348621"/>
              <a:ext cx="1077951" cy="415500"/>
              <a:chOff x="2008930" y="3413994"/>
              <a:chExt cx="934574" cy="360235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094B17C-BEDB-B442-8B19-0CE579EAF6BF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2244383" y="3413994"/>
                <a:ext cx="699121" cy="360235"/>
              </a:xfrm>
              <a:prstGeom prst="rect">
                <a:avLst/>
              </a:prstGeom>
              <a:noFill/>
            </p:spPr>
            <p:txBody>
              <a:bodyPr wrap="square" lIns="35991" tIns="0" rIns="0" bIns="0" rtlCol="0">
                <a:spAutoFit/>
              </a:bodyPr>
              <a:lstStyle/>
              <a:p>
                <a:pPr marL="0" marR="0" lvl="0" indent="0" algn="l" defTabSz="779233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Pct val="100000"/>
                  <a:buFontTx/>
                  <a:buNone/>
                  <a:tabLst/>
                  <a:defRPr/>
                </a:pPr>
                <a:r>
                  <a:rPr kumimoji="0" lang="en-AU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BM Plex Sans Light" panose="020B0403050203000203" pitchFamily="34" charset="77"/>
                    <a:ea typeface="+mn-ea"/>
                    <a:cs typeface="Segoe UI Light" panose="020B0502040204020203" pitchFamily="34" charset="0"/>
                  </a:rPr>
                  <a:t>RPA or </a:t>
                </a:r>
                <a:r>
                  <a:rPr kumimoji="0" lang="en-AU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BM Plex Sans Light" panose="020B0403050203000203" pitchFamily="34" charset="77"/>
                    <a:ea typeface="+mn-ea"/>
                    <a:cs typeface="Segoe UI Light" panose="020B0502040204020203" pitchFamily="34" charset="0"/>
                  </a:rPr>
                  <a:t>MortOrigS</a:t>
                </a:r>
                <a:r>
                  <a:rPr kumimoji="0" lang="en-AU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BM Plex Sans Light" panose="020B0403050203000203" pitchFamily="34" charset="77"/>
                    <a:ea typeface="+mn-ea"/>
                    <a:cs typeface="Segoe UI Light" panose="020B0502040204020203" pitchFamily="34" charset="0"/>
                  </a:rPr>
                  <a:t> APIs (TBC)</a:t>
                </a:r>
              </a:p>
            </p:txBody>
          </p:sp>
          <p:sp>
            <p:nvSpPr>
              <p:cNvPr id="19" name="Freeform 598">
                <a:extLst>
                  <a:ext uri="{FF2B5EF4-FFF2-40B4-BE49-F238E27FC236}">
                    <a16:creationId xmlns:a16="http://schemas.microsoft.com/office/drawing/2014/main" id="{877F6F3C-0708-D143-BD37-BDADC81AAC9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2008930" y="3490584"/>
                <a:ext cx="207364" cy="207363"/>
              </a:xfrm>
              <a:custGeom>
                <a:avLst/>
                <a:gdLst>
                  <a:gd name="T0" fmla="*/ 256 w 512"/>
                  <a:gd name="T1" fmla="*/ 0 h 512"/>
                  <a:gd name="T2" fmla="*/ 0 w 512"/>
                  <a:gd name="T3" fmla="*/ 256 h 512"/>
                  <a:gd name="T4" fmla="*/ 256 w 512"/>
                  <a:gd name="T5" fmla="*/ 512 h 512"/>
                  <a:gd name="T6" fmla="*/ 512 w 512"/>
                  <a:gd name="T7" fmla="*/ 256 h 512"/>
                  <a:gd name="T8" fmla="*/ 256 w 512"/>
                  <a:gd name="T9" fmla="*/ 0 h 512"/>
                  <a:gd name="T10" fmla="*/ 402 w 512"/>
                  <a:gd name="T11" fmla="*/ 167 h 512"/>
                  <a:gd name="T12" fmla="*/ 189 w 512"/>
                  <a:gd name="T13" fmla="*/ 381 h 512"/>
                  <a:gd name="T14" fmla="*/ 181 w 512"/>
                  <a:gd name="T15" fmla="*/ 384 h 512"/>
                  <a:gd name="T16" fmla="*/ 173 w 512"/>
                  <a:gd name="T17" fmla="*/ 381 h 512"/>
                  <a:gd name="T18" fmla="*/ 99 w 512"/>
                  <a:gd name="T19" fmla="*/ 306 h 512"/>
                  <a:gd name="T20" fmla="*/ 99 w 512"/>
                  <a:gd name="T21" fmla="*/ 291 h 512"/>
                  <a:gd name="T22" fmla="*/ 114 w 512"/>
                  <a:gd name="T23" fmla="*/ 291 h 512"/>
                  <a:gd name="T24" fmla="*/ 181 w 512"/>
                  <a:gd name="T25" fmla="*/ 358 h 512"/>
                  <a:gd name="T26" fmla="*/ 387 w 512"/>
                  <a:gd name="T27" fmla="*/ 152 h 512"/>
                  <a:gd name="T28" fmla="*/ 402 w 512"/>
                  <a:gd name="T29" fmla="*/ 152 h 512"/>
                  <a:gd name="T30" fmla="*/ 402 w 512"/>
                  <a:gd name="T31" fmla="*/ 167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12" h="512">
                    <a:moveTo>
                      <a:pt x="256" y="0"/>
                    </a:moveTo>
                    <a:cubicBezTo>
                      <a:pt x="114" y="0"/>
                      <a:pt x="0" y="114"/>
                      <a:pt x="0" y="256"/>
                    </a:cubicBezTo>
                    <a:cubicBezTo>
                      <a:pt x="0" y="397"/>
                      <a:pt x="114" y="512"/>
                      <a:pt x="256" y="512"/>
                    </a:cubicBezTo>
                    <a:cubicBezTo>
                      <a:pt x="397" y="512"/>
                      <a:pt x="512" y="397"/>
                      <a:pt x="512" y="256"/>
                    </a:cubicBezTo>
                    <a:cubicBezTo>
                      <a:pt x="512" y="114"/>
                      <a:pt x="397" y="0"/>
                      <a:pt x="256" y="0"/>
                    </a:cubicBezTo>
                    <a:close/>
                    <a:moveTo>
                      <a:pt x="402" y="167"/>
                    </a:moveTo>
                    <a:cubicBezTo>
                      <a:pt x="189" y="381"/>
                      <a:pt x="189" y="381"/>
                      <a:pt x="189" y="381"/>
                    </a:cubicBezTo>
                    <a:cubicBezTo>
                      <a:pt x="186" y="383"/>
                      <a:pt x="184" y="384"/>
                      <a:pt x="181" y="384"/>
                    </a:cubicBezTo>
                    <a:cubicBezTo>
                      <a:pt x="178" y="384"/>
                      <a:pt x="176" y="383"/>
                      <a:pt x="173" y="381"/>
                    </a:cubicBezTo>
                    <a:cubicBezTo>
                      <a:pt x="99" y="306"/>
                      <a:pt x="99" y="306"/>
                      <a:pt x="99" y="306"/>
                    </a:cubicBezTo>
                    <a:cubicBezTo>
                      <a:pt x="95" y="302"/>
                      <a:pt x="95" y="295"/>
                      <a:pt x="99" y="291"/>
                    </a:cubicBezTo>
                    <a:cubicBezTo>
                      <a:pt x="103" y="287"/>
                      <a:pt x="110" y="287"/>
                      <a:pt x="114" y="291"/>
                    </a:cubicBezTo>
                    <a:cubicBezTo>
                      <a:pt x="181" y="358"/>
                      <a:pt x="181" y="358"/>
                      <a:pt x="181" y="358"/>
                    </a:cubicBezTo>
                    <a:cubicBezTo>
                      <a:pt x="387" y="152"/>
                      <a:pt x="387" y="152"/>
                      <a:pt x="387" y="152"/>
                    </a:cubicBezTo>
                    <a:cubicBezTo>
                      <a:pt x="391" y="148"/>
                      <a:pt x="398" y="148"/>
                      <a:pt x="402" y="152"/>
                    </a:cubicBezTo>
                    <a:cubicBezTo>
                      <a:pt x="406" y="156"/>
                      <a:pt x="406" y="163"/>
                      <a:pt x="402" y="167"/>
                    </a:cubicBezTo>
                    <a:close/>
                  </a:path>
                </a:pathLst>
              </a:custGeom>
              <a:solidFill>
                <a:srgbClr val="86BC2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77923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Light" panose="020B0502040204020203" pitchFamily="34" charset="0"/>
                  <a:ea typeface="+mn-ea"/>
                  <a:cs typeface="Segoe UI Light" panose="020B0502040204020203" pitchFamily="34" charset="0"/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C7C5BFB-555B-5744-AD01-6497F6BFCB20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1983601" y="6500140"/>
              <a:ext cx="1199761" cy="138499"/>
            </a:xfrm>
            <a:prstGeom prst="rect">
              <a:avLst/>
            </a:prstGeom>
            <a:noFill/>
          </p:spPr>
          <p:txBody>
            <a:bodyPr wrap="square" lIns="35991" tIns="0" rIns="0" bIns="0" rtlCol="0">
              <a:spAutoFit/>
            </a:bodyPr>
            <a:lstStyle/>
            <a:p>
              <a:pPr marL="0" marR="0" lvl="0" indent="0" algn="l" defTabSz="779233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AU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77"/>
                  <a:ea typeface="+mn-ea"/>
                  <a:cs typeface="Segoe UI Light" panose="020B0502040204020203" pitchFamily="34" charset="0"/>
                </a:rPr>
                <a:t>OCR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FD56A0B8-6357-B644-A563-862A3F10D3B8}"/>
              </a:ext>
            </a:extLst>
          </p:cNvPr>
          <p:cNvSpPr/>
          <p:nvPr/>
        </p:nvSpPr>
        <p:spPr>
          <a:xfrm>
            <a:off x="1307059" y="1645679"/>
            <a:ext cx="1228776" cy="102570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 Light" panose="020B0403050203000203" pitchFamily="34" charset="77"/>
                <a:ea typeface="+mn-ea"/>
                <a:cs typeface="Segoe UI Light" panose="020B0502040204020203" pitchFamily="34" charset="0"/>
              </a:rPr>
              <a:t>Check ILA consent form (PDF with handwritten input) is present in </a:t>
            </a:r>
            <a:r>
              <a:rPr kumimoji="0" lang="en-AU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 Light" panose="020B0403050203000203" pitchFamily="34" charset="77"/>
                <a:ea typeface="+mn-ea"/>
                <a:cs typeface="Segoe UI Light" panose="020B0502040204020203" pitchFamily="34" charset="0"/>
              </a:rPr>
              <a:t>MortOrigS</a:t>
            </a: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 Light" panose="020B0403050203000203" pitchFamily="34" charset="77"/>
                <a:ea typeface="+mn-ea"/>
                <a:cs typeface="Segoe UI Light" panose="020B0502040204020203" pitchFamily="34" charset="0"/>
              </a:rPr>
              <a:t> and complete.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023F0C-CFEE-454E-83E0-7D11C7761BCB}"/>
              </a:ext>
            </a:extLst>
          </p:cNvPr>
          <p:cNvSpPr/>
          <p:nvPr/>
        </p:nvSpPr>
        <p:spPr>
          <a:xfrm>
            <a:off x="2861817" y="1645679"/>
            <a:ext cx="1504117" cy="1021076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 Light" panose="020B0403050203000203" pitchFamily="34" charset="77"/>
                <a:ea typeface="+mn-ea"/>
                <a:cs typeface="Segoe UI Light" panose="020B0502040204020203" pitchFamily="34" charset="0"/>
              </a:rPr>
              <a:t>If incomplete or not present then exception pathway is triggered – send email to broker or mortgage specialist.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5D1F6C-3852-764B-8BE5-F0B7902C90A7}"/>
              </a:ext>
            </a:extLst>
          </p:cNvPr>
          <p:cNvSpPr/>
          <p:nvPr/>
        </p:nvSpPr>
        <p:spPr>
          <a:xfrm>
            <a:off x="4674959" y="1644683"/>
            <a:ext cx="1479096" cy="1021076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Check 1: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Customer(s) Legal name on consent form matches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MortOrigS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. </a:t>
            </a:r>
            <a:endParaRPr kumimoji="0" lang="en-AU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 Light" panose="020B0403050203000203" pitchFamily="34" charset="77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E877254-B709-314D-8ACE-466E31748410}"/>
              </a:ext>
            </a:extLst>
          </p:cNvPr>
          <p:cNvSpPr/>
          <p:nvPr/>
        </p:nvSpPr>
        <p:spPr>
          <a:xfrm>
            <a:off x="6463079" y="1644367"/>
            <a:ext cx="1355265" cy="1021076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Check 2: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Customer(s) address on consent form matches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MortOrigS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90C0A40-5D9C-2043-BBF4-85332387AA51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 flipV="1">
            <a:off x="2535835" y="2156217"/>
            <a:ext cx="325982" cy="231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11064E9-96F3-2D48-A6B7-FCAF9FCAE637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 flipV="1">
            <a:off x="4365934" y="2155221"/>
            <a:ext cx="309025" cy="99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FDAAB87-D87F-5048-9D8D-3140DDB0E71E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 flipV="1">
            <a:off x="6154055" y="2154905"/>
            <a:ext cx="309024" cy="31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C7B65D9-5683-5342-89D7-53B52D6B27A4}"/>
              </a:ext>
            </a:extLst>
          </p:cNvPr>
          <p:cNvGrpSpPr/>
          <p:nvPr/>
        </p:nvGrpSpPr>
        <p:grpSpPr>
          <a:xfrm>
            <a:off x="2418682" y="1521490"/>
            <a:ext cx="236832" cy="239175"/>
            <a:chOff x="1743273" y="5348518"/>
            <a:chExt cx="239177" cy="239175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8EA8A08-D6DE-5440-A7DF-5DE89BC9289C}"/>
                </a:ext>
              </a:extLst>
            </p:cNvPr>
            <p:cNvSpPr/>
            <p:nvPr/>
          </p:nvSpPr>
          <p:spPr>
            <a:xfrm>
              <a:off x="1743273" y="5376863"/>
              <a:ext cx="239177" cy="178593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598">
              <a:extLst>
                <a:ext uri="{FF2B5EF4-FFF2-40B4-BE49-F238E27FC236}">
                  <a16:creationId xmlns:a16="http://schemas.microsoft.com/office/drawing/2014/main" id="{DDBCD827-F484-EA4E-816F-EFD58075707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743273" y="5348518"/>
              <a:ext cx="239177" cy="239175"/>
            </a:xfrm>
            <a:custGeom>
              <a:avLst/>
              <a:gdLst>
                <a:gd name="T0" fmla="*/ 256 w 512"/>
                <a:gd name="T1" fmla="*/ 0 h 512"/>
                <a:gd name="T2" fmla="*/ 0 w 512"/>
                <a:gd name="T3" fmla="*/ 256 h 512"/>
                <a:gd name="T4" fmla="*/ 256 w 512"/>
                <a:gd name="T5" fmla="*/ 512 h 512"/>
                <a:gd name="T6" fmla="*/ 512 w 512"/>
                <a:gd name="T7" fmla="*/ 256 h 512"/>
                <a:gd name="T8" fmla="*/ 256 w 512"/>
                <a:gd name="T9" fmla="*/ 0 h 512"/>
                <a:gd name="T10" fmla="*/ 402 w 512"/>
                <a:gd name="T11" fmla="*/ 167 h 512"/>
                <a:gd name="T12" fmla="*/ 189 w 512"/>
                <a:gd name="T13" fmla="*/ 381 h 512"/>
                <a:gd name="T14" fmla="*/ 181 w 512"/>
                <a:gd name="T15" fmla="*/ 384 h 512"/>
                <a:gd name="T16" fmla="*/ 173 w 512"/>
                <a:gd name="T17" fmla="*/ 381 h 512"/>
                <a:gd name="T18" fmla="*/ 99 w 512"/>
                <a:gd name="T19" fmla="*/ 306 h 512"/>
                <a:gd name="T20" fmla="*/ 99 w 512"/>
                <a:gd name="T21" fmla="*/ 291 h 512"/>
                <a:gd name="T22" fmla="*/ 114 w 512"/>
                <a:gd name="T23" fmla="*/ 291 h 512"/>
                <a:gd name="T24" fmla="*/ 181 w 512"/>
                <a:gd name="T25" fmla="*/ 358 h 512"/>
                <a:gd name="T26" fmla="*/ 387 w 512"/>
                <a:gd name="T27" fmla="*/ 152 h 512"/>
                <a:gd name="T28" fmla="*/ 402 w 512"/>
                <a:gd name="T29" fmla="*/ 152 h 512"/>
                <a:gd name="T30" fmla="*/ 402 w 512"/>
                <a:gd name="T31" fmla="*/ 167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12" h="512"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  <a:moveTo>
                    <a:pt x="402" y="167"/>
                  </a:moveTo>
                  <a:cubicBezTo>
                    <a:pt x="189" y="381"/>
                    <a:pt x="189" y="381"/>
                    <a:pt x="189" y="381"/>
                  </a:cubicBezTo>
                  <a:cubicBezTo>
                    <a:pt x="186" y="383"/>
                    <a:pt x="184" y="384"/>
                    <a:pt x="181" y="384"/>
                  </a:cubicBezTo>
                  <a:cubicBezTo>
                    <a:pt x="178" y="384"/>
                    <a:pt x="176" y="383"/>
                    <a:pt x="173" y="381"/>
                  </a:cubicBezTo>
                  <a:cubicBezTo>
                    <a:pt x="99" y="306"/>
                    <a:pt x="99" y="306"/>
                    <a:pt x="99" y="306"/>
                  </a:cubicBezTo>
                  <a:cubicBezTo>
                    <a:pt x="95" y="302"/>
                    <a:pt x="95" y="295"/>
                    <a:pt x="99" y="291"/>
                  </a:cubicBezTo>
                  <a:cubicBezTo>
                    <a:pt x="103" y="287"/>
                    <a:pt x="110" y="287"/>
                    <a:pt x="114" y="291"/>
                  </a:cubicBezTo>
                  <a:cubicBezTo>
                    <a:pt x="181" y="358"/>
                    <a:pt x="181" y="358"/>
                    <a:pt x="181" y="358"/>
                  </a:cubicBezTo>
                  <a:cubicBezTo>
                    <a:pt x="387" y="152"/>
                    <a:pt x="387" y="152"/>
                    <a:pt x="387" y="152"/>
                  </a:cubicBezTo>
                  <a:cubicBezTo>
                    <a:pt x="391" y="148"/>
                    <a:pt x="398" y="148"/>
                    <a:pt x="402" y="152"/>
                  </a:cubicBezTo>
                  <a:cubicBezTo>
                    <a:pt x="406" y="156"/>
                    <a:pt x="406" y="163"/>
                    <a:pt x="402" y="167"/>
                  </a:cubicBezTo>
                  <a:close/>
                </a:path>
              </a:pathLst>
            </a:custGeom>
            <a:solidFill>
              <a:srgbClr val="86BC2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7792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F1532E5-B677-B448-BAA7-263471C7A8C8}"/>
              </a:ext>
            </a:extLst>
          </p:cNvPr>
          <p:cNvGrpSpPr/>
          <p:nvPr/>
        </p:nvGrpSpPr>
        <p:grpSpPr>
          <a:xfrm>
            <a:off x="4199638" y="1526614"/>
            <a:ext cx="236832" cy="239175"/>
            <a:chOff x="1743273" y="5348518"/>
            <a:chExt cx="239177" cy="239175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7040486-6635-BF4B-8D5B-6A7FFC69950E}"/>
                </a:ext>
              </a:extLst>
            </p:cNvPr>
            <p:cNvSpPr/>
            <p:nvPr/>
          </p:nvSpPr>
          <p:spPr>
            <a:xfrm>
              <a:off x="1743273" y="5376863"/>
              <a:ext cx="239177" cy="178593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598">
              <a:extLst>
                <a:ext uri="{FF2B5EF4-FFF2-40B4-BE49-F238E27FC236}">
                  <a16:creationId xmlns:a16="http://schemas.microsoft.com/office/drawing/2014/main" id="{6B6451A6-1455-F34A-A7D9-5A7E17DCDF6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743273" y="5348518"/>
              <a:ext cx="239177" cy="239175"/>
            </a:xfrm>
            <a:custGeom>
              <a:avLst/>
              <a:gdLst>
                <a:gd name="T0" fmla="*/ 256 w 512"/>
                <a:gd name="T1" fmla="*/ 0 h 512"/>
                <a:gd name="T2" fmla="*/ 0 w 512"/>
                <a:gd name="T3" fmla="*/ 256 h 512"/>
                <a:gd name="T4" fmla="*/ 256 w 512"/>
                <a:gd name="T5" fmla="*/ 512 h 512"/>
                <a:gd name="T6" fmla="*/ 512 w 512"/>
                <a:gd name="T7" fmla="*/ 256 h 512"/>
                <a:gd name="T8" fmla="*/ 256 w 512"/>
                <a:gd name="T9" fmla="*/ 0 h 512"/>
                <a:gd name="T10" fmla="*/ 402 w 512"/>
                <a:gd name="T11" fmla="*/ 167 h 512"/>
                <a:gd name="T12" fmla="*/ 189 w 512"/>
                <a:gd name="T13" fmla="*/ 381 h 512"/>
                <a:gd name="T14" fmla="*/ 181 w 512"/>
                <a:gd name="T15" fmla="*/ 384 h 512"/>
                <a:gd name="T16" fmla="*/ 173 w 512"/>
                <a:gd name="T17" fmla="*/ 381 h 512"/>
                <a:gd name="T18" fmla="*/ 99 w 512"/>
                <a:gd name="T19" fmla="*/ 306 h 512"/>
                <a:gd name="T20" fmla="*/ 99 w 512"/>
                <a:gd name="T21" fmla="*/ 291 h 512"/>
                <a:gd name="T22" fmla="*/ 114 w 512"/>
                <a:gd name="T23" fmla="*/ 291 h 512"/>
                <a:gd name="T24" fmla="*/ 181 w 512"/>
                <a:gd name="T25" fmla="*/ 358 h 512"/>
                <a:gd name="T26" fmla="*/ 387 w 512"/>
                <a:gd name="T27" fmla="*/ 152 h 512"/>
                <a:gd name="T28" fmla="*/ 402 w 512"/>
                <a:gd name="T29" fmla="*/ 152 h 512"/>
                <a:gd name="T30" fmla="*/ 402 w 512"/>
                <a:gd name="T31" fmla="*/ 167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12" h="512"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  <a:moveTo>
                    <a:pt x="402" y="167"/>
                  </a:moveTo>
                  <a:cubicBezTo>
                    <a:pt x="189" y="381"/>
                    <a:pt x="189" y="381"/>
                    <a:pt x="189" y="381"/>
                  </a:cubicBezTo>
                  <a:cubicBezTo>
                    <a:pt x="186" y="383"/>
                    <a:pt x="184" y="384"/>
                    <a:pt x="181" y="384"/>
                  </a:cubicBezTo>
                  <a:cubicBezTo>
                    <a:pt x="178" y="384"/>
                    <a:pt x="176" y="383"/>
                    <a:pt x="173" y="381"/>
                  </a:cubicBezTo>
                  <a:cubicBezTo>
                    <a:pt x="99" y="306"/>
                    <a:pt x="99" y="306"/>
                    <a:pt x="99" y="306"/>
                  </a:cubicBezTo>
                  <a:cubicBezTo>
                    <a:pt x="95" y="302"/>
                    <a:pt x="95" y="295"/>
                    <a:pt x="99" y="291"/>
                  </a:cubicBezTo>
                  <a:cubicBezTo>
                    <a:pt x="103" y="287"/>
                    <a:pt x="110" y="287"/>
                    <a:pt x="114" y="291"/>
                  </a:cubicBezTo>
                  <a:cubicBezTo>
                    <a:pt x="181" y="358"/>
                    <a:pt x="181" y="358"/>
                    <a:pt x="181" y="358"/>
                  </a:cubicBezTo>
                  <a:cubicBezTo>
                    <a:pt x="387" y="152"/>
                    <a:pt x="387" y="152"/>
                    <a:pt x="387" y="152"/>
                  </a:cubicBezTo>
                  <a:cubicBezTo>
                    <a:pt x="391" y="148"/>
                    <a:pt x="398" y="148"/>
                    <a:pt x="402" y="152"/>
                  </a:cubicBezTo>
                  <a:cubicBezTo>
                    <a:pt x="406" y="156"/>
                    <a:pt x="406" y="163"/>
                    <a:pt x="402" y="167"/>
                  </a:cubicBezTo>
                  <a:close/>
                </a:path>
              </a:pathLst>
            </a:custGeom>
            <a:solidFill>
              <a:srgbClr val="86BC2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7792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endParaRPr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1FC4681B-4AD0-314F-A9E9-C622BDDCC1C6}"/>
              </a:ext>
            </a:extLst>
          </p:cNvPr>
          <p:cNvSpPr/>
          <p:nvPr/>
        </p:nvSpPr>
        <p:spPr>
          <a:xfrm>
            <a:off x="384325" y="1150884"/>
            <a:ext cx="5545137" cy="43916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0" tIns="0" rtlCol="0" anchor="t"/>
          <a:lstStyle/>
          <a:p>
            <a:pPr marL="0" marR="0" lvl="0" indent="0" algn="l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SemiBold" panose="020B0503050203000203" pitchFamily="34" charset="77"/>
                <a:ea typeface="+mn-ea"/>
                <a:cs typeface="+mn-cs"/>
              </a:rPr>
              <a:t>High Level Overview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FA1D473-0566-8A45-93E0-161E187BB337}"/>
              </a:ext>
            </a:extLst>
          </p:cNvPr>
          <p:cNvSpPr/>
          <p:nvPr/>
        </p:nvSpPr>
        <p:spPr>
          <a:xfrm>
            <a:off x="8802469" y="5460025"/>
            <a:ext cx="2174881" cy="43916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0" tIns="0" rtlCol="0" anchor="t"/>
          <a:lstStyle/>
          <a:p>
            <a:pPr marL="0" marR="0" lvl="0" indent="0" algn="l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SemiBold" panose="020B0503050203000203" pitchFamily="34" charset="77"/>
                <a:ea typeface="+mn-ea"/>
                <a:cs typeface="+mn-cs"/>
              </a:rPr>
              <a:t>Potential Challenges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D784EDD-59C4-AE49-93CC-2E865DF719A8}"/>
              </a:ext>
            </a:extLst>
          </p:cNvPr>
          <p:cNvSpPr/>
          <p:nvPr/>
        </p:nvSpPr>
        <p:spPr>
          <a:xfrm>
            <a:off x="8478570" y="5979858"/>
            <a:ext cx="3412099" cy="43916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0" tIns="0" rtlCol="0" anchor="t"/>
          <a:lstStyle/>
          <a:p>
            <a:pPr marL="285744" marR="0" lvl="0" indent="-285744" algn="l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77"/>
                <a:ea typeface="+mn-ea"/>
                <a:cs typeface="+mn-cs"/>
              </a:rPr>
              <a:t>PDF Forms are often handwritten therefore digital form needed for OCR to work</a:t>
            </a:r>
          </a:p>
          <a:p>
            <a:pPr marL="285744" marR="0" lvl="0" indent="-285744" algn="l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 Light" panose="020B0403050203000203" pitchFamily="34" charset="77"/>
              <a:ea typeface="+mn-ea"/>
              <a:cs typeface="+mn-cs"/>
            </a:endParaRPr>
          </a:p>
          <a:p>
            <a:pPr marL="285744" marR="0" lvl="0" indent="-285744" algn="l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 Light" panose="020B0403050203000203" pitchFamily="34" charset="77"/>
              <a:ea typeface="+mn-ea"/>
              <a:cs typeface="+mn-cs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A73CD5A-9AAA-9D47-A873-85077C66E038}"/>
              </a:ext>
            </a:extLst>
          </p:cNvPr>
          <p:cNvCxnSpPr>
            <a:cxnSpLocks/>
          </p:cNvCxnSpPr>
          <p:nvPr/>
        </p:nvCxnSpPr>
        <p:spPr>
          <a:xfrm>
            <a:off x="8478570" y="5788466"/>
            <a:ext cx="3221343" cy="0"/>
          </a:xfrm>
          <a:prstGeom prst="line">
            <a:avLst/>
          </a:prstGeom>
          <a:noFill/>
          <a:ln w="28575" cap="flat" cmpd="sng" algn="ctr">
            <a:solidFill>
              <a:srgbClr val="76C1FF"/>
            </a:solidFill>
            <a:prstDash val="solid"/>
            <a:miter lim="800000"/>
          </a:ln>
          <a:effectLst/>
        </p:spPr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68458511-1721-D54E-B9B4-297B0F1B5F5E}"/>
              </a:ext>
            </a:extLst>
          </p:cNvPr>
          <p:cNvSpPr/>
          <p:nvPr/>
        </p:nvSpPr>
        <p:spPr>
          <a:xfrm>
            <a:off x="8581369" y="3993672"/>
            <a:ext cx="2312959" cy="43916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0" tIns="0" rtlCol="0" anchor="t"/>
          <a:lstStyle/>
          <a:p>
            <a:pPr marL="0" marR="0" lvl="0" indent="0" algn="l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SemiBold" panose="020B0503050203000203" pitchFamily="34" charset="77"/>
                <a:ea typeface="+mn-ea"/>
                <a:cs typeface="+mn-cs"/>
              </a:rPr>
              <a:t>Process Changes Required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AAF7F00-93B8-9341-B767-03C90CFE7F29}"/>
              </a:ext>
            </a:extLst>
          </p:cNvPr>
          <p:cNvSpPr/>
          <p:nvPr/>
        </p:nvSpPr>
        <p:spPr>
          <a:xfrm>
            <a:off x="8505837" y="4457522"/>
            <a:ext cx="3200609" cy="145980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0" tIns="0" rtlCol="0" anchor="t"/>
          <a:lstStyle/>
          <a:p>
            <a:pPr marL="285744" marR="0" lvl="0" indent="-285744" algn="l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77"/>
                <a:ea typeface="+mn-ea"/>
                <a:cs typeface="+mn-cs"/>
              </a:rPr>
              <a:t>The form will need to be filled in by the broker/specialist in branch to ensure it is in a digital format. This means customers need to bring their solicitor’s details to the meeting.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785E9E2-E702-5140-B0A3-A0E805539993}"/>
              </a:ext>
            </a:extLst>
          </p:cNvPr>
          <p:cNvCxnSpPr>
            <a:cxnSpLocks/>
          </p:cNvCxnSpPr>
          <p:nvPr/>
        </p:nvCxnSpPr>
        <p:spPr>
          <a:xfrm>
            <a:off x="8409615" y="4325113"/>
            <a:ext cx="3296831" cy="0"/>
          </a:xfrm>
          <a:prstGeom prst="line">
            <a:avLst/>
          </a:prstGeom>
          <a:noFill/>
          <a:ln w="28575" cap="flat" cmpd="sng" algn="ctr">
            <a:solidFill>
              <a:srgbClr val="76C1FF"/>
            </a:solidFill>
            <a:prstDash val="solid"/>
            <a:miter lim="800000"/>
          </a:ln>
          <a:effectLst/>
        </p:spPr>
      </p:cxnSp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CFD8640D-1991-3645-945F-5D183CD0E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897184"/>
              </p:ext>
            </p:extLst>
          </p:nvPr>
        </p:nvGraphicFramePr>
        <p:xfrm>
          <a:off x="8859150" y="1101478"/>
          <a:ext cx="3031519" cy="2909426"/>
        </p:xfrm>
        <a:graphic>
          <a:graphicData uri="http://schemas.openxmlformats.org/drawingml/2006/table">
            <a:tbl>
              <a:tblPr firstRow="1" bandRow="1"/>
              <a:tblGrid>
                <a:gridCol w="1474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6172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GB" sz="1100" b="1" i="0" dirty="0">
                          <a:solidFill>
                            <a:schemeClr val="bg1"/>
                          </a:solidFill>
                          <a:latin typeface="IBM Plex Sans SemiBold" panose="020B0503050203000203" pitchFamily="34" charset="77"/>
                        </a:rPr>
                        <a:t>KEY</a:t>
                      </a:r>
                      <a:r>
                        <a:rPr lang="en-GB" sz="1100" b="1" i="0" baseline="0" dirty="0">
                          <a:solidFill>
                            <a:schemeClr val="bg1"/>
                          </a:solidFill>
                          <a:latin typeface="IBM Plex Sans SemiBold" panose="020B0503050203000203" pitchFamily="34" charset="77"/>
                        </a:rPr>
                        <a:t> PROCESS INFORMATION </a:t>
                      </a:r>
                      <a:endParaRPr lang="en-GB" sz="1100" b="1" i="0" dirty="0">
                        <a:solidFill>
                          <a:schemeClr val="bg1"/>
                        </a:solidFill>
                        <a:latin typeface="IBM Plex Sans SemiBold" panose="020B0503050203000203" pitchFamily="34" charset="7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7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BM Plex Sans SemiBold" panose="020B0503050203000203" pitchFamily="34" charset="77"/>
                          <a:ea typeface="+mn-ea"/>
                          <a:cs typeface="Times New Roman" panose="02020603050405020304" pitchFamily="18" charset="0"/>
                        </a:rPr>
                        <a:t>Process SME</a:t>
                      </a:r>
                    </a:p>
                  </a:txBody>
                  <a:tcPr anchor="ctr">
                    <a:lnL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BM Plex Sans Light" panose="020B0403050203000203" pitchFamily="34" charset="77"/>
                          <a:ea typeface="+mn-ea"/>
                          <a:cs typeface="Times New Roman" panose="02020603050405020304" pitchFamily="18" charset="0"/>
                        </a:rPr>
                        <a:t>Michael Snow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7A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737427"/>
                  </a:ext>
                </a:extLst>
              </a:tr>
              <a:tr h="4165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BM Plex Sans SemiBold" panose="020B0503050203000203" pitchFamily="34" charset="77"/>
                          <a:ea typeface="+mn-ea"/>
                          <a:cs typeface="Times New Roman" panose="02020603050405020304" pitchFamily="18" charset="0"/>
                        </a:rPr>
                        <a:t>Systems</a:t>
                      </a:r>
                    </a:p>
                  </a:txBody>
                  <a:tcPr anchor="ctr">
                    <a:lnL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BM Plex Sans Light" panose="020B0403050203000203" pitchFamily="34" charset="77"/>
                          <a:ea typeface="+mn-ea"/>
                          <a:cs typeface="Times New Roman" panose="02020603050405020304" pitchFamily="18" charset="0"/>
                        </a:rPr>
                        <a:t>MS Outlook, </a:t>
                      </a:r>
                      <a:r>
                        <a:rPr kumimoji="0" lang="en-GB" sz="11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BM Plex Sans Light" panose="020B0403050203000203" pitchFamily="34" charset="77"/>
                          <a:ea typeface="+mn-ea"/>
                          <a:cs typeface="Times New Roman" panose="02020603050405020304" pitchFamily="18" charset="0"/>
                        </a:rPr>
                        <a:t>MortOrigS</a:t>
                      </a:r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BM Plex Sans Light" panose="020B0403050203000203" pitchFamily="34" charset="77"/>
                          <a:ea typeface="+mn-ea"/>
                          <a:cs typeface="Times New Roman" panose="02020603050405020304" pitchFamily="18" charset="0"/>
                        </a:rPr>
                        <a:t>, PDF Reader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7A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9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BM Plex Sans SemiBold" panose="020B0503050203000203" pitchFamily="34" charset="77"/>
                          <a:ea typeface="+mn-ea"/>
                          <a:cs typeface="Times New Roman" panose="02020603050405020304" pitchFamily="18" charset="0"/>
                        </a:rPr>
                        <a:t>Time saved (mins) per Case</a:t>
                      </a:r>
                    </a:p>
                  </a:txBody>
                  <a:tcPr anchor="ctr">
                    <a:lnL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BM Plex Sans Light" panose="020B0403050203000203" pitchFamily="34" charset="77"/>
                          <a:ea typeface="+mn-ea"/>
                          <a:cs typeface="Times New Roman" panose="02020603050405020304" pitchFamily="18" charset="0"/>
                        </a:rPr>
                        <a:t>5 minutes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7A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BM Plex Sans SemiBold" panose="020B0503050203000203" pitchFamily="34" charset="77"/>
                          <a:ea typeface="+mn-ea"/>
                          <a:cs typeface="Times New Roman" panose="02020603050405020304" pitchFamily="18" charset="0"/>
                        </a:rPr>
                        <a:t>Proposed Solution</a:t>
                      </a:r>
                    </a:p>
                  </a:txBody>
                  <a:tcPr anchor="ctr">
                    <a:lnL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BM Plex Sans Light" panose="020B0403050203000203" pitchFamily="34" charset="77"/>
                          <a:ea typeface="+mn-ea"/>
                          <a:cs typeface="Times New Roman" panose="02020603050405020304" pitchFamily="18" charset="0"/>
                        </a:rPr>
                        <a:t>Digitised Form, OCR, RPA &amp; </a:t>
                      </a:r>
                      <a:r>
                        <a:rPr kumimoji="0" lang="en-GB" sz="1100" b="1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BM Plex Sans Light" panose="020B0403050203000203" pitchFamily="34" charset="77"/>
                          <a:ea typeface="+mn-ea"/>
                          <a:cs typeface="Times New Roman" panose="02020603050405020304" pitchFamily="18" charset="0"/>
                        </a:rPr>
                        <a:t>MortOrigS</a:t>
                      </a:r>
                      <a:r>
                        <a:rPr kumimoji="0" lang="en-GB" sz="11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BM Plex Sans Light" panose="020B0403050203000203" pitchFamily="34" charset="77"/>
                          <a:ea typeface="+mn-ea"/>
                          <a:cs typeface="Times New Roman" panose="02020603050405020304" pitchFamily="18" charset="0"/>
                        </a:rPr>
                        <a:t> APIs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7A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550395"/>
                  </a:ext>
                </a:extLst>
              </a:tr>
              <a:tr h="4869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BM Plex Sans SemiBold" panose="020B0503050203000203" pitchFamily="34" charset="77"/>
                          <a:ea typeface="+mn-ea"/>
                          <a:cs typeface="Times New Roman" panose="02020603050405020304" pitchFamily="18" charset="0"/>
                        </a:rPr>
                        <a:t>Solution Complexity</a:t>
                      </a:r>
                    </a:p>
                  </a:txBody>
                  <a:tcPr anchor="ctr">
                    <a:lnL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A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BM Plex Sans Light" panose="020B0403050203000203" pitchFamily="34" charset="77"/>
                          <a:ea typeface="+mn-ea"/>
                          <a:cs typeface="Times New Roman" panose="02020603050405020304" pitchFamily="18" charset="0"/>
                        </a:rPr>
                        <a:t>Medium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7A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A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4679078"/>
                  </a:ext>
                </a:extLst>
              </a:tr>
            </a:tbl>
          </a:graphicData>
        </a:graphic>
      </p:graphicFrame>
      <p:sp>
        <p:nvSpPr>
          <p:cNvPr id="73" name="Rectangle 72">
            <a:extLst>
              <a:ext uri="{FF2B5EF4-FFF2-40B4-BE49-F238E27FC236}">
                <a16:creationId xmlns:a16="http://schemas.microsoft.com/office/drawing/2014/main" id="{DA00C54B-3DA9-994B-8932-FA519FC1CA80}"/>
              </a:ext>
            </a:extLst>
          </p:cNvPr>
          <p:cNvSpPr/>
          <p:nvPr/>
        </p:nvSpPr>
        <p:spPr>
          <a:xfrm>
            <a:off x="5066987" y="3993672"/>
            <a:ext cx="3032100" cy="43916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0" tIns="0" rtlCol="0" anchor="t"/>
          <a:lstStyle/>
          <a:p>
            <a:pPr marL="0" marR="0" lvl="0" indent="0" algn="l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SemiBold" panose="020B0503050203000203" pitchFamily="34" charset="77"/>
                <a:ea typeface="+mn-ea"/>
                <a:cs typeface="+mn-cs"/>
              </a:rPr>
              <a:t>Key Points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0EE5289-27E4-4F41-A8C8-5724E78FFDFC}"/>
              </a:ext>
            </a:extLst>
          </p:cNvPr>
          <p:cNvCxnSpPr>
            <a:cxnSpLocks/>
          </p:cNvCxnSpPr>
          <p:nvPr/>
        </p:nvCxnSpPr>
        <p:spPr>
          <a:xfrm>
            <a:off x="5054609" y="4325113"/>
            <a:ext cx="3032099" cy="0"/>
          </a:xfrm>
          <a:prstGeom prst="line">
            <a:avLst/>
          </a:prstGeom>
          <a:noFill/>
          <a:ln w="28575" cap="flat" cmpd="sng" algn="ctr">
            <a:solidFill>
              <a:srgbClr val="76C1FF"/>
            </a:solidFill>
            <a:prstDash val="solid"/>
            <a:miter lim="800000"/>
          </a:ln>
          <a:effectLst/>
        </p:spPr>
      </p:cxnSp>
      <p:sp>
        <p:nvSpPr>
          <p:cNvPr id="82" name="Freeform 598">
            <a:extLst>
              <a:ext uri="{FF2B5EF4-FFF2-40B4-BE49-F238E27FC236}">
                <a16:creationId xmlns:a16="http://schemas.microsoft.com/office/drawing/2014/main" id="{9B84C325-9E6A-6646-BA58-6849AD16DAD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601404" y="1546410"/>
            <a:ext cx="236832" cy="239175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402 w 512"/>
              <a:gd name="T11" fmla="*/ 167 h 512"/>
              <a:gd name="T12" fmla="*/ 189 w 512"/>
              <a:gd name="T13" fmla="*/ 381 h 512"/>
              <a:gd name="T14" fmla="*/ 181 w 512"/>
              <a:gd name="T15" fmla="*/ 384 h 512"/>
              <a:gd name="T16" fmla="*/ 173 w 512"/>
              <a:gd name="T17" fmla="*/ 381 h 512"/>
              <a:gd name="T18" fmla="*/ 99 w 512"/>
              <a:gd name="T19" fmla="*/ 306 h 512"/>
              <a:gd name="T20" fmla="*/ 99 w 512"/>
              <a:gd name="T21" fmla="*/ 291 h 512"/>
              <a:gd name="T22" fmla="*/ 114 w 512"/>
              <a:gd name="T23" fmla="*/ 291 h 512"/>
              <a:gd name="T24" fmla="*/ 181 w 512"/>
              <a:gd name="T25" fmla="*/ 358 h 512"/>
              <a:gd name="T26" fmla="*/ 387 w 512"/>
              <a:gd name="T27" fmla="*/ 152 h 512"/>
              <a:gd name="T28" fmla="*/ 402 w 512"/>
              <a:gd name="T29" fmla="*/ 152 h 512"/>
              <a:gd name="T30" fmla="*/ 402 w 512"/>
              <a:gd name="T31" fmla="*/ 167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402" y="167"/>
                </a:moveTo>
                <a:cubicBezTo>
                  <a:pt x="189" y="381"/>
                  <a:pt x="189" y="381"/>
                  <a:pt x="189" y="381"/>
                </a:cubicBezTo>
                <a:cubicBezTo>
                  <a:pt x="186" y="383"/>
                  <a:pt x="184" y="384"/>
                  <a:pt x="181" y="384"/>
                </a:cubicBezTo>
                <a:cubicBezTo>
                  <a:pt x="178" y="384"/>
                  <a:pt x="176" y="383"/>
                  <a:pt x="173" y="381"/>
                </a:cubicBezTo>
                <a:cubicBezTo>
                  <a:pt x="99" y="306"/>
                  <a:pt x="99" y="306"/>
                  <a:pt x="99" y="306"/>
                </a:cubicBezTo>
                <a:cubicBezTo>
                  <a:pt x="95" y="302"/>
                  <a:pt x="95" y="295"/>
                  <a:pt x="99" y="291"/>
                </a:cubicBezTo>
                <a:cubicBezTo>
                  <a:pt x="103" y="287"/>
                  <a:pt x="110" y="287"/>
                  <a:pt x="114" y="291"/>
                </a:cubicBezTo>
                <a:cubicBezTo>
                  <a:pt x="181" y="358"/>
                  <a:pt x="181" y="358"/>
                  <a:pt x="181" y="358"/>
                </a:cubicBezTo>
                <a:cubicBezTo>
                  <a:pt x="387" y="152"/>
                  <a:pt x="387" y="152"/>
                  <a:pt x="387" y="152"/>
                </a:cubicBezTo>
                <a:cubicBezTo>
                  <a:pt x="391" y="148"/>
                  <a:pt x="398" y="148"/>
                  <a:pt x="402" y="152"/>
                </a:cubicBezTo>
                <a:cubicBezTo>
                  <a:pt x="406" y="156"/>
                  <a:pt x="406" y="163"/>
                  <a:pt x="402" y="167"/>
                </a:cubicBezTo>
                <a:close/>
              </a:path>
            </a:pathLst>
          </a:custGeom>
          <a:solidFill>
            <a:srgbClr val="00E3ED">
              <a:alpha val="76863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7792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E8742B7-9F08-6D4E-ABCC-C531ACE34024}"/>
              </a:ext>
            </a:extLst>
          </p:cNvPr>
          <p:cNvSpPr/>
          <p:nvPr/>
        </p:nvSpPr>
        <p:spPr>
          <a:xfrm>
            <a:off x="554481" y="3139799"/>
            <a:ext cx="2733424" cy="601133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If either check fails then exception pathway is triggered – send email to broker of mortgage specialist       </a:t>
            </a:r>
          </a:p>
        </p:txBody>
      </p:sp>
      <p:sp>
        <p:nvSpPr>
          <p:cNvPr id="90" name="Freeform 598">
            <a:extLst>
              <a:ext uri="{FF2B5EF4-FFF2-40B4-BE49-F238E27FC236}">
                <a16:creationId xmlns:a16="http://schemas.microsoft.com/office/drawing/2014/main" id="{D223CA79-12F4-9C46-BF7F-C3E44D661C5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132026" y="3021640"/>
            <a:ext cx="236832" cy="239175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402 w 512"/>
              <a:gd name="T11" fmla="*/ 167 h 512"/>
              <a:gd name="T12" fmla="*/ 189 w 512"/>
              <a:gd name="T13" fmla="*/ 381 h 512"/>
              <a:gd name="T14" fmla="*/ 181 w 512"/>
              <a:gd name="T15" fmla="*/ 384 h 512"/>
              <a:gd name="T16" fmla="*/ 173 w 512"/>
              <a:gd name="T17" fmla="*/ 381 h 512"/>
              <a:gd name="T18" fmla="*/ 99 w 512"/>
              <a:gd name="T19" fmla="*/ 306 h 512"/>
              <a:gd name="T20" fmla="*/ 99 w 512"/>
              <a:gd name="T21" fmla="*/ 291 h 512"/>
              <a:gd name="T22" fmla="*/ 114 w 512"/>
              <a:gd name="T23" fmla="*/ 291 h 512"/>
              <a:gd name="T24" fmla="*/ 181 w 512"/>
              <a:gd name="T25" fmla="*/ 358 h 512"/>
              <a:gd name="T26" fmla="*/ 387 w 512"/>
              <a:gd name="T27" fmla="*/ 152 h 512"/>
              <a:gd name="T28" fmla="*/ 402 w 512"/>
              <a:gd name="T29" fmla="*/ 152 h 512"/>
              <a:gd name="T30" fmla="*/ 402 w 512"/>
              <a:gd name="T31" fmla="*/ 167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402" y="167"/>
                </a:moveTo>
                <a:cubicBezTo>
                  <a:pt x="189" y="381"/>
                  <a:pt x="189" y="381"/>
                  <a:pt x="189" y="381"/>
                </a:cubicBezTo>
                <a:cubicBezTo>
                  <a:pt x="186" y="383"/>
                  <a:pt x="184" y="384"/>
                  <a:pt x="181" y="384"/>
                </a:cubicBezTo>
                <a:cubicBezTo>
                  <a:pt x="178" y="384"/>
                  <a:pt x="176" y="383"/>
                  <a:pt x="173" y="381"/>
                </a:cubicBezTo>
                <a:cubicBezTo>
                  <a:pt x="99" y="306"/>
                  <a:pt x="99" y="306"/>
                  <a:pt x="99" y="306"/>
                </a:cubicBezTo>
                <a:cubicBezTo>
                  <a:pt x="95" y="302"/>
                  <a:pt x="95" y="295"/>
                  <a:pt x="99" y="291"/>
                </a:cubicBezTo>
                <a:cubicBezTo>
                  <a:pt x="103" y="287"/>
                  <a:pt x="110" y="287"/>
                  <a:pt x="114" y="291"/>
                </a:cubicBezTo>
                <a:cubicBezTo>
                  <a:pt x="181" y="358"/>
                  <a:pt x="181" y="358"/>
                  <a:pt x="181" y="358"/>
                </a:cubicBezTo>
                <a:cubicBezTo>
                  <a:pt x="387" y="152"/>
                  <a:pt x="387" y="152"/>
                  <a:pt x="387" y="152"/>
                </a:cubicBezTo>
                <a:cubicBezTo>
                  <a:pt x="391" y="148"/>
                  <a:pt x="398" y="148"/>
                  <a:pt x="402" y="152"/>
                </a:cubicBezTo>
                <a:cubicBezTo>
                  <a:pt x="406" y="156"/>
                  <a:pt x="406" y="163"/>
                  <a:pt x="402" y="167"/>
                </a:cubicBezTo>
                <a:close/>
              </a:path>
            </a:pathLst>
          </a:custGeom>
          <a:solidFill>
            <a:srgbClr val="86BC2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7792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ADB0A58-D62B-C844-9523-3D22D2BF2144}"/>
              </a:ext>
            </a:extLst>
          </p:cNvPr>
          <p:cNvSpPr/>
          <p:nvPr/>
        </p:nvSpPr>
        <p:spPr>
          <a:xfrm>
            <a:off x="554481" y="4907761"/>
            <a:ext cx="2733424" cy="750791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If the requested solicitor is different, an offer condition must be added by choosing from list and entering the customer’s name and solicitor’s name when prompted. </a:t>
            </a:r>
          </a:p>
        </p:txBody>
      </p:sp>
      <p:sp>
        <p:nvSpPr>
          <p:cNvPr id="94" name="Freeform 598">
            <a:extLst>
              <a:ext uri="{FF2B5EF4-FFF2-40B4-BE49-F238E27FC236}">
                <a16:creationId xmlns:a16="http://schemas.microsoft.com/office/drawing/2014/main" id="{0F25FCAF-01DD-A948-B46D-495E31CFD3F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168316" y="4771408"/>
            <a:ext cx="239177" cy="239175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402 w 512"/>
              <a:gd name="T11" fmla="*/ 167 h 512"/>
              <a:gd name="T12" fmla="*/ 189 w 512"/>
              <a:gd name="T13" fmla="*/ 381 h 512"/>
              <a:gd name="T14" fmla="*/ 181 w 512"/>
              <a:gd name="T15" fmla="*/ 384 h 512"/>
              <a:gd name="T16" fmla="*/ 173 w 512"/>
              <a:gd name="T17" fmla="*/ 381 h 512"/>
              <a:gd name="T18" fmla="*/ 99 w 512"/>
              <a:gd name="T19" fmla="*/ 306 h 512"/>
              <a:gd name="T20" fmla="*/ 99 w 512"/>
              <a:gd name="T21" fmla="*/ 291 h 512"/>
              <a:gd name="T22" fmla="*/ 114 w 512"/>
              <a:gd name="T23" fmla="*/ 291 h 512"/>
              <a:gd name="T24" fmla="*/ 181 w 512"/>
              <a:gd name="T25" fmla="*/ 358 h 512"/>
              <a:gd name="T26" fmla="*/ 387 w 512"/>
              <a:gd name="T27" fmla="*/ 152 h 512"/>
              <a:gd name="T28" fmla="*/ 402 w 512"/>
              <a:gd name="T29" fmla="*/ 152 h 512"/>
              <a:gd name="T30" fmla="*/ 402 w 512"/>
              <a:gd name="T31" fmla="*/ 167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402" y="167"/>
                </a:moveTo>
                <a:cubicBezTo>
                  <a:pt x="189" y="381"/>
                  <a:pt x="189" y="381"/>
                  <a:pt x="189" y="381"/>
                </a:cubicBezTo>
                <a:cubicBezTo>
                  <a:pt x="186" y="383"/>
                  <a:pt x="184" y="384"/>
                  <a:pt x="181" y="384"/>
                </a:cubicBezTo>
                <a:cubicBezTo>
                  <a:pt x="178" y="384"/>
                  <a:pt x="176" y="383"/>
                  <a:pt x="173" y="381"/>
                </a:cubicBezTo>
                <a:cubicBezTo>
                  <a:pt x="99" y="306"/>
                  <a:pt x="99" y="306"/>
                  <a:pt x="99" y="306"/>
                </a:cubicBezTo>
                <a:cubicBezTo>
                  <a:pt x="95" y="302"/>
                  <a:pt x="95" y="295"/>
                  <a:pt x="99" y="291"/>
                </a:cubicBezTo>
                <a:cubicBezTo>
                  <a:pt x="103" y="287"/>
                  <a:pt x="110" y="287"/>
                  <a:pt x="114" y="291"/>
                </a:cubicBezTo>
                <a:cubicBezTo>
                  <a:pt x="181" y="358"/>
                  <a:pt x="181" y="358"/>
                  <a:pt x="181" y="358"/>
                </a:cubicBezTo>
                <a:cubicBezTo>
                  <a:pt x="387" y="152"/>
                  <a:pt x="387" y="152"/>
                  <a:pt x="387" y="152"/>
                </a:cubicBezTo>
                <a:cubicBezTo>
                  <a:pt x="391" y="148"/>
                  <a:pt x="398" y="148"/>
                  <a:pt x="402" y="152"/>
                </a:cubicBezTo>
                <a:cubicBezTo>
                  <a:pt x="406" y="156"/>
                  <a:pt x="406" y="163"/>
                  <a:pt x="402" y="167"/>
                </a:cubicBezTo>
                <a:close/>
              </a:path>
            </a:pathLst>
          </a:custGeom>
          <a:solidFill>
            <a:srgbClr val="86BC2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7792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942F937-0A29-E445-9321-17415036CC45}"/>
              </a:ext>
            </a:extLst>
          </p:cNvPr>
          <p:cNvSpPr/>
          <p:nvPr/>
        </p:nvSpPr>
        <p:spPr>
          <a:xfrm>
            <a:off x="554481" y="4049380"/>
            <a:ext cx="2733424" cy="601133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Check 3: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That requested solicitor is already the one assigned to case in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MortOrigS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. </a:t>
            </a:r>
          </a:p>
        </p:txBody>
      </p:sp>
      <p:sp>
        <p:nvSpPr>
          <p:cNvPr id="96" name="Freeform 598">
            <a:extLst>
              <a:ext uri="{FF2B5EF4-FFF2-40B4-BE49-F238E27FC236}">
                <a16:creationId xmlns:a16="http://schemas.microsoft.com/office/drawing/2014/main" id="{E92741F5-063E-5246-AA49-7B581CDD079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156893" y="3908784"/>
            <a:ext cx="239177" cy="239175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402 w 512"/>
              <a:gd name="T11" fmla="*/ 167 h 512"/>
              <a:gd name="T12" fmla="*/ 189 w 512"/>
              <a:gd name="T13" fmla="*/ 381 h 512"/>
              <a:gd name="T14" fmla="*/ 181 w 512"/>
              <a:gd name="T15" fmla="*/ 384 h 512"/>
              <a:gd name="T16" fmla="*/ 173 w 512"/>
              <a:gd name="T17" fmla="*/ 381 h 512"/>
              <a:gd name="T18" fmla="*/ 99 w 512"/>
              <a:gd name="T19" fmla="*/ 306 h 512"/>
              <a:gd name="T20" fmla="*/ 99 w 512"/>
              <a:gd name="T21" fmla="*/ 291 h 512"/>
              <a:gd name="T22" fmla="*/ 114 w 512"/>
              <a:gd name="T23" fmla="*/ 291 h 512"/>
              <a:gd name="T24" fmla="*/ 181 w 512"/>
              <a:gd name="T25" fmla="*/ 358 h 512"/>
              <a:gd name="T26" fmla="*/ 387 w 512"/>
              <a:gd name="T27" fmla="*/ 152 h 512"/>
              <a:gd name="T28" fmla="*/ 402 w 512"/>
              <a:gd name="T29" fmla="*/ 152 h 512"/>
              <a:gd name="T30" fmla="*/ 402 w 512"/>
              <a:gd name="T31" fmla="*/ 167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402" y="167"/>
                </a:moveTo>
                <a:cubicBezTo>
                  <a:pt x="189" y="381"/>
                  <a:pt x="189" y="381"/>
                  <a:pt x="189" y="381"/>
                </a:cubicBezTo>
                <a:cubicBezTo>
                  <a:pt x="186" y="383"/>
                  <a:pt x="184" y="384"/>
                  <a:pt x="181" y="384"/>
                </a:cubicBezTo>
                <a:cubicBezTo>
                  <a:pt x="178" y="384"/>
                  <a:pt x="176" y="383"/>
                  <a:pt x="173" y="381"/>
                </a:cubicBezTo>
                <a:cubicBezTo>
                  <a:pt x="99" y="306"/>
                  <a:pt x="99" y="306"/>
                  <a:pt x="99" y="306"/>
                </a:cubicBezTo>
                <a:cubicBezTo>
                  <a:pt x="95" y="302"/>
                  <a:pt x="95" y="295"/>
                  <a:pt x="99" y="291"/>
                </a:cubicBezTo>
                <a:cubicBezTo>
                  <a:pt x="103" y="287"/>
                  <a:pt x="110" y="287"/>
                  <a:pt x="114" y="291"/>
                </a:cubicBezTo>
                <a:cubicBezTo>
                  <a:pt x="181" y="358"/>
                  <a:pt x="181" y="358"/>
                  <a:pt x="181" y="358"/>
                </a:cubicBezTo>
                <a:cubicBezTo>
                  <a:pt x="387" y="152"/>
                  <a:pt x="387" y="152"/>
                  <a:pt x="387" y="152"/>
                </a:cubicBezTo>
                <a:cubicBezTo>
                  <a:pt x="391" y="148"/>
                  <a:pt x="398" y="148"/>
                  <a:pt x="402" y="152"/>
                </a:cubicBezTo>
                <a:cubicBezTo>
                  <a:pt x="406" y="156"/>
                  <a:pt x="406" y="163"/>
                  <a:pt x="402" y="167"/>
                </a:cubicBezTo>
                <a:close/>
              </a:path>
            </a:pathLst>
          </a:custGeom>
          <a:solidFill>
            <a:srgbClr val="00E3ED">
              <a:alpha val="76863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7792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78F8874-CA00-FA43-8B53-E6D6F5FB3480}"/>
              </a:ext>
            </a:extLst>
          </p:cNvPr>
          <p:cNvSpPr/>
          <p:nvPr/>
        </p:nvSpPr>
        <p:spPr>
          <a:xfrm>
            <a:off x="3675252" y="4071691"/>
            <a:ext cx="1090799" cy="1583523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Move onto letter creation</a:t>
            </a:r>
          </a:p>
        </p:txBody>
      </p:sp>
      <p:sp>
        <p:nvSpPr>
          <p:cNvPr id="115" name="Freeform 598">
            <a:extLst>
              <a:ext uri="{FF2B5EF4-FFF2-40B4-BE49-F238E27FC236}">
                <a16:creationId xmlns:a16="http://schemas.microsoft.com/office/drawing/2014/main" id="{E1B2AB25-EB18-EB45-904E-A3921A1951F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646462" y="3929792"/>
            <a:ext cx="239177" cy="239175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402 w 512"/>
              <a:gd name="T11" fmla="*/ 167 h 512"/>
              <a:gd name="T12" fmla="*/ 189 w 512"/>
              <a:gd name="T13" fmla="*/ 381 h 512"/>
              <a:gd name="T14" fmla="*/ 181 w 512"/>
              <a:gd name="T15" fmla="*/ 384 h 512"/>
              <a:gd name="T16" fmla="*/ 173 w 512"/>
              <a:gd name="T17" fmla="*/ 381 h 512"/>
              <a:gd name="T18" fmla="*/ 99 w 512"/>
              <a:gd name="T19" fmla="*/ 306 h 512"/>
              <a:gd name="T20" fmla="*/ 99 w 512"/>
              <a:gd name="T21" fmla="*/ 291 h 512"/>
              <a:gd name="T22" fmla="*/ 114 w 512"/>
              <a:gd name="T23" fmla="*/ 291 h 512"/>
              <a:gd name="T24" fmla="*/ 181 w 512"/>
              <a:gd name="T25" fmla="*/ 358 h 512"/>
              <a:gd name="T26" fmla="*/ 387 w 512"/>
              <a:gd name="T27" fmla="*/ 152 h 512"/>
              <a:gd name="T28" fmla="*/ 402 w 512"/>
              <a:gd name="T29" fmla="*/ 152 h 512"/>
              <a:gd name="T30" fmla="*/ 402 w 512"/>
              <a:gd name="T31" fmla="*/ 167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402" y="167"/>
                </a:moveTo>
                <a:cubicBezTo>
                  <a:pt x="189" y="381"/>
                  <a:pt x="189" y="381"/>
                  <a:pt x="189" y="381"/>
                </a:cubicBezTo>
                <a:cubicBezTo>
                  <a:pt x="186" y="383"/>
                  <a:pt x="184" y="384"/>
                  <a:pt x="181" y="384"/>
                </a:cubicBezTo>
                <a:cubicBezTo>
                  <a:pt x="178" y="384"/>
                  <a:pt x="176" y="383"/>
                  <a:pt x="173" y="381"/>
                </a:cubicBezTo>
                <a:cubicBezTo>
                  <a:pt x="99" y="306"/>
                  <a:pt x="99" y="306"/>
                  <a:pt x="99" y="306"/>
                </a:cubicBezTo>
                <a:cubicBezTo>
                  <a:pt x="95" y="302"/>
                  <a:pt x="95" y="295"/>
                  <a:pt x="99" y="291"/>
                </a:cubicBezTo>
                <a:cubicBezTo>
                  <a:pt x="103" y="287"/>
                  <a:pt x="110" y="287"/>
                  <a:pt x="114" y="291"/>
                </a:cubicBezTo>
                <a:cubicBezTo>
                  <a:pt x="181" y="358"/>
                  <a:pt x="181" y="358"/>
                  <a:pt x="181" y="358"/>
                </a:cubicBezTo>
                <a:cubicBezTo>
                  <a:pt x="387" y="152"/>
                  <a:pt x="387" y="152"/>
                  <a:pt x="387" y="152"/>
                </a:cubicBezTo>
                <a:cubicBezTo>
                  <a:pt x="391" y="148"/>
                  <a:pt x="398" y="148"/>
                  <a:pt x="402" y="152"/>
                </a:cubicBezTo>
                <a:cubicBezTo>
                  <a:pt x="406" y="156"/>
                  <a:pt x="406" y="163"/>
                  <a:pt x="402" y="167"/>
                </a:cubicBezTo>
                <a:close/>
              </a:path>
            </a:pathLst>
          </a:custGeom>
          <a:solidFill>
            <a:srgbClr val="86BC2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7792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5E2358B2-CBD9-C943-8519-D4BB4A16897C}"/>
              </a:ext>
            </a:extLst>
          </p:cNvPr>
          <p:cNvCxnSpPr>
            <a:cxnSpLocks/>
          </p:cNvCxnSpPr>
          <p:nvPr/>
        </p:nvCxnSpPr>
        <p:spPr>
          <a:xfrm rot="5400000">
            <a:off x="1766969" y="3895156"/>
            <a:ext cx="308448" cy="12700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61A0AD42-4AFB-654B-AC06-49EFF5425B6C}"/>
              </a:ext>
            </a:extLst>
          </p:cNvPr>
          <p:cNvCxnSpPr>
            <a:cxnSpLocks/>
          </p:cNvCxnSpPr>
          <p:nvPr/>
        </p:nvCxnSpPr>
        <p:spPr>
          <a:xfrm>
            <a:off x="1921193" y="4650513"/>
            <a:ext cx="0" cy="257248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91D2460F-D8A7-B541-ACB6-1C7E9A1D8200}"/>
              </a:ext>
            </a:extLst>
          </p:cNvPr>
          <p:cNvSpPr/>
          <p:nvPr/>
        </p:nvSpPr>
        <p:spPr>
          <a:xfrm>
            <a:off x="552109" y="1645227"/>
            <a:ext cx="471567" cy="1026154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 Light" panose="020B0403050203000203" pitchFamily="34" charset="77"/>
                <a:ea typeface="+mn-ea"/>
                <a:cs typeface="Segoe UI Light" panose="020B0502040204020203" pitchFamily="34" charset="0"/>
              </a:rPr>
              <a:t>Open case in </a:t>
            </a:r>
            <a:r>
              <a:rPr kumimoji="0" lang="en-AU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 Light" panose="020B0403050203000203" pitchFamily="34" charset="77"/>
                <a:ea typeface="+mn-ea"/>
                <a:cs typeface="Segoe UI Light" panose="020B0502040204020203" pitchFamily="34" charset="0"/>
              </a:rPr>
              <a:t>MortOrigS</a:t>
            </a:r>
            <a:endParaRPr kumimoji="0" lang="en-AU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 Light" panose="020B0403050203000203" pitchFamily="34" charset="77"/>
              <a:ea typeface="+mn-ea"/>
              <a:cs typeface="Segoe UI Light" panose="020B0502040204020203" pitchFamily="34" charset="0"/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356D984-7FDD-C94C-BC79-166A0683C351}"/>
              </a:ext>
            </a:extLst>
          </p:cNvPr>
          <p:cNvGrpSpPr/>
          <p:nvPr/>
        </p:nvGrpSpPr>
        <p:grpSpPr>
          <a:xfrm>
            <a:off x="850260" y="1526162"/>
            <a:ext cx="236832" cy="239175"/>
            <a:chOff x="1743273" y="5348518"/>
            <a:chExt cx="239177" cy="239175"/>
          </a:xfrm>
        </p:grpSpPr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B577F36B-4FBE-B940-9312-8B77DB489341}"/>
                </a:ext>
              </a:extLst>
            </p:cNvPr>
            <p:cNvSpPr/>
            <p:nvPr/>
          </p:nvSpPr>
          <p:spPr>
            <a:xfrm>
              <a:off x="1743273" y="5376863"/>
              <a:ext cx="239177" cy="178593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Freeform 598">
              <a:extLst>
                <a:ext uri="{FF2B5EF4-FFF2-40B4-BE49-F238E27FC236}">
                  <a16:creationId xmlns:a16="http://schemas.microsoft.com/office/drawing/2014/main" id="{28AB4A96-E1B4-0648-B1FD-C1954A88D77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743273" y="5348518"/>
              <a:ext cx="239177" cy="239175"/>
            </a:xfrm>
            <a:custGeom>
              <a:avLst/>
              <a:gdLst>
                <a:gd name="T0" fmla="*/ 256 w 512"/>
                <a:gd name="T1" fmla="*/ 0 h 512"/>
                <a:gd name="T2" fmla="*/ 0 w 512"/>
                <a:gd name="T3" fmla="*/ 256 h 512"/>
                <a:gd name="T4" fmla="*/ 256 w 512"/>
                <a:gd name="T5" fmla="*/ 512 h 512"/>
                <a:gd name="T6" fmla="*/ 512 w 512"/>
                <a:gd name="T7" fmla="*/ 256 h 512"/>
                <a:gd name="T8" fmla="*/ 256 w 512"/>
                <a:gd name="T9" fmla="*/ 0 h 512"/>
                <a:gd name="T10" fmla="*/ 402 w 512"/>
                <a:gd name="T11" fmla="*/ 167 h 512"/>
                <a:gd name="T12" fmla="*/ 189 w 512"/>
                <a:gd name="T13" fmla="*/ 381 h 512"/>
                <a:gd name="T14" fmla="*/ 181 w 512"/>
                <a:gd name="T15" fmla="*/ 384 h 512"/>
                <a:gd name="T16" fmla="*/ 173 w 512"/>
                <a:gd name="T17" fmla="*/ 381 h 512"/>
                <a:gd name="T18" fmla="*/ 99 w 512"/>
                <a:gd name="T19" fmla="*/ 306 h 512"/>
                <a:gd name="T20" fmla="*/ 99 w 512"/>
                <a:gd name="T21" fmla="*/ 291 h 512"/>
                <a:gd name="T22" fmla="*/ 114 w 512"/>
                <a:gd name="T23" fmla="*/ 291 h 512"/>
                <a:gd name="T24" fmla="*/ 181 w 512"/>
                <a:gd name="T25" fmla="*/ 358 h 512"/>
                <a:gd name="T26" fmla="*/ 387 w 512"/>
                <a:gd name="T27" fmla="*/ 152 h 512"/>
                <a:gd name="T28" fmla="*/ 402 w 512"/>
                <a:gd name="T29" fmla="*/ 152 h 512"/>
                <a:gd name="T30" fmla="*/ 402 w 512"/>
                <a:gd name="T31" fmla="*/ 167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12" h="512"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  <a:moveTo>
                    <a:pt x="402" y="167"/>
                  </a:moveTo>
                  <a:cubicBezTo>
                    <a:pt x="189" y="381"/>
                    <a:pt x="189" y="381"/>
                    <a:pt x="189" y="381"/>
                  </a:cubicBezTo>
                  <a:cubicBezTo>
                    <a:pt x="186" y="383"/>
                    <a:pt x="184" y="384"/>
                    <a:pt x="181" y="384"/>
                  </a:cubicBezTo>
                  <a:cubicBezTo>
                    <a:pt x="178" y="384"/>
                    <a:pt x="176" y="383"/>
                    <a:pt x="173" y="381"/>
                  </a:cubicBezTo>
                  <a:cubicBezTo>
                    <a:pt x="99" y="306"/>
                    <a:pt x="99" y="306"/>
                    <a:pt x="99" y="306"/>
                  </a:cubicBezTo>
                  <a:cubicBezTo>
                    <a:pt x="95" y="302"/>
                    <a:pt x="95" y="295"/>
                    <a:pt x="99" y="291"/>
                  </a:cubicBezTo>
                  <a:cubicBezTo>
                    <a:pt x="103" y="287"/>
                    <a:pt x="110" y="287"/>
                    <a:pt x="114" y="291"/>
                  </a:cubicBezTo>
                  <a:cubicBezTo>
                    <a:pt x="181" y="358"/>
                    <a:pt x="181" y="358"/>
                    <a:pt x="181" y="358"/>
                  </a:cubicBezTo>
                  <a:cubicBezTo>
                    <a:pt x="387" y="152"/>
                    <a:pt x="387" y="152"/>
                    <a:pt x="387" y="152"/>
                  </a:cubicBezTo>
                  <a:cubicBezTo>
                    <a:pt x="391" y="148"/>
                    <a:pt x="398" y="148"/>
                    <a:pt x="402" y="152"/>
                  </a:cubicBezTo>
                  <a:cubicBezTo>
                    <a:pt x="406" y="156"/>
                    <a:pt x="406" y="163"/>
                    <a:pt x="402" y="167"/>
                  </a:cubicBezTo>
                  <a:close/>
                </a:path>
              </a:pathLst>
            </a:custGeom>
            <a:solidFill>
              <a:srgbClr val="86BC2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7792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endParaRPr>
            </a:p>
          </p:txBody>
        </p:sp>
      </p:grp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E8939B4-2355-404B-95AA-6D6007C93BF5}"/>
              </a:ext>
            </a:extLst>
          </p:cNvPr>
          <p:cNvCxnSpPr>
            <a:cxnSpLocks/>
            <a:stCxn id="79" idx="3"/>
            <a:endCxn id="22" idx="1"/>
          </p:cNvCxnSpPr>
          <p:nvPr/>
        </p:nvCxnSpPr>
        <p:spPr>
          <a:xfrm>
            <a:off x="1023676" y="2158304"/>
            <a:ext cx="283383" cy="22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7306343-999C-474B-B4BC-62CEB84ED973}"/>
              </a:ext>
            </a:extLst>
          </p:cNvPr>
          <p:cNvSpPr/>
          <p:nvPr/>
        </p:nvSpPr>
        <p:spPr>
          <a:xfrm>
            <a:off x="5066986" y="4457522"/>
            <a:ext cx="3200609" cy="43916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0" tIns="0" rtlCol="0" anchor="t"/>
          <a:lstStyle/>
          <a:p>
            <a:pPr marL="285744" marR="0" lvl="0" indent="-285744" algn="l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77"/>
                <a:ea typeface="+mn-ea"/>
                <a:cs typeface="+mn-cs"/>
              </a:rPr>
              <a:t>The process is triggered by a customer requesting independent legal advice (ILA). In order to do this they fill in a form that they get in branch. They either fill it in branch (if they have the solicitors details on them) or take it home and fill it in. Only 1/10 cases are filled in digitally by the broker/specialist. The form is then uploaded to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77"/>
                <a:ea typeface="+mn-ea"/>
                <a:cs typeface="+mn-cs"/>
              </a:rPr>
              <a:t>MortOrigS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77"/>
                <a:ea typeface="+mn-ea"/>
                <a:cs typeface="+mn-cs"/>
              </a:rPr>
              <a:t>.</a:t>
            </a:r>
          </a:p>
          <a:p>
            <a:pPr marL="285744" marR="0" lvl="0" indent="-285744" algn="l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 Light" panose="020B0403050203000203" pitchFamily="34" charset="77"/>
              <a:ea typeface="+mn-ea"/>
              <a:cs typeface="+mn-cs"/>
            </a:endParaRPr>
          </a:p>
        </p:txBody>
      </p:sp>
      <p:sp>
        <p:nvSpPr>
          <p:cNvPr id="68" name="Freeform 598">
            <a:extLst>
              <a:ext uri="{FF2B5EF4-FFF2-40B4-BE49-F238E27FC236}">
                <a16:creationId xmlns:a16="http://schemas.microsoft.com/office/drawing/2014/main" id="{C4A555E6-1BB2-4A54-B8A8-33E2C49391D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711534" y="6000383"/>
            <a:ext cx="236832" cy="239175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402 w 512"/>
              <a:gd name="T11" fmla="*/ 167 h 512"/>
              <a:gd name="T12" fmla="*/ 189 w 512"/>
              <a:gd name="T13" fmla="*/ 381 h 512"/>
              <a:gd name="T14" fmla="*/ 181 w 512"/>
              <a:gd name="T15" fmla="*/ 384 h 512"/>
              <a:gd name="T16" fmla="*/ 173 w 512"/>
              <a:gd name="T17" fmla="*/ 381 h 512"/>
              <a:gd name="T18" fmla="*/ 99 w 512"/>
              <a:gd name="T19" fmla="*/ 306 h 512"/>
              <a:gd name="T20" fmla="*/ 99 w 512"/>
              <a:gd name="T21" fmla="*/ 291 h 512"/>
              <a:gd name="T22" fmla="*/ 114 w 512"/>
              <a:gd name="T23" fmla="*/ 291 h 512"/>
              <a:gd name="T24" fmla="*/ 181 w 512"/>
              <a:gd name="T25" fmla="*/ 358 h 512"/>
              <a:gd name="T26" fmla="*/ 387 w 512"/>
              <a:gd name="T27" fmla="*/ 152 h 512"/>
              <a:gd name="T28" fmla="*/ 402 w 512"/>
              <a:gd name="T29" fmla="*/ 152 h 512"/>
              <a:gd name="T30" fmla="*/ 402 w 512"/>
              <a:gd name="T31" fmla="*/ 167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402" y="167"/>
                </a:moveTo>
                <a:cubicBezTo>
                  <a:pt x="189" y="381"/>
                  <a:pt x="189" y="381"/>
                  <a:pt x="189" y="381"/>
                </a:cubicBezTo>
                <a:cubicBezTo>
                  <a:pt x="186" y="383"/>
                  <a:pt x="184" y="384"/>
                  <a:pt x="181" y="384"/>
                </a:cubicBezTo>
                <a:cubicBezTo>
                  <a:pt x="178" y="384"/>
                  <a:pt x="176" y="383"/>
                  <a:pt x="173" y="381"/>
                </a:cubicBezTo>
                <a:cubicBezTo>
                  <a:pt x="99" y="306"/>
                  <a:pt x="99" y="306"/>
                  <a:pt x="99" y="306"/>
                </a:cubicBezTo>
                <a:cubicBezTo>
                  <a:pt x="95" y="302"/>
                  <a:pt x="95" y="295"/>
                  <a:pt x="99" y="291"/>
                </a:cubicBezTo>
                <a:cubicBezTo>
                  <a:pt x="103" y="287"/>
                  <a:pt x="110" y="287"/>
                  <a:pt x="114" y="291"/>
                </a:cubicBezTo>
                <a:cubicBezTo>
                  <a:pt x="181" y="358"/>
                  <a:pt x="181" y="358"/>
                  <a:pt x="181" y="358"/>
                </a:cubicBezTo>
                <a:cubicBezTo>
                  <a:pt x="387" y="152"/>
                  <a:pt x="387" y="152"/>
                  <a:pt x="387" y="152"/>
                </a:cubicBezTo>
                <a:cubicBezTo>
                  <a:pt x="391" y="148"/>
                  <a:pt x="398" y="148"/>
                  <a:pt x="402" y="152"/>
                </a:cubicBezTo>
                <a:cubicBezTo>
                  <a:pt x="406" y="156"/>
                  <a:pt x="406" y="163"/>
                  <a:pt x="402" y="167"/>
                </a:cubicBezTo>
                <a:close/>
              </a:path>
            </a:pathLst>
          </a:custGeom>
          <a:solidFill>
            <a:srgbClr val="00E3ED">
              <a:alpha val="76863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7792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71" name="Freeform 598">
            <a:extLst>
              <a:ext uri="{FF2B5EF4-FFF2-40B4-BE49-F238E27FC236}">
                <a16:creationId xmlns:a16="http://schemas.microsoft.com/office/drawing/2014/main" id="{02D8E2B8-AFF1-4B37-851E-31DA5041576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029400" y="1531853"/>
            <a:ext cx="236832" cy="239175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402 w 512"/>
              <a:gd name="T11" fmla="*/ 167 h 512"/>
              <a:gd name="T12" fmla="*/ 189 w 512"/>
              <a:gd name="T13" fmla="*/ 381 h 512"/>
              <a:gd name="T14" fmla="*/ 181 w 512"/>
              <a:gd name="T15" fmla="*/ 384 h 512"/>
              <a:gd name="T16" fmla="*/ 173 w 512"/>
              <a:gd name="T17" fmla="*/ 381 h 512"/>
              <a:gd name="T18" fmla="*/ 99 w 512"/>
              <a:gd name="T19" fmla="*/ 306 h 512"/>
              <a:gd name="T20" fmla="*/ 99 w 512"/>
              <a:gd name="T21" fmla="*/ 291 h 512"/>
              <a:gd name="T22" fmla="*/ 114 w 512"/>
              <a:gd name="T23" fmla="*/ 291 h 512"/>
              <a:gd name="T24" fmla="*/ 181 w 512"/>
              <a:gd name="T25" fmla="*/ 358 h 512"/>
              <a:gd name="T26" fmla="*/ 387 w 512"/>
              <a:gd name="T27" fmla="*/ 152 h 512"/>
              <a:gd name="T28" fmla="*/ 402 w 512"/>
              <a:gd name="T29" fmla="*/ 152 h 512"/>
              <a:gd name="T30" fmla="*/ 402 w 512"/>
              <a:gd name="T31" fmla="*/ 167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402" y="167"/>
                </a:moveTo>
                <a:cubicBezTo>
                  <a:pt x="189" y="381"/>
                  <a:pt x="189" y="381"/>
                  <a:pt x="189" y="381"/>
                </a:cubicBezTo>
                <a:cubicBezTo>
                  <a:pt x="186" y="383"/>
                  <a:pt x="184" y="384"/>
                  <a:pt x="181" y="384"/>
                </a:cubicBezTo>
                <a:cubicBezTo>
                  <a:pt x="178" y="384"/>
                  <a:pt x="176" y="383"/>
                  <a:pt x="173" y="381"/>
                </a:cubicBezTo>
                <a:cubicBezTo>
                  <a:pt x="99" y="306"/>
                  <a:pt x="99" y="306"/>
                  <a:pt x="99" y="306"/>
                </a:cubicBezTo>
                <a:cubicBezTo>
                  <a:pt x="95" y="302"/>
                  <a:pt x="95" y="295"/>
                  <a:pt x="99" y="291"/>
                </a:cubicBezTo>
                <a:cubicBezTo>
                  <a:pt x="103" y="287"/>
                  <a:pt x="110" y="287"/>
                  <a:pt x="114" y="291"/>
                </a:cubicBezTo>
                <a:cubicBezTo>
                  <a:pt x="181" y="358"/>
                  <a:pt x="181" y="358"/>
                  <a:pt x="181" y="358"/>
                </a:cubicBezTo>
                <a:cubicBezTo>
                  <a:pt x="387" y="152"/>
                  <a:pt x="387" y="152"/>
                  <a:pt x="387" y="152"/>
                </a:cubicBezTo>
                <a:cubicBezTo>
                  <a:pt x="391" y="148"/>
                  <a:pt x="398" y="148"/>
                  <a:pt x="402" y="152"/>
                </a:cubicBezTo>
                <a:cubicBezTo>
                  <a:pt x="406" y="156"/>
                  <a:pt x="406" y="163"/>
                  <a:pt x="402" y="167"/>
                </a:cubicBezTo>
                <a:close/>
              </a:path>
            </a:pathLst>
          </a:custGeom>
          <a:solidFill>
            <a:srgbClr val="00E3ED">
              <a:alpha val="76863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7792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FBEDCE9-5A9A-4351-B0F3-E7505E058148}"/>
              </a:ext>
            </a:extLst>
          </p:cNvPr>
          <p:cNvCxnSpPr/>
          <p:nvPr/>
        </p:nvCxnSpPr>
        <p:spPr>
          <a:xfrm>
            <a:off x="8859149" y="1089026"/>
            <a:ext cx="0" cy="2744077"/>
          </a:xfrm>
          <a:prstGeom prst="line">
            <a:avLst/>
          </a:prstGeom>
          <a:ln>
            <a:solidFill>
              <a:srgbClr val="76C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74B253BE-FCEF-B837-6303-DF3C325690E5}"/>
              </a:ext>
            </a:extLst>
          </p:cNvPr>
          <p:cNvCxnSpPr>
            <a:cxnSpLocks/>
            <a:stCxn id="25" idx="2"/>
            <a:endCxn id="89" idx="0"/>
          </p:cNvCxnSpPr>
          <p:nvPr/>
        </p:nvCxnSpPr>
        <p:spPr>
          <a:xfrm rot="5400000">
            <a:off x="4293775" y="292862"/>
            <a:ext cx="474356" cy="52195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Elbow Connector 120">
            <a:extLst>
              <a:ext uri="{FF2B5EF4-FFF2-40B4-BE49-F238E27FC236}">
                <a16:creationId xmlns:a16="http://schemas.microsoft.com/office/drawing/2014/main" id="{F5944C56-8A0B-8D96-5C11-DFFD4DB8190B}"/>
              </a:ext>
            </a:extLst>
          </p:cNvPr>
          <p:cNvCxnSpPr>
            <a:stCxn id="93" idx="3"/>
            <a:endCxn id="100" idx="1"/>
          </p:cNvCxnSpPr>
          <p:nvPr/>
        </p:nvCxnSpPr>
        <p:spPr>
          <a:xfrm flipV="1">
            <a:off x="3287905" y="4863453"/>
            <a:ext cx="387347" cy="41970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CD6E191-2891-7172-E91F-3C4AFD0CA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5" y="113046"/>
            <a:ext cx="10515600" cy="1325563"/>
          </a:xfrm>
        </p:spPr>
        <p:txBody>
          <a:bodyPr>
            <a:normAutofit fontScale="90000"/>
          </a:bodyPr>
          <a:lstStyle/>
          <a:p>
            <a:pPr lvl="0" defTabSz="914377">
              <a:lnSpc>
                <a:spcPct val="120000"/>
              </a:lnSpc>
              <a:defRPr/>
            </a:pPr>
            <a:r>
              <a:rPr lang="en-GB" sz="2900" b="1" kern="0" dirty="0">
                <a:solidFill>
                  <a:srgbClr val="565151"/>
                </a:solidFill>
                <a:latin typeface="IBM Plex Sans" charset="0"/>
                <a:ea typeface="+mn-ea"/>
                <a:cs typeface="Arial" panose="020B0604020202020204" pitchFamily="34" charset="0"/>
              </a:rPr>
              <a:t>Client Sales &amp; Account Opening:</a:t>
            </a:r>
            <a:br>
              <a:rPr lang="en-GB" sz="2900" b="1" kern="0" dirty="0">
                <a:solidFill>
                  <a:srgbClr val="565151"/>
                </a:solidFill>
                <a:latin typeface="IBM Plex Sans" charset="0"/>
                <a:ea typeface="+mn-ea"/>
                <a:cs typeface="Arial" panose="020B0604020202020204" pitchFamily="34" charset="0"/>
              </a:rPr>
            </a:br>
            <a:r>
              <a:rPr lang="en-GB" sz="2900" b="1" kern="0" dirty="0">
                <a:solidFill>
                  <a:srgbClr val="565151"/>
                </a:solidFill>
                <a:latin typeface="IBM Plex Sans" charset="0"/>
                <a:ea typeface="+mn-ea"/>
                <a:cs typeface="Arial" panose="020B0604020202020204" pitchFamily="34" charset="0"/>
              </a:rPr>
              <a:t>Specialised Letter – ILA : Consent form checks</a:t>
            </a:r>
            <a:br>
              <a:rPr lang="en-GB" sz="2900" b="1" kern="0" dirty="0">
                <a:solidFill>
                  <a:srgbClr val="565151"/>
                </a:solidFill>
                <a:latin typeface="IBM Plex Sans" charset="0"/>
                <a:ea typeface="+mn-ea"/>
                <a:cs typeface="Arial" panose="020B0604020202020204" pitchFamily="34" charset="0"/>
              </a:rPr>
            </a:br>
            <a:endParaRPr lang="en-US" sz="2900" b="1" kern="0" dirty="0">
              <a:solidFill>
                <a:srgbClr val="565151"/>
              </a:solidFill>
              <a:latin typeface="IBM Plex Sans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471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666F2CE8-4BA3-4CC7-885C-96956487872E}"/>
              </a:ext>
            </a:extLst>
          </p:cNvPr>
          <p:cNvSpPr txBox="1"/>
          <p:nvPr/>
        </p:nvSpPr>
        <p:spPr>
          <a:xfrm>
            <a:off x="8622768" y="1059712"/>
            <a:ext cx="816249" cy="420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ML based 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Risk Model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F8BDE1F-3A5D-4629-B742-88875029A41E}"/>
              </a:ext>
            </a:extLst>
          </p:cNvPr>
          <p:cNvSpPr/>
          <p:nvPr/>
        </p:nvSpPr>
        <p:spPr>
          <a:xfrm>
            <a:off x="5227041" y="731480"/>
            <a:ext cx="1163131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67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6%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B4D04D9-021C-4F57-AD60-933CFEFF7050}"/>
              </a:ext>
            </a:extLst>
          </p:cNvPr>
          <p:cNvSpPr/>
          <p:nvPr/>
        </p:nvSpPr>
        <p:spPr>
          <a:xfrm>
            <a:off x="6161205" y="771175"/>
            <a:ext cx="23297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77"/>
                <a:ea typeface="+mn-ea"/>
                <a:cs typeface="+mn-cs"/>
              </a:rPr>
              <a:t>Of total interest income lost to early mortgage payments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B955154-A034-4AB8-8040-4D8F5A408D42}"/>
              </a:ext>
            </a:extLst>
          </p:cNvPr>
          <p:cNvSpPr/>
          <p:nvPr/>
        </p:nvSpPr>
        <p:spPr>
          <a:xfrm>
            <a:off x="9388964" y="743710"/>
            <a:ext cx="24749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77"/>
                <a:ea typeface="+mn-ea"/>
                <a:cs typeface="+mn-cs"/>
              </a:rPr>
              <a:t>To identify customers who may close their mortgages in next 3/6 months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DF29FF3-F16A-48CA-A0EA-B467E2FA477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2444" y="724843"/>
            <a:ext cx="390136" cy="390136"/>
          </a:xfrm>
          <a:prstGeom prst="rect">
            <a:avLst/>
          </a:prstGeom>
          <a:noFill/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E5D3238B-E0A8-46F6-BFE4-1F7D6D4E6C9E}"/>
              </a:ext>
            </a:extLst>
          </p:cNvPr>
          <p:cNvSpPr txBox="1"/>
          <p:nvPr/>
        </p:nvSpPr>
        <p:spPr>
          <a:xfrm>
            <a:off x="149154" y="724843"/>
            <a:ext cx="51140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marR="0" lvl="0" indent="-285744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77"/>
                <a:ea typeface="+mn-ea"/>
                <a:cs typeface="+mn-cs"/>
              </a:rPr>
              <a:t>Discovered hidden patterns in mortgage data to understand the money mindset of the borrowers -&gt; Applying Machine Learning</a:t>
            </a:r>
          </a:p>
          <a:p>
            <a:pPr marL="285744" marR="0" lvl="0" indent="-285744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77"/>
                <a:ea typeface="+mn-ea"/>
                <a:cs typeface="+mn-cs"/>
              </a:rPr>
              <a:t>Predict pre-closure/prepayment propensity at application stage itself to drive optimal pricing for mortgages</a:t>
            </a:r>
          </a:p>
          <a:p>
            <a:pPr marL="285744" marR="0" lvl="0" indent="-285744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77"/>
                <a:ea typeface="+mn-ea"/>
                <a:cs typeface="+mn-cs"/>
              </a:rPr>
              <a:t>Drive targeted offers based on customer mindset and triggers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C0E794-E5B5-CAA0-FD46-12BA8E0903D8}"/>
              </a:ext>
            </a:extLst>
          </p:cNvPr>
          <p:cNvSpPr txBox="1"/>
          <p:nvPr/>
        </p:nvSpPr>
        <p:spPr>
          <a:xfrm>
            <a:off x="211497" y="1909075"/>
            <a:ext cx="5114068" cy="442287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58453CC-5C88-2109-9C50-6EE7E2ACC771}"/>
              </a:ext>
            </a:extLst>
          </p:cNvPr>
          <p:cNvSpPr/>
          <p:nvPr/>
        </p:nvSpPr>
        <p:spPr>
          <a:xfrm>
            <a:off x="266293" y="1918800"/>
            <a:ext cx="459103" cy="22145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 anchorCtr="1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NEW INSIGHTS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D8784F0-49A3-D4D5-C791-9D771D9D61A4}"/>
              </a:ext>
            </a:extLst>
          </p:cNvPr>
          <p:cNvSpPr/>
          <p:nvPr/>
        </p:nvSpPr>
        <p:spPr>
          <a:xfrm>
            <a:off x="928393" y="2104491"/>
            <a:ext cx="4150099" cy="50257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15% pre-closures due to servicing 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related issues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3AA4526-5090-33FF-D8FD-D853B466E4DF}"/>
              </a:ext>
            </a:extLst>
          </p:cNvPr>
          <p:cNvSpPr/>
          <p:nvPr/>
        </p:nvSpPr>
        <p:spPr>
          <a:xfrm>
            <a:off x="928393" y="2699048"/>
            <a:ext cx="4157986" cy="50257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40% pre-closures  - current home price is  ~12 times the current outstanding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E6B4D55-7A14-330F-461D-E7F449E57F80}"/>
              </a:ext>
            </a:extLst>
          </p:cNvPr>
          <p:cNvSpPr/>
          <p:nvPr/>
        </p:nvSpPr>
        <p:spPr>
          <a:xfrm>
            <a:off x="920507" y="3294990"/>
            <a:ext cx="4157986" cy="50257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40% pre-closures - current outstanding is less than twice customers own contribution</a:t>
            </a:r>
          </a:p>
        </p:txBody>
      </p:sp>
      <p:pic>
        <p:nvPicPr>
          <p:cNvPr id="42" name="Picture 41" descr="hAsset 5@2x.png">
            <a:extLst>
              <a:ext uri="{FF2B5EF4-FFF2-40B4-BE49-F238E27FC236}">
                <a16:creationId xmlns:a16="http://schemas.microsoft.com/office/drawing/2014/main" id="{C70DD7B2-15B2-F457-1C0D-14894BDA2CE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6260"/>
          <a:stretch/>
        </p:blipFill>
        <p:spPr>
          <a:xfrm>
            <a:off x="813628" y="4071807"/>
            <a:ext cx="753475" cy="5500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</p:pic>
      <p:pic>
        <p:nvPicPr>
          <p:cNvPr id="45" name="Picture 44" descr="hAsset 6@2x.png">
            <a:extLst>
              <a:ext uri="{FF2B5EF4-FFF2-40B4-BE49-F238E27FC236}">
                <a16:creationId xmlns:a16="http://schemas.microsoft.com/office/drawing/2014/main" id="{D55AB9A2-0B98-6D65-C9BB-FC57DF23551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937"/>
          <a:stretch/>
        </p:blipFill>
        <p:spPr>
          <a:xfrm>
            <a:off x="782059" y="5446089"/>
            <a:ext cx="785044" cy="63737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33B492AE-2371-95D1-4C2F-66F8F20E5645}"/>
              </a:ext>
            </a:extLst>
          </p:cNvPr>
          <p:cNvSpPr txBox="1"/>
          <p:nvPr/>
        </p:nvSpPr>
        <p:spPr>
          <a:xfrm>
            <a:off x="1645295" y="4097168"/>
            <a:ext cx="1210662" cy="50257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 marL="0" marR="0" indent="0" algn="l" defTabSz="914321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685800" hangingPunct="1">
              <a:defRPr sz="2100" b="1" kern="1200">
                <a:solidFill>
                  <a:schemeClr val="bg1"/>
                </a:solidFill>
                <a:latin typeface="Calibri Light" panose="020F0302020204030204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DATA ENGINEERING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510CBF1-E2E6-2A1E-D572-8FB47D9AC4B4}"/>
              </a:ext>
            </a:extLst>
          </p:cNvPr>
          <p:cNvSpPr txBox="1"/>
          <p:nvPr/>
        </p:nvSpPr>
        <p:spPr>
          <a:xfrm>
            <a:off x="1641501" y="4738386"/>
            <a:ext cx="1201493" cy="50257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 marL="0" marR="0" indent="0" algn="l" defTabSz="914321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685800" hangingPunct="1">
              <a:defRPr sz="1400" b="1" kern="1200">
                <a:solidFill>
                  <a:schemeClr val="bg1"/>
                </a:solidFill>
                <a:latin typeface="Calibri Light" panose="020F0302020204030204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FEATURE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ENGINEERING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E7A2057-4A67-A1C8-78BC-B4F3F62BA46D}"/>
              </a:ext>
            </a:extLst>
          </p:cNvPr>
          <p:cNvSpPr txBox="1"/>
          <p:nvPr/>
        </p:nvSpPr>
        <p:spPr>
          <a:xfrm>
            <a:off x="1635825" y="5410928"/>
            <a:ext cx="1201493" cy="70769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 marL="0" marR="0" indent="0" algn="l" defTabSz="914321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685800" hangingPunct="1">
              <a:defRPr sz="1400" b="1" kern="1200">
                <a:solidFill>
                  <a:schemeClr val="bg1"/>
                </a:solidFill>
                <a:latin typeface="Calibri Light" panose="020F0302020204030204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MACHINE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LEARNING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MODELLING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6021C2F5-B816-00EA-CFC1-0D29163056A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biLevel thresh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3629" y="4662571"/>
            <a:ext cx="753473" cy="69686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9CD4A460-AE45-127D-91E3-B44A57B2813D}"/>
              </a:ext>
            </a:extLst>
          </p:cNvPr>
          <p:cNvSpPr txBox="1"/>
          <p:nvPr/>
        </p:nvSpPr>
        <p:spPr>
          <a:xfrm>
            <a:off x="2946400" y="4097168"/>
            <a:ext cx="2357960" cy="53651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noAutofit/>
          </a:bodyPr>
          <a:lstStyle>
            <a:defPPr>
              <a:defRPr lang="en-US"/>
            </a:defPPr>
            <a:lvl1pPr defTabSz="914377">
              <a:defRPr>
                <a:solidFill>
                  <a:prstClr val="black"/>
                </a:solidFill>
                <a:latin typeface="Calibri" panose="020F0502020204030204"/>
              </a:defRPr>
            </a:lvl1pPr>
          </a:lstStyle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Training/ Prediction datasets</a:t>
            </a:r>
          </a:p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Statistical Pattern Analysis of data</a:t>
            </a:r>
          </a:p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and modelling pipeline</a:t>
            </a:r>
          </a:p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08E581E-D3D3-45B2-5D0B-D718C91A35D4}"/>
              </a:ext>
            </a:extLst>
          </p:cNvPr>
          <p:cNvSpPr txBox="1"/>
          <p:nvPr/>
        </p:nvSpPr>
        <p:spPr>
          <a:xfrm>
            <a:off x="2962221" y="4725664"/>
            <a:ext cx="2342140" cy="5539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noAutofit/>
          </a:bodyPr>
          <a:lstStyle>
            <a:defPPr>
              <a:defRPr lang="en-US"/>
            </a:defPPr>
            <a:lvl1pPr marL="171450" indent="-171450" defTabSz="914377">
              <a:buFont typeface="Arial" panose="020B0604020202020204" pitchFamily="34" charset="0"/>
              <a:buChar char="•"/>
              <a:defRPr sz="1000">
                <a:solidFill>
                  <a:prstClr val="black"/>
                </a:solidFill>
                <a:latin typeface="Calibri" panose="020F0502020204030204"/>
              </a:defRPr>
            </a:lvl1pPr>
          </a:lstStyle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Customer Behavior Maps</a:t>
            </a:r>
          </a:p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Design Financial KPIs from base data</a:t>
            </a:r>
          </a:p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Algorithm-led Best Features Selection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DDB47D8-F488-7C1E-3B48-892BD36D3B50}"/>
              </a:ext>
            </a:extLst>
          </p:cNvPr>
          <p:cNvSpPr/>
          <p:nvPr/>
        </p:nvSpPr>
        <p:spPr>
          <a:xfrm>
            <a:off x="254343" y="4251958"/>
            <a:ext cx="446519" cy="19184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 anchorCtr="1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ENABLED BY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120FCE8-E475-89C3-9DF7-937E2523A290}"/>
              </a:ext>
            </a:extLst>
          </p:cNvPr>
          <p:cNvSpPr txBox="1"/>
          <p:nvPr/>
        </p:nvSpPr>
        <p:spPr>
          <a:xfrm>
            <a:off x="2965283" y="5410736"/>
            <a:ext cx="2349149" cy="7078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noAutofit/>
          </a:bodyPr>
          <a:lstStyle>
            <a:defPPr>
              <a:defRPr lang="en-US"/>
            </a:defPPr>
            <a:lvl1pPr marL="171450" indent="-171450" defTabSz="914377">
              <a:buFont typeface="Arial" panose="020B0604020202020204" pitchFamily="34" charset="0"/>
              <a:buChar char="•"/>
              <a:defRPr sz="1000">
                <a:solidFill>
                  <a:prstClr val="black"/>
                </a:solidFill>
                <a:latin typeface="Calibri" panose="020F0502020204030204"/>
              </a:defRPr>
            </a:lvl1pPr>
          </a:lstStyle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Predictive Model to using hybrid ensemble algorithmic design</a:t>
            </a:r>
          </a:p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66% accuracy in predicting mortgages which may close in next 3/6 months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B0102E2-A1E0-42A8-B503-8D4723F76C3A}"/>
              </a:ext>
            </a:extLst>
          </p:cNvPr>
          <p:cNvSpPr/>
          <p:nvPr/>
        </p:nvSpPr>
        <p:spPr bwMode="gray">
          <a:xfrm>
            <a:off x="5416008" y="1381935"/>
            <a:ext cx="5478104" cy="46085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Model Derived Mortgage Customer Segments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BFFE268-66E9-411F-9F40-B959CC4B7F39}"/>
              </a:ext>
            </a:extLst>
          </p:cNvPr>
          <p:cNvSpPr/>
          <p:nvPr/>
        </p:nvSpPr>
        <p:spPr>
          <a:xfrm>
            <a:off x="5416008" y="1716542"/>
            <a:ext cx="670248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77"/>
                <a:ea typeface="+mn-ea"/>
                <a:cs typeface="+mn-cs"/>
              </a:rPr>
              <a:t>The “new insight” enables a new way of looking at and segmenting customers specific to this context. Further actions are derived by agents and relationship managers based on these segments.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77"/>
                <a:ea typeface="+mn-ea"/>
                <a:cs typeface="+mn-cs"/>
              </a:rPr>
              <a:t>This information can be utilized by the Operations Team (Agents) to proactively reach out to clients 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EE08179-016F-46D2-B0F8-5F9F02AC5656}"/>
              </a:ext>
            </a:extLst>
          </p:cNvPr>
          <p:cNvGrpSpPr/>
          <p:nvPr/>
        </p:nvGrpSpPr>
        <p:grpSpPr>
          <a:xfrm>
            <a:off x="5505183" y="2451216"/>
            <a:ext cx="6613308" cy="4070770"/>
            <a:chOff x="1379152" y="419022"/>
            <a:chExt cx="10653093" cy="7068460"/>
          </a:xfrm>
        </p:grpSpPr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805348CD-35DE-4C5F-97AC-68883604D896}"/>
                </a:ext>
              </a:extLst>
            </p:cNvPr>
            <p:cNvGrpSpPr/>
            <p:nvPr/>
          </p:nvGrpSpPr>
          <p:grpSpPr>
            <a:xfrm>
              <a:off x="1580639" y="1723567"/>
              <a:ext cx="9937151" cy="3981318"/>
              <a:chOff x="1580639" y="1915200"/>
              <a:chExt cx="9937151" cy="3981318"/>
            </a:xfrm>
          </p:grpSpPr>
          <p:pic>
            <p:nvPicPr>
              <p:cNvPr id="136" name="Graphic 135" descr="Head with gears">
                <a:extLst>
                  <a:ext uri="{FF2B5EF4-FFF2-40B4-BE49-F238E27FC236}">
                    <a16:creationId xmlns:a16="http://schemas.microsoft.com/office/drawing/2014/main" id="{21924344-672E-4B0D-A32D-1FEEE01509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069570" y="2798983"/>
                <a:ext cx="2358953" cy="2358953"/>
              </a:xfrm>
              <a:prstGeom prst="rect">
                <a:avLst/>
              </a:prstGeom>
            </p:spPr>
          </p:pic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6372BA25-6BC9-48AA-A912-216BC3D1A8B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84039" y="3192697"/>
                <a:ext cx="1727307" cy="1488811"/>
              </a:xfrm>
              <a:prstGeom prst="ellipse">
                <a:avLst/>
              </a:prstGeom>
              <a:solidFill>
                <a:srgbClr val="996600"/>
              </a:solidFill>
              <a:ln>
                <a:solidFill>
                  <a:srgbClr val="996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1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Home Planner  (Active Manager) </a:t>
                </a:r>
              </a:p>
            </p:txBody>
          </p: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FE8072C7-61A4-480A-832D-8D893481548C}"/>
                  </a:ext>
                </a:extLst>
              </p:cNvPr>
              <p:cNvGrpSpPr/>
              <p:nvPr/>
            </p:nvGrpSpPr>
            <p:grpSpPr>
              <a:xfrm>
                <a:off x="1580639" y="3236539"/>
                <a:ext cx="2120602" cy="1086227"/>
                <a:chOff x="7561006" y="2889704"/>
                <a:chExt cx="2120602" cy="1086227"/>
              </a:xfrm>
            </p:grpSpPr>
            <p:sp>
              <p:nvSpPr>
                <p:cNvPr id="157" name="Rectangle 156">
                  <a:extLst>
                    <a:ext uri="{FF2B5EF4-FFF2-40B4-BE49-F238E27FC236}">
                      <a16:creationId xmlns:a16="http://schemas.microsoft.com/office/drawing/2014/main" id="{1782237E-3969-4E81-9BC5-FB2DDEA25B60}"/>
                    </a:ext>
                  </a:extLst>
                </p:cNvPr>
                <p:cNvSpPr/>
                <p:nvPr/>
              </p:nvSpPr>
              <p:spPr>
                <a:xfrm>
                  <a:off x="7561006" y="3326611"/>
                  <a:ext cx="1445177" cy="64932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51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Age of Loan</a:t>
                  </a:r>
                </a:p>
              </p:txBody>
            </p:sp>
            <p:pic>
              <p:nvPicPr>
                <p:cNvPr id="158" name="Graphic 157" descr="Arrow: Straight">
                  <a:extLst>
                    <a:ext uri="{FF2B5EF4-FFF2-40B4-BE49-F238E27FC236}">
                      <a16:creationId xmlns:a16="http://schemas.microsoft.com/office/drawing/2014/main" id="{2505AE5B-D06E-4B6E-B19E-4ECD816772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67208" y="2889704"/>
                  <a:ext cx="914400" cy="914399"/>
                </a:xfrm>
                <a:prstGeom prst="rect">
                  <a:avLst/>
                </a:prstGeom>
              </p:spPr>
            </p:pic>
          </p:grp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7C47D0ED-5BAF-4802-A847-A7CD48437F69}"/>
                  </a:ext>
                </a:extLst>
              </p:cNvPr>
              <p:cNvGrpSpPr/>
              <p:nvPr/>
            </p:nvGrpSpPr>
            <p:grpSpPr>
              <a:xfrm>
                <a:off x="3379082" y="2232867"/>
                <a:ext cx="2645780" cy="1117301"/>
                <a:chOff x="8329441" y="2390528"/>
                <a:chExt cx="2645780" cy="1117301"/>
              </a:xfrm>
            </p:grpSpPr>
            <p:pic>
              <p:nvPicPr>
                <p:cNvPr id="155" name="Graphic 154" descr="Arrow: Counter-clockwise curve">
                  <a:extLst>
                    <a:ext uri="{FF2B5EF4-FFF2-40B4-BE49-F238E27FC236}">
                      <a16:creationId xmlns:a16="http://schemas.microsoft.com/office/drawing/2014/main" id="{B4EFCE5F-F8CA-49A3-AE0A-886F3ACA64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 rot="-2580000">
                  <a:off x="8329441" y="2593429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56" name="Rectangle 155">
                  <a:extLst>
                    <a:ext uri="{FF2B5EF4-FFF2-40B4-BE49-F238E27FC236}">
                      <a16:creationId xmlns:a16="http://schemas.microsoft.com/office/drawing/2014/main" id="{AD1D1C63-A9BD-4B99-8098-C47EF5F0D134}"/>
                    </a:ext>
                  </a:extLst>
                </p:cNvPr>
                <p:cNvSpPr/>
                <p:nvPr/>
              </p:nvSpPr>
              <p:spPr>
                <a:xfrm>
                  <a:off x="8546579" y="2390528"/>
                  <a:ext cx="2428642" cy="96771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51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Rate &amp; Extent of Repayment</a:t>
                  </a:r>
                </a:p>
              </p:txBody>
            </p:sp>
          </p:grp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14830E8E-B930-4F91-B7C4-354F14A1E9C9}"/>
                  </a:ext>
                </a:extLst>
              </p:cNvPr>
              <p:cNvGrpSpPr/>
              <p:nvPr/>
            </p:nvGrpSpPr>
            <p:grpSpPr>
              <a:xfrm>
                <a:off x="3308374" y="4890068"/>
                <a:ext cx="3076946" cy="1006450"/>
                <a:chOff x="2898471" y="3839044"/>
                <a:chExt cx="3076946" cy="1006450"/>
              </a:xfrm>
            </p:grpSpPr>
            <p:pic>
              <p:nvPicPr>
                <p:cNvPr id="153" name="Graphic 152" descr="Arrow: Clockwise curve">
                  <a:extLst>
                    <a:ext uri="{FF2B5EF4-FFF2-40B4-BE49-F238E27FC236}">
                      <a16:creationId xmlns:a16="http://schemas.microsoft.com/office/drawing/2014/main" id="{35A53634-574A-4F1A-9261-3BE5D6FA42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 rot="16260000">
                  <a:off x="2898471" y="3931094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A0478246-2FFC-4F48-B219-D513EDD9BDF8}"/>
                    </a:ext>
                  </a:extLst>
                </p:cNvPr>
                <p:cNvSpPr/>
                <p:nvPr/>
              </p:nvSpPr>
              <p:spPr>
                <a:xfrm>
                  <a:off x="3621602" y="3839044"/>
                  <a:ext cx="2353815" cy="59119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51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Customer Affluence :</a:t>
                  </a:r>
                </a:p>
                <a:p>
                  <a:pPr marL="0" marR="0" lvl="0" indent="0" algn="ctr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51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Focus on Extent of ROI </a:t>
                  </a:r>
                </a:p>
              </p:txBody>
            </p:sp>
          </p:grp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F482B430-B2D8-4088-99AF-1525722F04A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1943" y="3172317"/>
                <a:ext cx="1860006" cy="1539469"/>
              </a:xfrm>
              <a:prstGeom prst="ellipse">
                <a:avLst/>
              </a:prstGeom>
              <a:solidFill>
                <a:srgbClr val="808000"/>
              </a:solidFill>
              <a:ln>
                <a:solidFill>
                  <a:srgbClr val="8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1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Home Budgeter (Passive Manager)</a:t>
                </a:r>
              </a:p>
            </p:txBody>
          </p:sp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DA972691-A221-43F5-BF04-26B721DFB547}"/>
                  </a:ext>
                </a:extLst>
              </p:cNvPr>
              <p:cNvGrpSpPr/>
              <p:nvPr/>
            </p:nvGrpSpPr>
            <p:grpSpPr>
              <a:xfrm>
                <a:off x="7387062" y="1915200"/>
                <a:ext cx="1860005" cy="1316736"/>
                <a:chOff x="7691860" y="286108"/>
                <a:chExt cx="1860005" cy="1316736"/>
              </a:xfrm>
            </p:grpSpPr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AD112BB5-4C33-4758-8483-3A99C89924EE}"/>
                    </a:ext>
                  </a:extLst>
                </p:cNvPr>
                <p:cNvSpPr/>
                <p:nvPr/>
              </p:nvSpPr>
              <p:spPr>
                <a:xfrm>
                  <a:off x="7691860" y="682324"/>
                  <a:ext cx="1860005" cy="92052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51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Size of Down Payment</a:t>
                  </a:r>
                </a:p>
              </p:txBody>
            </p:sp>
            <p:pic>
              <p:nvPicPr>
                <p:cNvPr id="152" name="Graphic 151" descr="Arrow: Clockwise curve">
                  <a:extLst>
                    <a:ext uri="{FF2B5EF4-FFF2-40B4-BE49-F238E27FC236}">
                      <a16:creationId xmlns:a16="http://schemas.microsoft.com/office/drawing/2014/main" id="{FF5D7835-F641-4962-8057-ED1FEC1905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8516076" y="286109"/>
                  <a:ext cx="914401" cy="914400"/>
                </a:xfrm>
                <a:prstGeom prst="rect">
                  <a:avLst/>
                </a:prstGeom>
              </p:spPr>
            </p:pic>
          </p:grp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CBD507D0-B3D0-4363-B5B2-26170F890A33}"/>
                  </a:ext>
                </a:extLst>
              </p:cNvPr>
              <p:cNvGrpSpPr/>
              <p:nvPr/>
            </p:nvGrpSpPr>
            <p:grpSpPr>
              <a:xfrm>
                <a:off x="6863580" y="4714122"/>
                <a:ext cx="2627253" cy="1058672"/>
                <a:chOff x="7031744" y="4167586"/>
                <a:chExt cx="2627253" cy="1058672"/>
              </a:xfrm>
            </p:grpSpPr>
            <p:pic>
              <p:nvPicPr>
                <p:cNvPr id="149" name="Graphic 148" descr="Arrow: Counter-clockwise curve">
                  <a:extLst>
                    <a:ext uri="{FF2B5EF4-FFF2-40B4-BE49-F238E27FC236}">
                      <a16:creationId xmlns:a16="http://schemas.microsoft.com/office/drawing/2014/main" id="{80A15E77-BA28-4D76-8C76-91BAD64AE8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 rot="7980000">
                  <a:off x="8744597" y="4311858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870F5960-9115-4CB9-AD94-AE8A433CE85D}"/>
                    </a:ext>
                  </a:extLst>
                </p:cNvPr>
                <p:cNvSpPr/>
                <p:nvPr/>
              </p:nvSpPr>
              <p:spPr>
                <a:xfrm>
                  <a:off x="7031744" y="4167586"/>
                  <a:ext cx="2170052" cy="55244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51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Debt To Future Surplus Savings</a:t>
                  </a:r>
                </a:p>
              </p:txBody>
            </p:sp>
          </p:grpSp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6748A8D2-5692-4C70-86A7-7DA9BC79F8C3}"/>
                  </a:ext>
                </a:extLst>
              </p:cNvPr>
              <p:cNvGrpSpPr/>
              <p:nvPr/>
            </p:nvGrpSpPr>
            <p:grpSpPr>
              <a:xfrm>
                <a:off x="8928527" y="3450635"/>
                <a:ext cx="2589263" cy="1421773"/>
                <a:chOff x="6111763" y="4648813"/>
                <a:chExt cx="2589263" cy="1421773"/>
              </a:xfrm>
            </p:grpSpPr>
            <p:sp>
              <p:nvSpPr>
                <p:cNvPr id="147" name="Rectangle 146">
                  <a:extLst>
                    <a:ext uri="{FF2B5EF4-FFF2-40B4-BE49-F238E27FC236}">
                      <a16:creationId xmlns:a16="http://schemas.microsoft.com/office/drawing/2014/main" id="{BCA431C9-8E6F-43F3-99EA-9664F84DDB5C}"/>
                    </a:ext>
                  </a:extLst>
                </p:cNvPr>
                <p:cNvSpPr/>
                <p:nvPr/>
              </p:nvSpPr>
              <p:spPr>
                <a:xfrm>
                  <a:off x="6199712" y="5226643"/>
                  <a:ext cx="2501314" cy="84394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51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Pre-maturity Impact :</a:t>
                  </a:r>
                </a:p>
                <a:p>
                  <a:pPr marL="0" marR="0" lvl="0" indent="0" algn="ctr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51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Rise in Drawing Power </a:t>
                  </a:r>
                </a:p>
              </p:txBody>
            </p:sp>
            <p:pic>
              <p:nvPicPr>
                <p:cNvPr id="148" name="Graphic 147" descr="Arrow: Straight">
                  <a:extLst>
                    <a:ext uri="{FF2B5EF4-FFF2-40B4-BE49-F238E27FC236}">
                      <a16:creationId xmlns:a16="http://schemas.microsoft.com/office/drawing/2014/main" id="{726D1716-53CD-4B84-A5CC-BAF513B68A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 rot="10800000">
                  <a:off x="6111763" y="4648813"/>
                  <a:ext cx="914400" cy="914400"/>
                </a:xfrm>
                <a:prstGeom prst="rect">
                  <a:avLst/>
                </a:prstGeom>
              </p:spPr>
            </p:pic>
          </p:grpSp>
        </p:grpSp>
        <p:pic>
          <p:nvPicPr>
            <p:cNvPr id="126" name="Picture 125">
              <a:extLst>
                <a:ext uri="{FF2B5EF4-FFF2-40B4-BE49-F238E27FC236}">
                  <a16:creationId xmlns:a16="http://schemas.microsoft.com/office/drawing/2014/main" id="{C4574A61-6986-4371-99C5-944F1A985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151441" y="589570"/>
              <a:ext cx="1976298" cy="1433189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27" name="Picture 126">
              <a:extLst>
                <a:ext uri="{FF2B5EF4-FFF2-40B4-BE49-F238E27FC236}">
                  <a16:creationId xmlns:a16="http://schemas.microsoft.com/office/drawing/2014/main" id="{F4EDF066-A373-4835-ABBB-A0762E30A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79152" y="2147682"/>
              <a:ext cx="1915976" cy="1134384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28" name="Picture 127">
              <a:extLst>
                <a:ext uri="{FF2B5EF4-FFF2-40B4-BE49-F238E27FC236}">
                  <a16:creationId xmlns:a16="http://schemas.microsoft.com/office/drawing/2014/main" id="{06DBC39F-B33A-4819-AAA5-60E5D01DF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650105" y="4196877"/>
              <a:ext cx="2011898" cy="1201472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29" name="Picture 128">
              <a:extLst>
                <a:ext uri="{FF2B5EF4-FFF2-40B4-BE49-F238E27FC236}">
                  <a16:creationId xmlns:a16="http://schemas.microsoft.com/office/drawing/2014/main" id="{1A8F5E3D-FA04-4D5A-8AEE-FF61FD81C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759481" y="5356384"/>
              <a:ext cx="2121561" cy="1253784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B7F4E2D4-F428-4222-8016-E73613688A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418951" y="5009985"/>
              <a:ext cx="2217518" cy="1779891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077F9667-7F06-42D4-88AF-637170BEC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746244" y="2300697"/>
              <a:ext cx="2286001" cy="1363812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30F073C8-EB63-4640-AC1A-859436432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338405" y="659825"/>
              <a:ext cx="2074650" cy="1231370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3" name="Flowchart: Terminator 132">
              <a:extLst>
                <a:ext uri="{FF2B5EF4-FFF2-40B4-BE49-F238E27FC236}">
                  <a16:creationId xmlns:a16="http://schemas.microsoft.com/office/drawing/2014/main" id="{5BA27110-BB29-42D2-91FF-41614900DD2F}"/>
                </a:ext>
              </a:extLst>
            </p:cNvPr>
            <p:cNvSpPr/>
            <p:nvPr/>
          </p:nvSpPr>
          <p:spPr>
            <a:xfrm>
              <a:off x="5454737" y="419022"/>
              <a:ext cx="2252333" cy="2043287"/>
            </a:xfrm>
            <a:prstGeom prst="flowChartTerminator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This customer pays more than scheduled payments. The risk of pre-closure increases with increasing rate of payment</a:t>
              </a:r>
            </a:p>
          </p:txBody>
        </p:sp>
        <p:sp>
          <p:nvSpPr>
            <p:cNvPr id="134" name="Flowchart: Terminator 133">
              <a:extLst>
                <a:ext uri="{FF2B5EF4-FFF2-40B4-BE49-F238E27FC236}">
                  <a16:creationId xmlns:a16="http://schemas.microsoft.com/office/drawing/2014/main" id="{625CD6FE-8F90-4EF1-A12F-28AA4BC3F9F0}"/>
                </a:ext>
              </a:extLst>
            </p:cNvPr>
            <p:cNvSpPr/>
            <p:nvPr/>
          </p:nvSpPr>
          <p:spPr>
            <a:xfrm>
              <a:off x="7129661" y="5306978"/>
              <a:ext cx="2222925" cy="2180504"/>
            </a:xfrm>
            <a:prstGeom prst="flowChartTerminator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This customer is passive manager and increasing savings/income doesn’t show dramatic increase in pre-closure propensity</a:t>
              </a:r>
            </a:p>
          </p:txBody>
        </p:sp>
        <p:sp>
          <p:nvSpPr>
            <p:cNvPr id="135" name="Flowchart: Terminator 134">
              <a:extLst>
                <a:ext uri="{FF2B5EF4-FFF2-40B4-BE49-F238E27FC236}">
                  <a16:creationId xmlns:a16="http://schemas.microsoft.com/office/drawing/2014/main" id="{806FD651-EC31-49A1-B1C8-A0FA28B31EA8}"/>
                </a:ext>
              </a:extLst>
            </p:cNvPr>
            <p:cNvSpPr/>
            <p:nvPr/>
          </p:nvSpPr>
          <p:spPr>
            <a:xfrm>
              <a:off x="1625545" y="5523271"/>
              <a:ext cx="2115939" cy="1874466"/>
            </a:xfrm>
            <a:prstGeom prst="flowChartTerminator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50% more chance of this customer with active manager mindset , leaving in search of better floating interest rates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239846-AA99-AE78-7A0E-740529EE7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43" y="103177"/>
            <a:ext cx="10515600" cy="720461"/>
          </a:xfrm>
        </p:spPr>
        <p:txBody>
          <a:bodyPr>
            <a:normAutofit/>
          </a:bodyPr>
          <a:lstStyle/>
          <a:p>
            <a:r>
              <a:rPr lang="en-US" sz="2800" b="1" kern="0" dirty="0">
                <a:solidFill>
                  <a:srgbClr val="565151"/>
                </a:solidFill>
                <a:latin typeface="IBM Plex Sans" charset="0"/>
                <a:cs typeface="Arial" panose="020B0604020202020204" pitchFamily="34" charset="0"/>
              </a:rPr>
              <a:t>ML based Modelling for </a:t>
            </a:r>
            <a:r>
              <a:rPr lang="en-US" sz="2800" b="1" kern="0">
                <a:solidFill>
                  <a:srgbClr val="565151"/>
                </a:solidFill>
                <a:latin typeface="IBM Plex Sans" charset="0"/>
                <a:cs typeface="Arial" panose="020B0604020202020204" pitchFamily="34" charset="0"/>
              </a:rPr>
              <a:t>Pre-payment Risk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303338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aTLCuZj9UqI5_yLFjI6Y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6leVuF_OUmLZapyqLlAf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6leVuF_OUmLZapyqLlAfA"/>
</p:tagLst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4C29C17E9AEA4CB48B504ECDD326F6" ma:contentTypeVersion="13" ma:contentTypeDescription="Create a new document." ma:contentTypeScope="" ma:versionID="486f3cfb4c24b8688d524ab3a9b29fce">
  <xsd:schema xmlns:xsd="http://www.w3.org/2001/XMLSchema" xmlns:xs="http://www.w3.org/2001/XMLSchema" xmlns:p="http://schemas.microsoft.com/office/2006/metadata/properties" xmlns:ns3="e0232e1f-123a-43d1-921b-7c05729cf17c" xmlns:ns4="9bfc2338-3f47-4b50-8d03-6eed904d0726" targetNamespace="http://schemas.microsoft.com/office/2006/metadata/properties" ma:root="true" ma:fieldsID="2118a895d43cbd146a7c2fe258e5e080" ns3:_="" ns4:_="">
    <xsd:import namespace="e0232e1f-123a-43d1-921b-7c05729cf17c"/>
    <xsd:import namespace="9bfc2338-3f47-4b50-8d03-6eed904d072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232e1f-123a-43d1-921b-7c05729cf1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fc2338-3f47-4b50-8d03-6eed904d072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0232e1f-123a-43d1-921b-7c05729cf17c" xsi:nil="true"/>
  </documentManagement>
</p:properties>
</file>

<file path=customXml/itemProps1.xml><?xml version="1.0" encoding="utf-8"?>
<ds:datastoreItem xmlns:ds="http://schemas.openxmlformats.org/officeDocument/2006/customXml" ds:itemID="{A5897BEE-D80E-4CE5-8337-594DF3B92F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232e1f-123a-43d1-921b-7c05729cf17c"/>
    <ds:schemaRef ds:uri="9bfc2338-3f47-4b50-8d03-6eed904d07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03D7DEE-1DEE-49C4-A6FA-34372DAC86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9D7091-0805-4B11-864E-4E8264CFA64A}">
  <ds:schemaRefs>
    <ds:schemaRef ds:uri="http://purl.org/dc/terms/"/>
    <ds:schemaRef ds:uri="e0232e1f-123a-43d1-921b-7c05729cf17c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dcmitype/"/>
    <ds:schemaRef ds:uri="http://purl.org/dc/elements/1.1/"/>
    <ds:schemaRef ds:uri="http://schemas.microsoft.com/office/infopath/2007/PartnerControls"/>
    <ds:schemaRef ds:uri="9bfc2338-3f47-4b50-8d03-6eed904d0726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1149</Words>
  <Application>Microsoft Macintosh PowerPoint</Application>
  <PresentationFormat>Widescreen</PresentationFormat>
  <Paragraphs>174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IBM Plex Sans</vt:lpstr>
      <vt:lpstr>IBM Plex Sans Light</vt:lpstr>
      <vt:lpstr>IBM Plex Sans Medium</vt:lpstr>
      <vt:lpstr>IBM Plex Sans SemiBold</vt:lpstr>
      <vt:lpstr>Segoe UI Light</vt:lpstr>
      <vt:lpstr>2_Office Theme</vt:lpstr>
      <vt:lpstr>EMORY Bank - Data Management Transformation Journey</vt:lpstr>
      <vt:lpstr>Mortgages Domain Automation of processes  Automation driven by Data, Insights &amp; AI to increase the efficiency of the Business Processes and Operations</vt:lpstr>
      <vt:lpstr>Client Sales &amp; Account Opening: Specialised Letter – ILA : Consent form checks </vt:lpstr>
      <vt:lpstr>ML based Modelling for Pre-payment Risk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 RAMANUJAM</dc:creator>
  <cp:lastModifiedBy>SURJIT DAS</cp:lastModifiedBy>
  <cp:revision>6</cp:revision>
  <dcterms:created xsi:type="dcterms:W3CDTF">2025-01-02T03:15:25Z</dcterms:created>
  <dcterms:modified xsi:type="dcterms:W3CDTF">2026-04-29T19:23:24Z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0x010100F94C29C17E9AEA4CB48B504ECDD326F6</vt:lpwstr>
  </property>
</Properties>
</file>