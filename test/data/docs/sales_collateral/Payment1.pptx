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77" r:id="rId2"/>
    <p:sldId id="27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70" autoAdjust="0"/>
    <p:restoredTop sz="88082"/>
  </p:normalViewPr>
  <p:slideViewPr>
    <p:cSldViewPr snapToGrid="0">
      <p:cViewPr varScale="1">
        <p:scale>
          <a:sx n="103" d="100"/>
          <a:sy n="103" d="100"/>
        </p:scale>
        <p:origin x="17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12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ESH RAMANUJAM" userId="S::raramesh@in.ibm.com::ded75565-4a73-4d8d-8653-9fb57c77480d" providerId="AD" clId="Web-{6C6BAD9A-0A63-05BF-3691-1C3E90F5B1CA}"/>
    <pc:docChg chg="modSld">
      <pc:chgData name="RAMESH RAMANUJAM" userId="S::raramesh@in.ibm.com::ded75565-4a73-4d8d-8653-9fb57c77480d" providerId="AD" clId="Web-{6C6BAD9A-0A63-05BF-3691-1C3E90F5B1CA}" dt="2025-01-14T02:50:30.206" v="0"/>
      <pc:docMkLst>
        <pc:docMk/>
      </pc:docMkLst>
      <pc:sldChg chg="modNotes">
        <pc:chgData name="RAMESH RAMANUJAM" userId="S::raramesh@in.ibm.com::ded75565-4a73-4d8d-8653-9fb57c77480d" providerId="AD" clId="Web-{6C6BAD9A-0A63-05BF-3691-1C3E90F5B1CA}" dt="2025-01-14T02:50:30.206" v="0"/>
        <pc:sldMkLst>
          <pc:docMk/>
          <pc:sldMk cId="3362534439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46B4C-46E9-4F08-8A6D-568BD87F9A5E}" type="datetimeFigureOut">
              <a:rPr lang="en-IN" smtClean="0"/>
              <a:t>25/04/26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135D4B-AA25-4417-B22E-B1A638509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265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UKBank</a:t>
            </a:r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CC7C5D-DB39-184D-149A-0602E52D29F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TechPartner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confidential.   |     © 2023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TechPartner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Corporation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13012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MLKS</a:t>
            </a:r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85FC42F-660D-C229-080E-2B65A7B6E1F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TechPartner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confidential.   |     © 2023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TechPartner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Corporation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8847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6003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26"/>
            </a:lvl1pPr>
            <a:lvl2pPr marL="457179" indent="0" algn="ctr">
              <a:buNone/>
              <a:defRPr sz="2001"/>
            </a:lvl2pPr>
            <a:lvl3pPr marL="914358" indent="0" algn="ctr">
              <a:buNone/>
              <a:defRPr sz="1819"/>
            </a:lvl3pPr>
            <a:lvl4pPr marL="1371536" indent="0" algn="ctr">
              <a:buNone/>
              <a:defRPr sz="1577"/>
            </a:lvl4pPr>
            <a:lvl5pPr marL="1828715" indent="0" algn="ctr">
              <a:buNone/>
              <a:defRPr sz="1577"/>
            </a:lvl5pPr>
            <a:lvl6pPr marL="2285894" indent="0" algn="ctr">
              <a:buNone/>
              <a:defRPr sz="1577"/>
            </a:lvl6pPr>
            <a:lvl7pPr marL="2743073" indent="0" algn="ctr">
              <a:buNone/>
              <a:defRPr sz="1577"/>
            </a:lvl7pPr>
            <a:lvl8pPr marL="3200252" indent="0" algn="ctr">
              <a:buNone/>
              <a:defRPr sz="1577"/>
            </a:lvl8pPr>
            <a:lvl9pPr marL="3657430" indent="0" algn="ctr">
              <a:buNone/>
              <a:defRPr sz="1577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14F6F-AAF9-2C4D-8293-C260B011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537" y="6356454"/>
            <a:ext cx="2742815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363F4-ADE3-0D4C-B60C-6E31C2A97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49" y="6356454"/>
            <a:ext cx="4114704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err="1"/>
              <a:t>TechPartner</a:t>
            </a:r>
            <a:r>
              <a:rPr lang="en-US" dirty="0"/>
              <a:t> confidential.   |     © 2023 </a:t>
            </a:r>
            <a:r>
              <a:rPr lang="en-US" dirty="0" err="1"/>
              <a:t>TechPartner</a:t>
            </a:r>
            <a:r>
              <a:rPr lang="en-US" dirty="0"/>
              <a:t> Corporation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C1889-9B7A-F942-AB38-2FD357F17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48" y="6356454"/>
            <a:ext cx="2742815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7906D3-42F9-184F-906C-C49D13801F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361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09EBF-9B13-7B42-9AA0-BE354E9C0D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537" y="6356454"/>
            <a:ext cx="2742815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07BA0-9031-9E42-BE20-8FCB0CA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49" y="6356454"/>
            <a:ext cx="4114704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err="1"/>
              <a:t>TechPartner</a:t>
            </a:r>
            <a:r>
              <a:rPr lang="en-US" dirty="0"/>
              <a:t> confidential.   |     © 2023 </a:t>
            </a:r>
            <a:r>
              <a:rPr lang="en-US" dirty="0" err="1"/>
              <a:t>TechPartner</a:t>
            </a:r>
            <a:r>
              <a:rPr lang="en-US" dirty="0"/>
              <a:t> Corporation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DCD77-6D52-CD4E-90A3-A54F20CF4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48" y="6356454"/>
            <a:ext cx="2742815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556737-C970-A343-80D1-468E57B92A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307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3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1pPr>
            <a:lvl2pPr marL="457179" indent="0">
              <a:buNone/>
              <a:defRPr sz="2001">
                <a:solidFill>
                  <a:schemeClr val="tx1">
                    <a:tint val="75000"/>
                  </a:schemeClr>
                </a:solidFill>
              </a:defRPr>
            </a:lvl2pPr>
            <a:lvl3pPr marL="914358" indent="0">
              <a:buNone/>
              <a:defRPr sz="1819">
                <a:solidFill>
                  <a:schemeClr val="tx1">
                    <a:tint val="75000"/>
                  </a:schemeClr>
                </a:solidFill>
              </a:defRPr>
            </a:lvl3pPr>
            <a:lvl4pPr marL="1371536" indent="0">
              <a:buNone/>
              <a:defRPr sz="1577">
                <a:solidFill>
                  <a:schemeClr val="tx1">
                    <a:tint val="75000"/>
                  </a:schemeClr>
                </a:solidFill>
              </a:defRPr>
            </a:lvl4pPr>
            <a:lvl5pPr marL="1828715" indent="0">
              <a:buNone/>
              <a:defRPr sz="1577">
                <a:solidFill>
                  <a:schemeClr val="tx1">
                    <a:tint val="75000"/>
                  </a:schemeClr>
                </a:solidFill>
              </a:defRPr>
            </a:lvl5pPr>
            <a:lvl6pPr marL="2285894" indent="0">
              <a:buNone/>
              <a:defRPr sz="1577">
                <a:solidFill>
                  <a:schemeClr val="tx1">
                    <a:tint val="75000"/>
                  </a:schemeClr>
                </a:solidFill>
              </a:defRPr>
            </a:lvl6pPr>
            <a:lvl7pPr marL="2743073" indent="0">
              <a:buNone/>
              <a:defRPr sz="1577">
                <a:solidFill>
                  <a:schemeClr val="tx1">
                    <a:tint val="75000"/>
                  </a:schemeClr>
                </a:solidFill>
              </a:defRPr>
            </a:lvl7pPr>
            <a:lvl8pPr marL="3200252" indent="0">
              <a:buNone/>
              <a:defRPr sz="1577">
                <a:solidFill>
                  <a:schemeClr val="tx1">
                    <a:tint val="75000"/>
                  </a:schemeClr>
                </a:solidFill>
              </a:defRPr>
            </a:lvl8pPr>
            <a:lvl9pPr marL="3657430" indent="0">
              <a:buNone/>
              <a:defRPr sz="15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BAF9D-6FDB-3F4B-87A6-8728127F62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537" y="6356454"/>
            <a:ext cx="2742815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5B8D1-A175-364E-B907-784D16269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49" y="6356454"/>
            <a:ext cx="4114704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err="1"/>
              <a:t>TechPartner</a:t>
            </a:r>
            <a:r>
              <a:rPr lang="en-US" dirty="0"/>
              <a:t> confidential.   |     © 2023 </a:t>
            </a:r>
            <a:r>
              <a:rPr lang="en-US" dirty="0" err="1"/>
              <a:t>TechPartner</a:t>
            </a:r>
            <a:r>
              <a:rPr lang="en-US" dirty="0"/>
              <a:t> Corporation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A8643-8641-724F-A0B2-A0D754680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48" y="6356454"/>
            <a:ext cx="2742815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5A7D0F-38B9-DA4D-9924-C7CAE893AA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491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1093E24-C502-8B4E-AFBA-580413369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537" y="6356454"/>
            <a:ext cx="2742815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3B70553-82DE-1846-A885-7CA9FA485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49" y="6356454"/>
            <a:ext cx="4114704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err="1"/>
              <a:t>TechPartner</a:t>
            </a:r>
            <a:r>
              <a:rPr lang="en-US" dirty="0"/>
              <a:t> confidential.   |     © 2023 </a:t>
            </a:r>
            <a:r>
              <a:rPr lang="en-US" dirty="0" err="1"/>
              <a:t>TechPartner</a:t>
            </a:r>
            <a:r>
              <a:rPr lang="en-US" dirty="0"/>
              <a:t> Corporation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A589894-FBDF-AE45-A173-34765CC41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48" y="6356454"/>
            <a:ext cx="2742815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7A2E06-71AB-8940-B8F6-3F448EEA61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78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26" b="1"/>
            </a:lvl1pPr>
            <a:lvl2pPr marL="457179" indent="0">
              <a:buNone/>
              <a:defRPr sz="2001" b="1"/>
            </a:lvl2pPr>
            <a:lvl3pPr marL="914358" indent="0">
              <a:buNone/>
              <a:defRPr sz="1819" b="1"/>
            </a:lvl3pPr>
            <a:lvl4pPr marL="1371536" indent="0">
              <a:buNone/>
              <a:defRPr sz="1577" b="1"/>
            </a:lvl4pPr>
            <a:lvl5pPr marL="1828715" indent="0">
              <a:buNone/>
              <a:defRPr sz="1577" b="1"/>
            </a:lvl5pPr>
            <a:lvl6pPr marL="2285894" indent="0">
              <a:buNone/>
              <a:defRPr sz="1577" b="1"/>
            </a:lvl6pPr>
            <a:lvl7pPr marL="2743073" indent="0">
              <a:buNone/>
              <a:defRPr sz="1577" b="1"/>
            </a:lvl7pPr>
            <a:lvl8pPr marL="3200252" indent="0">
              <a:buNone/>
              <a:defRPr sz="1577" b="1"/>
            </a:lvl8pPr>
            <a:lvl9pPr marL="3657430" indent="0">
              <a:buNone/>
              <a:defRPr sz="157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26" b="1"/>
            </a:lvl1pPr>
            <a:lvl2pPr marL="457179" indent="0">
              <a:buNone/>
              <a:defRPr sz="2001" b="1"/>
            </a:lvl2pPr>
            <a:lvl3pPr marL="914358" indent="0">
              <a:buNone/>
              <a:defRPr sz="1819" b="1"/>
            </a:lvl3pPr>
            <a:lvl4pPr marL="1371536" indent="0">
              <a:buNone/>
              <a:defRPr sz="1577" b="1"/>
            </a:lvl4pPr>
            <a:lvl5pPr marL="1828715" indent="0">
              <a:buNone/>
              <a:defRPr sz="1577" b="1"/>
            </a:lvl5pPr>
            <a:lvl6pPr marL="2285894" indent="0">
              <a:buNone/>
              <a:defRPr sz="1577" b="1"/>
            </a:lvl6pPr>
            <a:lvl7pPr marL="2743073" indent="0">
              <a:buNone/>
              <a:defRPr sz="1577" b="1"/>
            </a:lvl7pPr>
            <a:lvl8pPr marL="3200252" indent="0">
              <a:buNone/>
              <a:defRPr sz="1577" b="1"/>
            </a:lvl8pPr>
            <a:lvl9pPr marL="3657430" indent="0">
              <a:buNone/>
              <a:defRPr sz="157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351764C-FF69-4D42-9E57-E589AB7886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537" y="6356454"/>
            <a:ext cx="2742815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C9EF5BA-6B1C-B241-BB6A-38946B2EF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49" y="6356454"/>
            <a:ext cx="4114704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err="1"/>
              <a:t>TechPartner</a:t>
            </a:r>
            <a:r>
              <a:rPr lang="en-US" dirty="0"/>
              <a:t> confidential.   |     © 2023 </a:t>
            </a:r>
            <a:r>
              <a:rPr lang="en-US" dirty="0" err="1"/>
              <a:t>TechPartner</a:t>
            </a:r>
            <a:r>
              <a:rPr lang="en-US" dirty="0"/>
              <a:t> Corporation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95A91B4-96B1-4A4D-A745-076C61BA8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48" y="6356454"/>
            <a:ext cx="2742815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51214C-B545-4D45-93C5-41BC390075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58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ABDCA78-73AD-904B-BC0F-578893D420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537" y="6356454"/>
            <a:ext cx="2742815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4197D8B-A0CF-A744-9025-741458E8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49" y="6356454"/>
            <a:ext cx="4114704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err="1"/>
              <a:t>TechPartner</a:t>
            </a:r>
            <a:r>
              <a:rPr lang="en-US" dirty="0"/>
              <a:t> confidential.   |     © 2023 </a:t>
            </a:r>
            <a:r>
              <a:rPr lang="en-US" dirty="0" err="1"/>
              <a:t>TechPartner</a:t>
            </a:r>
            <a:r>
              <a:rPr lang="en-US" dirty="0"/>
              <a:t> Corporation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B482B4F-BC40-CD49-981F-DB91D6A3F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48" y="6356454"/>
            <a:ext cx="2742815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85BC1C-FA13-E848-BAF6-E1360D1514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455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D27C9AB-5809-C442-AEB9-63CB0C5848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537" y="6356454"/>
            <a:ext cx="2742815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29F3265-F9C9-1D41-AA83-1C07A683E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49" y="6356454"/>
            <a:ext cx="4114704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err="1"/>
              <a:t>TechPartner</a:t>
            </a:r>
            <a:r>
              <a:rPr lang="en-US" dirty="0"/>
              <a:t> confidential.   |     © 2023 </a:t>
            </a:r>
            <a:r>
              <a:rPr lang="en-US" dirty="0" err="1"/>
              <a:t>TechPartner</a:t>
            </a:r>
            <a:r>
              <a:rPr lang="en-US" dirty="0"/>
              <a:t> Corporation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8784C23-02E9-8644-946E-DA6ABB000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48" y="6356454"/>
            <a:ext cx="2742815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EB1FDA-466E-9B43-8AF5-43DAE16650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736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14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14"/>
            </a:lvl1pPr>
            <a:lvl2pPr>
              <a:defRPr sz="2789"/>
            </a:lvl2pPr>
            <a:lvl3pPr>
              <a:defRPr sz="2426"/>
            </a:lvl3pPr>
            <a:lvl4pPr>
              <a:defRPr sz="2001"/>
            </a:lvl4pPr>
            <a:lvl5pPr>
              <a:defRPr sz="2001"/>
            </a:lvl5pPr>
            <a:lvl6pPr>
              <a:defRPr sz="2001"/>
            </a:lvl6pPr>
            <a:lvl7pPr>
              <a:defRPr sz="2001"/>
            </a:lvl7pPr>
            <a:lvl8pPr>
              <a:defRPr sz="2001"/>
            </a:lvl8pPr>
            <a:lvl9pPr>
              <a:defRPr sz="2001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577"/>
            </a:lvl1pPr>
            <a:lvl2pPr marL="457179" indent="0">
              <a:buNone/>
              <a:defRPr sz="1395"/>
            </a:lvl2pPr>
            <a:lvl3pPr marL="914358" indent="0">
              <a:buNone/>
              <a:defRPr sz="1213"/>
            </a:lvl3pPr>
            <a:lvl4pPr marL="1371536" indent="0">
              <a:buNone/>
              <a:defRPr sz="970"/>
            </a:lvl4pPr>
            <a:lvl5pPr marL="1828715" indent="0">
              <a:buNone/>
              <a:defRPr sz="970"/>
            </a:lvl5pPr>
            <a:lvl6pPr marL="2285894" indent="0">
              <a:buNone/>
              <a:defRPr sz="970"/>
            </a:lvl6pPr>
            <a:lvl7pPr marL="2743073" indent="0">
              <a:buNone/>
              <a:defRPr sz="970"/>
            </a:lvl7pPr>
            <a:lvl8pPr marL="3200252" indent="0">
              <a:buNone/>
              <a:defRPr sz="970"/>
            </a:lvl8pPr>
            <a:lvl9pPr marL="3657430" indent="0">
              <a:buNone/>
              <a:defRPr sz="97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90D8C4E-6C2D-CB4E-8604-2A9EDA4C6F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537" y="6356454"/>
            <a:ext cx="2742815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88991F3-4F12-D54C-9373-2E410DF7B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49" y="6356454"/>
            <a:ext cx="4114704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err="1"/>
              <a:t>TechPartner</a:t>
            </a:r>
            <a:r>
              <a:rPr lang="en-US" dirty="0"/>
              <a:t> confidential.   |     © 2023 </a:t>
            </a:r>
            <a:r>
              <a:rPr lang="en-US" dirty="0" err="1"/>
              <a:t>TechPartner</a:t>
            </a:r>
            <a:r>
              <a:rPr lang="en-US" dirty="0"/>
              <a:t> Corporation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ED7CCCE-1CAA-FF45-A49D-A81B47A48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48" y="6356454"/>
            <a:ext cx="2742815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45A5AD-48E7-154A-98AA-698E7D8585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526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14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14"/>
            </a:lvl1pPr>
            <a:lvl2pPr marL="457179" indent="0">
              <a:buNone/>
              <a:defRPr sz="2789"/>
            </a:lvl2pPr>
            <a:lvl3pPr marL="914358" indent="0">
              <a:buNone/>
              <a:defRPr sz="2426"/>
            </a:lvl3pPr>
            <a:lvl4pPr marL="1371536" indent="0">
              <a:buNone/>
              <a:defRPr sz="2001"/>
            </a:lvl4pPr>
            <a:lvl5pPr marL="1828715" indent="0">
              <a:buNone/>
              <a:defRPr sz="2001"/>
            </a:lvl5pPr>
            <a:lvl6pPr marL="2285894" indent="0">
              <a:buNone/>
              <a:defRPr sz="2001"/>
            </a:lvl6pPr>
            <a:lvl7pPr marL="2743073" indent="0">
              <a:buNone/>
              <a:defRPr sz="2001"/>
            </a:lvl7pPr>
            <a:lvl8pPr marL="3200252" indent="0">
              <a:buNone/>
              <a:defRPr sz="2001"/>
            </a:lvl8pPr>
            <a:lvl9pPr marL="3657430" indent="0">
              <a:buNone/>
              <a:defRPr sz="2001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577"/>
            </a:lvl1pPr>
            <a:lvl2pPr marL="457179" indent="0">
              <a:buNone/>
              <a:defRPr sz="1395"/>
            </a:lvl2pPr>
            <a:lvl3pPr marL="914358" indent="0">
              <a:buNone/>
              <a:defRPr sz="1213"/>
            </a:lvl3pPr>
            <a:lvl4pPr marL="1371536" indent="0">
              <a:buNone/>
              <a:defRPr sz="970"/>
            </a:lvl4pPr>
            <a:lvl5pPr marL="1828715" indent="0">
              <a:buNone/>
              <a:defRPr sz="970"/>
            </a:lvl5pPr>
            <a:lvl6pPr marL="2285894" indent="0">
              <a:buNone/>
              <a:defRPr sz="970"/>
            </a:lvl6pPr>
            <a:lvl7pPr marL="2743073" indent="0">
              <a:buNone/>
              <a:defRPr sz="970"/>
            </a:lvl7pPr>
            <a:lvl8pPr marL="3200252" indent="0">
              <a:buNone/>
              <a:defRPr sz="970"/>
            </a:lvl8pPr>
            <a:lvl9pPr marL="3657430" indent="0">
              <a:buNone/>
              <a:defRPr sz="97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1B09A51-8C47-EF46-8BAD-41607B3D9C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537" y="6356454"/>
            <a:ext cx="2742815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D3BF0A3-5074-D340-A2CC-F2CAFD28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49" y="6356454"/>
            <a:ext cx="4114704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err="1"/>
              <a:t>TechPartner</a:t>
            </a:r>
            <a:r>
              <a:rPr lang="en-US" dirty="0"/>
              <a:t> confidential.   |     © 2023 </a:t>
            </a:r>
            <a:r>
              <a:rPr lang="en-US" dirty="0" err="1"/>
              <a:t>TechPartner</a:t>
            </a:r>
            <a:r>
              <a:rPr lang="en-US" dirty="0"/>
              <a:t> Corporation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F4C6FF-FBD5-D944-AA47-E475AE798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48" y="6356454"/>
            <a:ext cx="2742815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2D1CED-62E3-6548-B7C3-CC1EFCD32E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38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3EA13-D33A-644A-8C81-AE26A57803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537" y="6356454"/>
            <a:ext cx="2742815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84728-3788-EE49-8932-CC5ECA9B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49" y="6356454"/>
            <a:ext cx="4114704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err="1"/>
              <a:t>TechPartner</a:t>
            </a:r>
            <a:r>
              <a:rPr lang="en-US" dirty="0"/>
              <a:t> confidential.   |     © 2023 </a:t>
            </a:r>
            <a:r>
              <a:rPr lang="en-US" dirty="0" err="1"/>
              <a:t>TechPartner</a:t>
            </a:r>
            <a:r>
              <a:rPr lang="en-US" dirty="0"/>
              <a:t> Corporation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B7650-7EEB-9942-87EA-527683032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48" y="6356454"/>
            <a:ext cx="2742815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83155F-E97A-F34B-AE5C-1DD558CB8F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352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76A6B-B3A4-F54B-9605-3350D72940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537" y="6356454"/>
            <a:ext cx="2742815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3D467-7470-F345-9ABD-8DFCD8B75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49" y="6356454"/>
            <a:ext cx="4114704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err="1"/>
              <a:t>TechPartner</a:t>
            </a:r>
            <a:r>
              <a:rPr lang="en-US" dirty="0"/>
              <a:t> confidential.   |     © 2023 </a:t>
            </a:r>
            <a:r>
              <a:rPr lang="en-US" dirty="0" err="1"/>
              <a:t>TechPartner</a:t>
            </a:r>
            <a:r>
              <a:rPr lang="en-US" dirty="0"/>
              <a:t> Corporation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CA061-8E5B-3642-8B32-07B74D6F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48" y="6356454"/>
            <a:ext cx="2742815" cy="3648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193735-02B3-4F49-AD97-E24326CC0D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-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3"/>
          <p:cNvSpPr>
            <a:spLocks noGrp="1"/>
          </p:cNvSpPr>
          <p:nvPr>
            <p:ph type="body" sz="quarter" idx="12"/>
          </p:nvPr>
        </p:nvSpPr>
        <p:spPr>
          <a:xfrm>
            <a:off x="379049" y="6298148"/>
            <a:ext cx="5486400" cy="102494"/>
          </a:xfrm>
        </p:spPr>
        <p:txBody>
          <a:bodyPr tIns="0" anchor="b"/>
          <a:lstStyle>
            <a:lvl1pPr>
              <a:defRPr lang="en-US" sz="667" b="0" i="0" kern="1200" dirty="0">
                <a:solidFill>
                  <a:schemeClr val="tx1">
                    <a:alpha val="70000"/>
                  </a:schemeClr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  <a:lvl2pPr>
              <a:defRPr sz="728"/>
            </a:lvl2pPr>
            <a:lvl3pPr>
              <a:defRPr sz="728"/>
            </a:lvl3pPr>
            <a:lvl4pPr>
              <a:defRPr sz="728"/>
            </a:lvl4pPr>
            <a:lvl5pPr>
              <a:defRPr sz="728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1000" y="50191"/>
            <a:ext cx="5486400" cy="288476"/>
          </a:xfrm>
        </p:spPr>
        <p:txBody>
          <a:bodyPr tIns="0" anchor="ctr">
            <a:noAutofit/>
          </a:bodyPr>
          <a:lstStyle>
            <a:lvl1pPr>
              <a:defRPr sz="1152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 sz="1334">
                <a:solidFill>
                  <a:schemeClr val="accent1"/>
                </a:solidFill>
              </a:defRPr>
            </a:lvl2pPr>
            <a:lvl3pPr>
              <a:defRPr sz="1334">
                <a:solidFill>
                  <a:schemeClr val="accent1"/>
                </a:solidFill>
              </a:defRPr>
            </a:lvl3pPr>
            <a:lvl4pPr>
              <a:defRPr sz="1334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81000" y="457359"/>
            <a:ext cx="11430000" cy="847827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>
              <a:defRPr sz="2668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47736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-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C1107FF5-1C0A-6B4C-B2FC-3E0BADC0BC26}"/>
              </a:ext>
            </a:extLst>
          </p:cNvPr>
          <p:cNvSpPr txBox="1">
            <a:spLocks/>
          </p:cNvSpPr>
          <p:nvPr userDrawn="1"/>
        </p:nvSpPr>
        <p:spPr>
          <a:xfrm>
            <a:off x="9525241" y="6476786"/>
            <a:ext cx="2285519" cy="381214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685768" fontAlgn="auto">
              <a:spcBef>
                <a:spcPts val="0"/>
              </a:spcBef>
              <a:spcAft>
                <a:spcPts val="0"/>
              </a:spcAft>
              <a:defRPr/>
            </a:pPr>
            <a:fld id="{D369C997-1815-3E46-88B9-875EE044EB36}" type="slidenum">
              <a:rPr lang="en-US" sz="728" smtClean="0">
                <a:solidFill>
                  <a:prstClr val="black"/>
                </a:solidFill>
                <a:latin typeface="IBM Plex Sans Light" panose="020B0403050203000203" pitchFamily="34" charset="77"/>
                <a:ea typeface="IBM Plex Sans" charset="0"/>
                <a:cs typeface="IBM Plex Sans" charset="0"/>
              </a:rPr>
              <a:pPr algn="r" defTabSz="68576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728" dirty="0">
              <a:solidFill>
                <a:prstClr val="black"/>
              </a:solidFill>
              <a:latin typeface="IBM Plex Sans Light" panose="020B0403050203000203" pitchFamily="34" charset="77"/>
              <a:ea typeface="IBM Plex Sans" charset="0"/>
              <a:cs typeface="IBM Plex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564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E2CFC4EC-3801-EA4C-98F5-DB716E396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172A0-A1F8-38D4-097F-8003C9847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73328" y="6379645"/>
            <a:ext cx="2844800" cy="366183"/>
          </a:xfrm>
          <a:prstGeom prst="rect">
            <a:avLst/>
          </a:prstGeom>
        </p:spPr>
        <p:txBody>
          <a:bodyPr vert="horz" lIns="68557" tIns="34286" rIns="68557" bIns="34286" rtlCol="0" anchor="ctr"/>
          <a:lstStyle>
            <a:lvl1pPr algn="r" defTabSz="913992" fontAlgn="auto">
              <a:spcBef>
                <a:spcPts val="0"/>
              </a:spcBef>
              <a:spcAft>
                <a:spcPts val="0"/>
              </a:spcAft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1532031-6A7D-483A-A066-0D4C829E5C9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6F2A334-BF8C-AC86-87E2-8C02419CD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6210" y="6403976"/>
            <a:ext cx="5340625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x-none" sz="1400" dirty="0" err="1">
                <a:latin typeface="Arial" charset="0"/>
                <a:ea typeface="Arial" charset="0"/>
                <a:cs typeface="Arial" charset="0"/>
              </a:rPr>
              <a:t>TechPartner</a:t>
            </a:r>
            <a:r>
              <a:rPr lang="en-US" altLang="x-none" sz="1400" dirty="0">
                <a:latin typeface="Arial" charset="0"/>
                <a:ea typeface="Arial" charset="0"/>
                <a:cs typeface="Arial" charset="0"/>
              </a:rPr>
              <a:t> confidential.   |     © 2023 </a:t>
            </a:r>
            <a:r>
              <a:rPr lang="en-US" altLang="x-none" sz="1400" dirty="0" err="1">
                <a:latin typeface="Arial" charset="0"/>
                <a:ea typeface="Arial" charset="0"/>
                <a:cs typeface="Arial" charset="0"/>
              </a:rPr>
              <a:t>TechPartner</a:t>
            </a:r>
            <a:r>
              <a:rPr lang="en-US" altLang="x-none" sz="1400" dirty="0">
                <a:latin typeface="Arial" charset="0"/>
                <a:ea typeface="Arial" charset="0"/>
                <a:cs typeface="Arial" charset="0"/>
              </a:rPr>
              <a:t> Corporation</a:t>
            </a:r>
          </a:p>
        </p:txBody>
      </p:sp>
    </p:spTree>
    <p:extLst>
      <p:ext uri="{BB962C8B-B14F-4D97-AF65-F5344CB8AC3E}">
        <p14:creationId xmlns:p14="http://schemas.microsoft.com/office/powerpoint/2010/main" val="23829126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E2CFC4EC-3801-EA4C-98F5-DB716E396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172A0-A1F8-38D4-097F-8003C9847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73328" y="6379645"/>
            <a:ext cx="2844800" cy="366183"/>
          </a:xfrm>
          <a:prstGeom prst="rect">
            <a:avLst/>
          </a:prstGeom>
        </p:spPr>
        <p:txBody>
          <a:bodyPr vert="horz" lIns="68557" tIns="34286" rIns="68557" bIns="34286" rtlCol="0" anchor="ctr"/>
          <a:lstStyle>
            <a:lvl1pPr algn="r" defTabSz="913992" fontAlgn="auto">
              <a:spcBef>
                <a:spcPts val="0"/>
              </a:spcBef>
              <a:spcAft>
                <a:spcPts val="0"/>
              </a:spcAft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1532031-6A7D-483A-A066-0D4C829E5C9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6F2A334-BF8C-AC86-87E2-8C02419CD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6210" y="6403976"/>
            <a:ext cx="5340625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x-none" sz="1400" dirty="0" err="1">
                <a:latin typeface="Arial" charset="0"/>
                <a:ea typeface="Arial" charset="0"/>
                <a:cs typeface="Arial" charset="0"/>
              </a:rPr>
              <a:t>TechPartner</a:t>
            </a:r>
            <a:r>
              <a:rPr lang="en-US" altLang="x-none" sz="1400" dirty="0">
                <a:latin typeface="Arial" charset="0"/>
                <a:ea typeface="Arial" charset="0"/>
                <a:cs typeface="Arial" charset="0"/>
              </a:rPr>
              <a:t> confidential.   |     © 2023 </a:t>
            </a:r>
            <a:r>
              <a:rPr lang="en-US" altLang="x-none" sz="1400" dirty="0" err="1">
                <a:latin typeface="Arial" charset="0"/>
                <a:ea typeface="Arial" charset="0"/>
                <a:cs typeface="Arial" charset="0"/>
              </a:rPr>
              <a:t>TechPartner</a:t>
            </a:r>
            <a:r>
              <a:rPr lang="en-US" altLang="x-none" sz="1400" dirty="0">
                <a:latin typeface="Arial" charset="0"/>
                <a:ea typeface="Arial" charset="0"/>
                <a:cs typeface="Arial" charset="0"/>
              </a:rPr>
              <a:t> Corporation</a:t>
            </a:r>
          </a:p>
        </p:txBody>
      </p:sp>
    </p:spTree>
    <p:extLst>
      <p:ext uri="{BB962C8B-B14F-4D97-AF65-F5344CB8AC3E}">
        <p14:creationId xmlns:p14="http://schemas.microsoft.com/office/powerpoint/2010/main" val="674870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E2CFC4EC-3801-EA4C-98F5-DB716E396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172A0-A1F8-38D4-097F-8003C9847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73328" y="6379645"/>
            <a:ext cx="2844800" cy="366183"/>
          </a:xfrm>
          <a:prstGeom prst="rect">
            <a:avLst/>
          </a:prstGeom>
        </p:spPr>
        <p:txBody>
          <a:bodyPr vert="horz" lIns="68557" tIns="34286" rIns="68557" bIns="34286" rtlCol="0" anchor="ctr"/>
          <a:lstStyle>
            <a:lvl1pPr algn="r" defTabSz="913992" fontAlgn="auto">
              <a:spcBef>
                <a:spcPts val="0"/>
              </a:spcBef>
              <a:spcAft>
                <a:spcPts val="0"/>
              </a:spcAft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1532031-6A7D-483A-A066-0D4C829E5C9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6F2A334-BF8C-AC86-87E2-8C02419CD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6210" y="6403976"/>
            <a:ext cx="5340625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x-none" sz="1400" dirty="0" err="1">
                <a:latin typeface="Arial" charset="0"/>
                <a:ea typeface="Arial" charset="0"/>
                <a:cs typeface="Arial" charset="0"/>
              </a:rPr>
              <a:t>TechPartner</a:t>
            </a:r>
            <a:r>
              <a:rPr lang="en-US" altLang="x-none" sz="1400" dirty="0">
                <a:latin typeface="Arial" charset="0"/>
                <a:ea typeface="Arial" charset="0"/>
                <a:cs typeface="Arial" charset="0"/>
              </a:rPr>
              <a:t> confidential.   |     © 2023 </a:t>
            </a:r>
            <a:r>
              <a:rPr lang="en-US" altLang="x-none" sz="1400" dirty="0" err="1">
                <a:latin typeface="Arial" charset="0"/>
                <a:ea typeface="Arial" charset="0"/>
                <a:cs typeface="Arial" charset="0"/>
              </a:rPr>
              <a:t>TechPartner</a:t>
            </a:r>
            <a:r>
              <a:rPr lang="en-US" altLang="x-none" sz="1400" dirty="0">
                <a:latin typeface="Arial" charset="0"/>
                <a:ea typeface="Arial" charset="0"/>
                <a:cs typeface="Arial" charset="0"/>
              </a:rPr>
              <a:t> Corporation</a:t>
            </a:r>
          </a:p>
        </p:txBody>
      </p:sp>
    </p:spTree>
    <p:extLst>
      <p:ext uri="{BB962C8B-B14F-4D97-AF65-F5344CB8AC3E}">
        <p14:creationId xmlns:p14="http://schemas.microsoft.com/office/powerpoint/2010/main" val="21140188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E2CFC4EC-3801-EA4C-98F5-DB716E396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172A0-A1F8-38D4-097F-8003C9847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73328" y="6379645"/>
            <a:ext cx="2844800" cy="366183"/>
          </a:xfrm>
          <a:prstGeom prst="rect">
            <a:avLst/>
          </a:prstGeom>
        </p:spPr>
        <p:txBody>
          <a:bodyPr vert="horz" lIns="68557" tIns="34286" rIns="68557" bIns="34286" rtlCol="0" anchor="ctr"/>
          <a:lstStyle>
            <a:lvl1pPr algn="r" defTabSz="913992" fontAlgn="auto">
              <a:spcBef>
                <a:spcPts val="0"/>
              </a:spcBef>
              <a:spcAft>
                <a:spcPts val="0"/>
              </a:spcAft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1532031-6A7D-483A-A066-0D4C829E5C9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6F2A334-BF8C-AC86-87E2-8C02419CD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6210" y="6403976"/>
            <a:ext cx="5340625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x-none" sz="1400" dirty="0" err="1">
                <a:latin typeface="Arial" charset="0"/>
                <a:ea typeface="Arial" charset="0"/>
                <a:cs typeface="Arial" charset="0"/>
              </a:rPr>
              <a:t>TechPartner</a:t>
            </a:r>
            <a:r>
              <a:rPr lang="en-US" altLang="x-none" sz="1400" dirty="0">
                <a:latin typeface="Arial" charset="0"/>
                <a:ea typeface="Arial" charset="0"/>
                <a:cs typeface="Arial" charset="0"/>
              </a:rPr>
              <a:t> confidential.   |     © 2023 </a:t>
            </a:r>
            <a:r>
              <a:rPr lang="en-US" altLang="x-none" sz="1400" dirty="0" err="1">
                <a:latin typeface="Arial" charset="0"/>
                <a:ea typeface="Arial" charset="0"/>
                <a:cs typeface="Arial" charset="0"/>
              </a:rPr>
              <a:t>TechPartner</a:t>
            </a:r>
            <a:r>
              <a:rPr lang="en-US" altLang="x-none" sz="1400" dirty="0">
                <a:latin typeface="Arial" charset="0"/>
                <a:ea typeface="Arial" charset="0"/>
                <a:cs typeface="Arial" charset="0"/>
              </a:rPr>
              <a:t> Corporation</a:t>
            </a:r>
          </a:p>
        </p:txBody>
      </p:sp>
    </p:spTree>
    <p:extLst>
      <p:ext uri="{BB962C8B-B14F-4D97-AF65-F5344CB8AC3E}">
        <p14:creationId xmlns:p14="http://schemas.microsoft.com/office/powerpoint/2010/main" val="33925561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E2CFC4EC-3801-EA4C-98F5-DB716E396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172A0-A1F8-38D4-097F-8003C9847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73328" y="6379645"/>
            <a:ext cx="2844800" cy="366183"/>
          </a:xfrm>
          <a:prstGeom prst="rect">
            <a:avLst/>
          </a:prstGeom>
        </p:spPr>
        <p:txBody>
          <a:bodyPr vert="horz" lIns="68557" tIns="34286" rIns="68557" bIns="34286" rtlCol="0" anchor="ctr"/>
          <a:lstStyle>
            <a:lvl1pPr algn="r" defTabSz="913992" fontAlgn="auto">
              <a:spcBef>
                <a:spcPts val="0"/>
              </a:spcBef>
              <a:spcAft>
                <a:spcPts val="0"/>
              </a:spcAft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1532031-6A7D-483A-A066-0D4C829E5C9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6F2A334-BF8C-AC86-87E2-8C02419CD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6210" y="6403976"/>
            <a:ext cx="5340625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x-none" sz="1400" dirty="0" err="1">
                <a:latin typeface="Arial" charset="0"/>
                <a:ea typeface="Arial" charset="0"/>
                <a:cs typeface="Arial" charset="0"/>
              </a:rPr>
              <a:t>TechPartner</a:t>
            </a:r>
            <a:r>
              <a:rPr lang="en-US" altLang="x-none" sz="1400" dirty="0">
                <a:latin typeface="Arial" charset="0"/>
                <a:ea typeface="Arial" charset="0"/>
                <a:cs typeface="Arial" charset="0"/>
              </a:rPr>
              <a:t> confidential.   |     © 2023 </a:t>
            </a:r>
            <a:r>
              <a:rPr lang="en-US" altLang="x-none" sz="1400" dirty="0" err="1">
                <a:latin typeface="Arial" charset="0"/>
                <a:ea typeface="Arial" charset="0"/>
                <a:cs typeface="Arial" charset="0"/>
              </a:rPr>
              <a:t>TechPartner</a:t>
            </a:r>
            <a:r>
              <a:rPr lang="en-US" altLang="x-none" sz="1400" dirty="0">
                <a:latin typeface="Arial" charset="0"/>
                <a:ea typeface="Arial" charset="0"/>
                <a:cs typeface="Arial" charset="0"/>
              </a:rPr>
              <a:t> Corporation</a:t>
            </a:r>
          </a:p>
        </p:txBody>
      </p:sp>
    </p:spTree>
    <p:extLst>
      <p:ext uri="{BB962C8B-B14F-4D97-AF65-F5344CB8AC3E}">
        <p14:creationId xmlns:p14="http://schemas.microsoft.com/office/powerpoint/2010/main" val="15031889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 Sided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20941E8-E380-FD4C-8703-69F9081640F7}"/>
              </a:ext>
            </a:extLst>
          </p:cNvPr>
          <p:cNvSpPr/>
          <p:nvPr userDrawn="1"/>
        </p:nvSpPr>
        <p:spPr bwMode="auto">
          <a:xfrm>
            <a:off x="0" y="306"/>
            <a:ext cx="12192000" cy="914094"/>
          </a:xfrm>
          <a:prstGeom prst="rect">
            <a:avLst/>
          </a:prstGeom>
          <a:solidFill>
            <a:schemeClr val="accent5">
              <a:lumMod val="1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defTabSz="914377"/>
            <a:endParaRPr lang="en-CA" sz="2000" dirty="0">
              <a:latin typeface="IBM Plex Sans Condensed Light" panose="020B040605020300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DC2035-E34E-B847-9A11-8DAC0CA14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62" y="60477"/>
            <a:ext cx="10955203" cy="793751"/>
          </a:xfrm>
        </p:spPr>
        <p:txBody>
          <a:bodyPr anchor="ctr"/>
          <a:lstStyle>
            <a:lvl1pPr>
              <a:defRPr sz="2000">
                <a:solidFill>
                  <a:schemeClr val="bg1"/>
                </a:solidFill>
                <a:latin typeface="IBM Plex Sans" panose="020B0503050000000000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127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Title Placeholder 1">
            <a:extLst>
              <a:ext uri="{FF2B5EF4-FFF2-40B4-BE49-F238E27FC236}">
                <a16:creationId xmlns:a16="http://schemas.microsoft.com/office/drawing/2014/main" id="{D8D49074-EA80-204A-95AE-810BEC2F3F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538" y="364850"/>
            <a:ext cx="10514926" cy="1325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226307" name="Text Placeholder 2">
            <a:extLst>
              <a:ext uri="{FF2B5EF4-FFF2-40B4-BE49-F238E27FC236}">
                <a16:creationId xmlns:a16="http://schemas.microsoft.com/office/drawing/2014/main" id="{18C57C44-3CFE-594E-B1C5-77DD70B7F6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538" y="1825206"/>
            <a:ext cx="10514926" cy="4352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2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hdr="0" dt="0"/>
  <p:txStyles>
    <p:titleStyle>
      <a:lvl1pPr algn="l" defTabSz="913565" rtl="0" fontAlgn="base">
        <a:lnSpc>
          <a:spcPct val="90000"/>
        </a:lnSpc>
        <a:spcBef>
          <a:spcPct val="0"/>
        </a:spcBef>
        <a:spcAft>
          <a:spcPct val="0"/>
        </a:spcAft>
        <a:defRPr sz="4427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913565" rtl="0" fontAlgn="base">
        <a:lnSpc>
          <a:spcPct val="90000"/>
        </a:lnSpc>
        <a:spcBef>
          <a:spcPct val="0"/>
        </a:spcBef>
        <a:spcAft>
          <a:spcPct val="0"/>
        </a:spcAft>
        <a:defRPr sz="4427">
          <a:solidFill>
            <a:schemeClr val="tx1"/>
          </a:solidFill>
          <a:latin typeface="Calibri Light" panose="020F0302020204030204" pitchFamily="34" charset="0"/>
        </a:defRPr>
      </a:lvl2pPr>
      <a:lvl3pPr algn="l" defTabSz="913565" rtl="0" fontAlgn="base">
        <a:lnSpc>
          <a:spcPct val="90000"/>
        </a:lnSpc>
        <a:spcBef>
          <a:spcPct val="0"/>
        </a:spcBef>
        <a:spcAft>
          <a:spcPct val="0"/>
        </a:spcAft>
        <a:defRPr sz="4427">
          <a:solidFill>
            <a:schemeClr val="tx1"/>
          </a:solidFill>
          <a:latin typeface="Calibri Light" panose="020F0302020204030204" pitchFamily="34" charset="0"/>
        </a:defRPr>
      </a:lvl3pPr>
      <a:lvl4pPr algn="l" defTabSz="913565" rtl="0" fontAlgn="base">
        <a:lnSpc>
          <a:spcPct val="90000"/>
        </a:lnSpc>
        <a:spcBef>
          <a:spcPct val="0"/>
        </a:spcBef>
        <a:spcAft>
          <a:spcPct val="0"/>
        </a:spcAft>
        <a:defRPr sz="4427">
          <a:solidFill>
            <a:schemeClr val="tx1"/>
          </a:solidFill>
          <a:latin typeface="Calibri Light" panose="020F0302020204030204" pitchFamily="34" charset="0"/>
        </a:defRPr>
      </a:lvl4pPr>
      <a:lvl5pPr algn="l" defTabSz="913565" rtl="0" fontAlgn="base">
        <a:lnSpc>
          <a:spcPct val="90000"/>
        </a:lnSpc>
        <a:spcBef>
          <a:spcPct val="0"/>
        </a:spcBef>
        <a:spcAft>
          <a:spcPct val="0"/>
        </a:spcAft>
        <a:defRPr sz="4427">
          <a:solidFill>
            <a:schemeClr val="tx1"/>
          </a:solidFill>
          <a:latin typeface="Calibri Light" panose="020F0302020204030204" pitchFamily="34" charset="0"/>
        </a:defRPr>
      </a:lvl5pPr>
      <a:lvl6pPr marL="277246" algn="l" defTabSz="913565" rtl="0" fontAlgn="base">
        <a:lnSpc>
          <a:spcPct val="90000"/>
        </a:lnSpc>
        <a:spcBef>
          <a:spcPct val="0"/>
        </a:spcBef>
        <a:spcAft>
          <a:spcPct val="0"/>
        </a:spcAft>
        <a:defRPr sz="4427">
          <a:solidFill>
            <a:schemeClr val="tx1"/>
          </a:solidFill>
          <a:latin typeface="Calibri Light" panose="020F0302020204030204" pitchFamily="34" charset="0"/>
        </a:defRPr>
      </a:lvl6pPr>
      <a:lvl7pPr marL="554492" algn="l" defTabSz="913565" rtl="0" fontAlgn="base">
        <a:lnSpc>
          <a:spcPct val="90000"/>
        </a:lnSpc>
        <a:spcBef>
          <a:spcPct val="0"/>
        </a:spcBef>
        <a:spcAft>
          <a:spcPct val="0"/>
        </a:spcAft>
        <a:defRPr sz="4427">
          <a:solidFill>
            <a:schemeClr val="tx1"/>
          </a:solidFill>
          <a:latin typeface="Calibri Light" panose="020F0302020204030204" pitchFamily="34" charset="0"/>
        </a:defRPr>
      </a:lvl7pPr>
      <a:lvl8pPr marL="831738" algn="l" defTabSz="913565" rtl="0" fontAlgn="base">
        <a:lnSpc>
          <a:spcPct val="90000"/>
        </a:lnSpc>
        <a:spcBef>
          <a:spcPct val="0"/>
        </a:spcBef>
        <a:spcAft>
          <a:spcPct val="0"/>
        </a:spcAft>
        <a:defRPr sz="4427">
          <a:solidFill>
            <a:schemeClr val="tx1"/>
          </a:solidFill>
          <a:latin typeface="Calibri Light" panose="020F0302020204030204" pitchFamily="34" charset="0"/>
        </a:defRPr>
      </a:lvl8pPr>
      <a:lvl9pPr marL="1108984" algn="l" defTabSz="913565" rtl="0" fontAlgn="base">
        <a:lnSpc>
          <a:spcPct val="90000"/>
        </a:lnSpc>
        <a:spcBef>
          <a:spcPct val="0"/>
        </a:spcBef>
        <a:spcAft>
          <a:spcPct val="0"/>
        </a:spcAft>
        <a:defRPr sz="4427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151" indent="-228151" algn="l" defTabSz="913565" rtl="0" fontAlgn="base">
        <a:lnSpc>
          <a:spcPct val="90000"/>
        </a:lnSpc>
        <a:spcBef>
          <a:spcPts val="1001"/>
        </a:spcBef>
        <a:spcAft>
          <a:spcPct val="0"/>
        </a:spcAft>
        <a:buFont typeface="Arial" panose="020B0604020202020204" pitchFamily="34" charset="0"/>
        <a:buChar char="•"/>
        <a:defRPr sz="2789" kern="1200">
          <a:solidFill>
            <a:schemeClr val="tx1"/>
          </a:solidFill>
          <a:latin typeface="+mn-lt"/>
          <a:ea typeface="+mn-ea"/>
          <a:cs typeface="+mn-cs"/>
        </a:defRPr>
      </a:lvl1pPr>
      <a:lvl2pPr marL="685414" indent="-228151" algn="l" defTabSz="913565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26" kern="1200">
          <a:solidFill>
            <a:schemeClr val="tx1"/>
          </a:solidFill>
          <a:latin typeface="+mn-lt"/>
          <a:ea typeface="+mn-ea"/>
          <a:cs typeface="+mn-cs"/>
        </a:defRPr>
      </a:lvl2pPr>
      <a:lvl3pPr marL="1142678" indent="-228151" algn="l" defTabSz="913565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3pPr>
      <a:lvl4pPr marL="1599941" indent="-228151" algn="l" defTabSz="913565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819" kern="1200">
          <a:solidFill>
            <a:schemeClr val="tx1"/>
          </a:solidFill>
          <a:latin typeface="+mn-lt"/>
          <a:ea typeface="+mn-ea"/>
          <a:cs typeface="+mn-cs"/>
        </a:defRPr>
      </a:lvl4pPr>
      <a:lvl5pPr marL="2057205" indent="-228151" algn="l" defTabSz="913565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819" kern="1200">
          <a:solidFill>
            <a:schemeClr val="tx1"/>
          </a:solidFill>
          <a:latin typeface="+mn-lt"/>
          <a:ea typeface="+mn-ea"/>
          <a:cs typeface="+mn-cs"/>
        </a:defRPr>
      </a:lvl5pPr>
      <a:lvl6pPr marL="2514483" indent="-228589" algn="l" defTabSz="9143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19" kern="1200">
          <a:solidFill>
            <a:schemeClr val="tx1"/>
          </a:solidFill>
          <a:latin typeface="+mn-lt"/>
          <a:ea typeface="+mn-ea"/>
          <a:cs typeface="+mn-cs"/>
        </a:defRPr>
      </a:lvl6pPr>
      <a:lvl7pPr marL="2971662" indent="-228589" algn="l" defTabSz="9143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19" kern="1200">
          <a:solidFill>
            <a:schemeClr val="tx1"/>
          </a:solidFill>
          <a:latin typeface="+mn-lt"/>
          <a:ea typeface="+mn-ea"/>
          <a:cs typeface="+mn-cs"/>
        </a:defRPr>
      </a:lvl7pPr>
      <a:lvl8pPr marL="3428841" indent="-228589" algn="l" defTabSz="9143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19" kern="1200">
          <a:solidFill>
            <a:schemeClr val="tx1"/>
          </a:solidFill>
          <a:latin typeface="+mn-lt"/>
          <a:ea typeface="+mn-ea"/>
          <a:cs typeface="+mn-cs"/>
        </a:defRPr>
      </a:lvl8pPr>
      <a:lvl9pPr marL="3886020" indent="-228589" algn="l" defTabSz="9143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8" rtl="0" eaLnBrk="1" latinLnBrk="0" hangingPunct="1">
        <a:defRPr sz="1819" kern="1200">
          <a:solidFill>
            <a:schemeClr val="tx1"/>
          </a:solidFill>
          <a:latin typeface="+mn-lt"/>
          <a:ea typeface="+mn-ea"/>
          <a:cs typeface="+mn-cs"/>
        </a:defRPr>
      </a:lvl1pPr>
      <a:lvl2pPr marL="457179" algn="l" defTabSz="914358" rtl="0" eaLnBrk="1" latinLnBrk="0" hangingPunct="1">
        <a:defRPr sz="1819" kern="1200">
          <a:solidFill>
            <a:schemeClr val="tx1"/>
          </a:solidFill>
          <a:latin typeface="+mn-lt"/>
          <a:ea typeface="+mn-ea"/>
          <a:cs typeface="+mn-cs"/>
        </a:defRPr>
      </a:lvl2pPr>
      <a:lvl3pPr marL="914358" algn="l" defTabSz="914358" rtl="0" eaLnBrk="1" latinLnBrk="0" hangingPunct="1">
        <a:defRPr sz="1819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6" algn="l" defTabSz="914358" rtl="0" eaLnBrk="1" latinLnBrk="0" hangingPunct="1">
        <a:defRPr sz="1819" kern="1200">
          <a:solidFill>
            <a:schemeClr val="tx1"/>
          </a:solidFill>
          <a:latin typeface="+mn-lt"/>
          <a:ea typeface="+mn-ea"/>
          <a:cs typeface="+mn-cs"/>
        </a:defRPr>
      </a:lvl4pPr>
      <a:lvl5pPr marL="1828715" algn="l" defTabSz="914358" rtl="0" eaLnBrk="1" latinLnBrk="0" hangingPunct="1">
        <a:defRPr sz="1819" kern="1200">
          <a:solidFill>
            <a:schemeClr val="tx1"/>
          </a:solidFill>
          <a:latin typeface="+mn-lt"/>
          <a:ea typeface="+mn-ea"/>
          <a:cs typeface="+mn-cs"/>
        </a:defRPr>
      </a:lvl5pPr>
      <a:lvl6pPr marL="2285894" algn="l" defTabSz="914358" rtl="0" eaLnBrk="1" latinLnBrk="0" hangingPunct="1">
        <a:defRPr sz="1819" kern="1200">
          <a:solidFill>
            <a:schemeClr val="tx1"/>
          </a:solidFill>
          <a:latin typeface="+mn-lt"/>
          <a:ea typeface="+mn-ea"/>
          <a:cs typeface="+mn-cs"/>
        </a:defRPr>
      </a:lvl6pPr>
      <a:lvl7pPr marL="2743073" algn="l" defTabSz="914358" rtl="0" eaLnBrk="1" latinLnBrk="0" hangingPunct="1">
        <a:defRPr sz="1819" kern="1200">
          <a:solidFill>
            <a:schemeClr val="tx1"/>
          </a:solidFill>
          <a:latin typeface="+mn-lt"/>
          <a:ea typeface="+mn-ea"/>
          <a:cs typeface="+mn-cs"/>
        </a:defRPr>
      </a:lvl7pPr>
      <a:lvl8pPr marL="3200252" algn="l" defTabSz="914358" rtl="0" eaLnBrk="1" latinLnBrk="0" hangingPunct="1">
        <a:defRPr sz="1819" kern="1200">
          <a:solidFill>
            <a:schemeClr val="tx1"/>
          </a:solidFill>
          <a:latin typeface="+mn-lt"/>
          <a:ea typeface="+mn-ea"/>
          <a:cs typeface="+mn-cs"/>
        </a:defRPr>
      </a:lvl8pPr>
      <a:lvl9pPr marL="3657430" algn="l" defTabSz="914358" rtl="0" eaLnBrk="1" latinLnBrk="0" hangingPunct="1">
        <a:defRPr sz="18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133FAF8-1EA3-D89B-3713-8ED1F81F18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8468A6-0C94-7D34-A3C6-724D53198ECA}"/>
              </a:ext>
            </a:extLst>
          </p:cNvPr>
          <p:cNvSpPr/>
          <p:nvPr/>
        </p:nvSpPr>
        <p:spPr>
          <a:xfrm>
            <a:off x="5482148" y="1348076"/>
            <a:ext cx="6765881" cy="5532437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2FBE05D5-47F4-4425-88B0-6E3C98E0B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66" y="-305506"/>
            <a:ext cx="11701670" cy="1325563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IBM Plex Sans Medium" panose="020B0503050203000203" pitchFamily="34" charset="0"/>
              </a:rPr>
              <a:t>Payments Ecosystem Transformation for Large UK Bank </a:t>
            </a:r>
          </a:p>
        </p:txBody>
      </p:sp>
      <p:sp>
        <p:nvSpPr>
          <p:cNvPr id="8" name="Subtitle 25">
            <a:extLst>
              <a:ext uri="{FF2B5EF4-FFF2-40B4-BE49-F238E27FC236}">
                <a16:creationId xmlns:a16="http://schemas.microsoft.com/office/drawing/2014/main" id="{C301980A-4DF3-4C0D-9804-3BC75A3667FA}"/>
              </a:ext>
            </a:extLst>
          </p:cNvPr>
          <p:cNvSpPr txBox="1">
            <a:spLocks/>
          </p:cNvSpPr>
          <p:nvPr/>
        </p:nvSpPr>
        <p:spPr>
          <a:xfrm>
            <a:off x="133466" y="509449"/>
            <a:ext cx="11779492" cy="571088"/>
          </a:xfrm>
          <a:prstGeom prst="rect">
            <a:avLst/>
          </a:prstGeom>
        </p:spPr>
        <p:txBody>
          <a:bodyPr/>
          <a:lstStyle>
            <a:lvl1pPr marL="173038" indent="-173038" algn="l" rtl="0" fontAlgn="base">
              <a:spcBef>
                <a:spcPct val="50000"/>
              </a:spcBef>
              <a:spcAft>
                <a:spcPct val="0"/>
              </a:spcAft>
              <a:buClr>
                <a:srgbClr val="6D6E70"/>
              </a:buClr>
              <a:buSzPct val="90000"/>
              <a:buFont typeface="Wingdings" pitchFamily="2" charset="2"/>
              <a:buChar char="§"/>
              <a:defRPr sz="1600">
                <a:solidFill>
                  <a:srgbClr val="6D6E7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09588" indent="-163513" algn="l" rtl="0" fontAlgn="base">
              <a:spcBef>
                <a:spcPct val="0"/>
              </a:spcBef>
              <a:spcAft>
                <a:spcPct val="0"/>
              </a:spcAft>
              <a:buClr>
                <a:srgbClr val="6D6E70"/>
              </a:buClr>
              <a:buSzPct val="90000"/>
              <a:buFont typeface="Arial" charset="0"/>
              <a:buChar char="–"/>
              <a:defRPr sz="1600">
                <a:solidFill>
                  <a:srgbClr val="6D6E70"/>
                </a:solidFill>
                <a:latin typeface="Arial" pitchFamily="34" charset="0"/>
                <a:cs typeface="Arial" pitchFamily="34" charset="0"/>
              </a:defRPr>
            </a:lvl2pPr>
            <a:lvl3pPr marL="855663" indent="-173038" algn="l" rtl="0" fontAlgn="base">
              <a:spcBef>
                <a:spcPct val="0"/>
              </a:spcBef>
              <a:spcAft>
                <a:spcPct val="0"/>
              </a:spcAft>
              <a:buClr>
                <a:srgbClr val="6D6E70"/>
              </a:buClr>
              <a:buSzPct val="90000"/>
              <a:buFont typeface="Wingdings" pitchFamily="2" charset="2"/>
              <a:buChar char="§"/>
              <a:defRPr sz="1600">
                <a:solidFill>
                  <a:srgbClr val="6D6E70"/>
                </a:solidFill>
                <a:latin typeface="Arial" pitchFamily="34" charset="0"/>
                <a:cs typeface="Arial" pitchFamily="34" charset="0"/>
              </a:defRPr>
            </a:lvl3pPr>
            <a:lvl4pPr marL="1203325" indent="-173038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1600">
                <a:solidFill>
                  <a:schemeClr val="bg1"/>
                </a:solidFill>
                <a:latin typeface="Arial" charset="0"/>
              </a:defRPr>
            </a:lvl4pPr>
            <a:lvl5pPr marL="1539875" indent="-163513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00">
                <a:solidFill>
                  <a:schemeClr val="bg1"/>
                </a:solidFill>
                <a:latin typeface="Arial" charset="0"/>
              </a:defRPr>
            </a:lvl5pPr>
            <a:lvl6pPr marL="1997075" indent="-163513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00">
                <a:solidFill>
                  <a:schemeClr val="bg1"/>
                </a:solidFill>
                <a:latin typeface="Arial" charset="0"/>
              </a:defRPr>
            </a:lvl6pPr>
            <a:lvl7pPr marL="2454275" indent="-163513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00">
                <a:solidFill>
                  <a:schemeClr val="bg1"/>
                </a:solidFill>
                <a:latin typeface="Arial" charset="0"/>
              </a:defRPr>
            </a:lvl7pPr>
            <a:lvl8pPr marL="2911475" indent="-163513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00">
                <a:solidFill>
                  <a:schemeClr val="bg1"/>
                </a:solidFill>
                <a:latin typeface="Arial" charset="0"/>
              </a:defRPr>
            </a:lvl8pPr>
            <a:lvl9pPr marL="3368675" indent="-163513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00">
                <a:solidFill>
                  <a:schemeClr val="bg1"/>
                </a:solidFill>
                <a:latin typeface="Arial" charset="0"/>
              </a:defRPr>
            </a:lvl9pPr>
          </a:lstStyle>
          <a:p>
            <a:pPr marL="0" marR="0" lvl="0" indent="0" algn="l" defTabSz="914377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6D6E70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" charset="0"/>
                <a:cs typeface="Arial" charset="0"/>
              </a:rPr>
              <a:t>TechPartner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" charset="0"/>
                <a:cs typeface="Arial" charset="0"/>
              </a:rPr>
              <a:t> is the overall Systems Integrator &amp; End to End Solution Delivery Partner for the Payment Modernization Program of a Large UK Bank, Leveraging the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" charset="0"/>
                <a:cs typeface="Arial" charset="0"/>
              </a:rPr>
              <a:t>TechPartner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" charset="0"/>
                <a:cs typeface="Arial" charset="0"/>
              </a:rPr>
              <a:t> India Global Delivery Continuous Delivery Model Offering </a:t>
            </a:r>
          </a:p>
        </p:txBody>
      </p:sp>
      <p:sp>
        <p:nvSpPr>
          <p:cNvPr id="9" name="Rectangle 15">
            <a:extLst>
              <a:ext uri="{FF2B5EF4-FFF2-40B4-BE49-F238E27FC236}">
                <a16:creationId xmlns:a16="http://schemas.microsoft.com/office/drawing/2014/main" id="{2657675F-BC45-4732-A674-939B7B16D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8662" y="1518329"/>
            <a:ext cx="6431576" cy="2689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11125" indent="-111125">
              <a:tabLst>
                <a:tab pos="-457200" algn="l"/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19063" indent="-119063">
              <a:tabLst>
                <a:tab pos="-457200" algn="l"/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-457200" algn="l"/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-457200" algn="l"/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-457200" algn="l"/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-457200" algn="l"/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-457200" algn="l"/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-457200" algn="l"/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-457200" algn="l"/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>
                <a:tab pos="-457189" algn="l"/>
                <a:tab pos="0" algn="l"/>
                <a:tab pos="457189" algn="l"/>
                <a:tab pos="914377" algn="l"/>
                <a:tab pos="1371566" algn="l"/>
                <a:tab pos="1828754" algn="l"/>
                <a:tab pos="2285943" algn="l"/>
                <a:tab pos="2743131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Program Highlights &amp; Key Metrics</a:t>
            </a:r>
          </a:p>
          <a:p>
            <a:pPr marL="171446" marR="0" lvl="0" indent="-171446" algn="l" defTabSz="914377" rtl="0" eaLnBrk="1" fontAlgn="auto" latinLnBrk="0" hangingPunct="1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>
                <a:tab pos="-457189" algn="l"/>
                <a:tab pos="0" algn="l"/>
                <a:tab pos="457189" algn="l"/>
                <a:tab pos="914377" algn="l"/>
                <a:tab pos="1371566" algn="l"/>
                <a:tab pos="1828754" algn="l"/>
                <a:tab pos="2285943" algn="l"/>
                <a:tab pos="2743131" algn="l"/>
              </a:tabLst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The Payment Platform processes approximately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B281D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40% of all UK real-time payment volumes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 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(includes BACS, FPS, International).</a:t>
            </a:r>
          </a:p>
          <a:p>
            <a:pPr marL="171446" marR="0" lvl="0" indent="-171446" algn="l" defTabSz="914377" rtl="0" eaLnBrk="1" fontAlgn="auto" latinLnBrk="0" hangingPunct="1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>
                <a:tab pos="-457189" algn="l"/>
                <a:tab pos="0" algn="l"/>
                <a:tab pos="457189" algn="l"/>
                <a:tab pos="914377" algn="l"/>
                <a:tab pos="1371566" algn="l"/>
                <a:tab pos="1828754" algn="l"/>
                <a:tab pos="2285943" algn="l"/>
                <a:tab pos="2743131" algn="l"/>
              </a:tabLst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Enabled the bank to launch a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B281D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new commercial business banking channel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, a new business for the bank. </a:t>
            </a:r>
          </a:p>
          <a:p>
            <a:pPr marL="171446" marR="0" lvl="0" indent="-171446" algn="l" defTabSz="914377" rtl="0" eaLnBrk="1" fontAlgn="auto" latinLnBrk="0" hangingPunct="1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>
                <a:tab pos="-457189" algn="l"/>
                <a:tab pos="0" algn="l"/>
                <a:tab pos="457189" algn="l"/>
                <a:tab pos="914377" algn="l"/>
                <a:tab pos="1371566" algn="l"/>
                <a:tab pos="1828754" algn="l"/>
                <a:tab pos="2285943" algn="l"/>
                <a:tab pos="2743131" algn="l"/>
              </a:tabLst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Aided the implementation of new Faster Payment Gateway which provided additional capabilities such as Stand In processing. </a:t>
            </a:r>
          </a:p>
          <a:p>
            <a:pPr marL="171446" marR="0" lvl="0" indent="-171446" algn="l" defTabSz="914377" rtl="0" eaLnBrk="1" fontAlgn="auto" latinLnBrk="0" hangingPunct="1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>
                <a:tab pos="-457189" algn="l"/>
                <a:tab pos="0" algn="l"/>
                <a:tab pos="457189" algn="l"/>
                <a:tab pos="914377" algn="l"/>
                <a:tab pos="1371566" algn="l"/>
                <a:tab pos="1828754" algn="l"/>
                <a:tab pos="2285943" algn="l"/>
                <a:tab pos="2743131" algn="l"/>
              </a:tabLst>
              <a:defRPr/>
            </a:pP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B281D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60% reduction in IT systems 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(450 interfaces reduced to 150) - replace multiple point to point payment systems, minimize duplicate services, data, processes and functions</a:t>
            </a:r>
          </a:p>
          <a:p>
            <a:pPr marL="171446" marR="0" lvl="0" indent="-171446" algn="l" defTabSz="914377" rtl="0" eaLnBrk="1" fontAlgn="auto" latinLnBrk="0" hangingPunct="1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>
                <a:tab pos="-457189" algn="l"/>
                <a:tab pos="0" algn="l"/>
                <a:tab pos="457189" algn="l"/>
                <a:tab pos="914377" algn="l"/>
                <a:tab pos="1371566" algn="l"/>
                <a:tab pos="1828754" algn="l"/>
                <a:tab pos="2285943" algn="l"/>
                <a:tab pos="2743131" algn="l"/>
              </a:tabLst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Transaction Volumes: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B281D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900+ transactions processed per secon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B281D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d (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TPS)</a:t>
            </a:r>
          </a:p>
          <a:p>
            <a:pPr marL="171446" marR="0" lvl="0" indent="-171446" algn="l" defTabSz="914377" rtl="0" eaLnBrk="1" fontAlgn="auto" latinLnBrk="0" hangingPunct="1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>
                <a:tab pos="-457189" algn="l"/>
                <a:tab pos="0" algn="l"/>
                <a:tab pos="457189" algn="l"/>
                <a:tab pos="914377" algn="l"/>
                <a:tab pos="1371566" algn="l"/>
                <a:tab pos="1828754" algn="l"/>
                <a:tab pos="2285943" algn="l"/>
                <a:tab pos="2743131" algn="l"/>
              </a:tabLst>
              <a:defRPr/>
            </a:pP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B281D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9 million average and 15 million peak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B281D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 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transactions processed per day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55350B-EAD3-4ABF-B8BB-AC94441B97AA}"/>
              </a:ext>
            </a:extLst>
          </p:cNvPr>
          <p:cNvSpPr/>
          <p:nvPr/>
        </p:nvSpPr>
        <p:spPr>
          <a:xfrm>
            <a:off x="5834936" y="4340482"/>
            <a:ext cx="476126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Key Drivers &amp; Transformation Program Objectives</a:t>
            </a:r>
          </a:p>
          <a:p>
            <a:pPr marL="119060" marR="0" lvl="0" indent="-119060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Consolidate and simplify payment infrastructure </a:t>
            </a:r>
          </a:p>
          <a:p>
            <a:pPr marL="119060" marR="0" lvl="0" indent="-119060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Address mandatory regulatory requirements.</a:t>
            </a:r>
          </a:p>
          <a:p>
            <a:pPr marL="119060" marR="0" lvl="0" indent="-119060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Decommission legacy systems</a:t>
            </a:r>
          </a:p>
          <a:p>
            <a:pPr marL="96838" marR="0" lvl="0" indent="-87313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Connect all channels and payment systems in order to centralize core payment processing capabilities </a:t>
            </a:r>
          </a:p>
          <a:p>
            <a:pPr marL="96838" marR="0" lvl="0" indent="-87313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Serve as a single point of control and information for all payments </a:t>
            </a:r>
          </a:p>
          <a:p>
            <a:pPr marL="96838" marR="0" lvl="0" indent="-87313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Reduce the cost and risk of changes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AEF95B-A521-B872-5C00-6E3383CC4C7B}"/>
              </a:ext>
            </a:extLst>
          </p:cNvPr>
          <p:cNvSpPr/>
          <p:nvPr/>
        </p:nvSpPr>
        <p:spPr>
          <a:xfrm>
            <a:off x="286347" y="1347620"/>
            <a:ext cx="5183592" cy="548296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F11495C-FA9B-C38D-198F-7C3C74D9011F}"/>
              </a:ext>
            </a:extLst>
          </p:cNvPr>
          <p:cNvGrpSpPr/>
          <p:nvPr/>
        </p:nvGrpSpPr>
        <p:grpSpPr>
          <a:xfrm>
            <a:off x="761262" y="2505653"/>
            <a:ext cx="4694740" cy="4092589"/>
            <a:chOff x="4536022" y="7016475"/>
            <a:chExt cx="1821523" cy="132055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01B9DB2-DA52-476F-82FF-E8BA3D6E8BCB}"/>
                </a:ext>
              </a:extLst>
            </p:cNvPr>
            <p:cNvSpPr/>
            <p:nvPr/>
          </p:nvSpPr>
          <p:spPr bwMode="auto">
            <a:xfrm>
              <a:off x="4738480" y="7129033"/>
              <a:ext cx="1335952" cy="1087393"/>
            </a:xfrm>
            <a:prstGeom prst="ellipse">
              <a:avLst/>
            </a:prstGeom>
            <a:solidFill>
              <a:srgbClr val="5AA2AE">
                <a:lumMod val="20000"/>
                <a:lumOff val="80000"/>
              </a:srgbClr>
            </a:solidFill>
            <a:ln w="4762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000000000" pitchFamily="34" charset="77"/>
                <a:ea typeface=""/>
                <a:cs typeface=""/>
              </a:endParaRPr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18290060-BBB9-583D-162B-D0DAFDBDE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7324" y="7016475"/>
              <a:ext cx="528455" cy="490433"/>
            </a:xfrm>
            <a:custGeom>
              <a:avLst/>
              <a:gdLst>
                <a:gd name="T0" fmla="*/ 458 w 458"/>
                <a:gd name="T1" fmla="*/ 143 h 522"/>
                <a:gd name="T2" fmla="*/ 445 w 458"/>
                <a:gd name="T3" fmla="*/ 122 h 522"/>
                <a:gd name="T4" fmla="*/ 242 w 458"/>
                <a:gd name="T5" fmla="*/ 4 h 522"/>
                <a:gd name="T6" fmla="*/ 216 w 458"/>
                <a:gd name="T7" fmla="*/ 4 h 522"/>
                <a:gd name="T8" fmla="*/ 13 w 458"/>
                <a:gd name="T9" fmla="*/ 121 h 522"/>
                <a:gd name="T10" fmla="*/ 0 w 458"/>
                <a:gd name="T11" fmla="*/ 143 h 522"/>
                <a:gd name="T12" fmla="*/ 0 w 458"/>
                <a:gd name="T13" fmla="*/ 378 h 522"/>
                <a:gd name="T14" fmla="*/ 0 w 458"/>
                <a:gd name="T15" fmla="*/ 379 h 522"/>
                <a:gd name="T16" fmla="*/ 13 w 458"/>
                <a:gd name="T17" fmla="*/ 400 h 522"/>
                <a:gd name="T18" fmla="*/ 216 w 458"/>
                <a:gd name="T19" fmla="*/ 518 h 522"/>
                <a:gd name="T20" fmla="*/ 241 w 458"/>
                <a:gd name="T21" fmla="*/ 518 h 522"/>
                <a:gd name="T22" fmla="*/ 445 w 458"/>
                <a:gd name="T23" fmla="*/ 400 h 522"/>
                <a:gd name="T24" fmla="*/ 457 w 458"/>
                <a:gd name="T25" fmla="*/ 379 h 522"/>
                <a:gd name="T26" fmla="*/ 457 w 458"/>
                <a:gd name="T27" fmla="*/ 378 h 522"/>
                <a:gd name="T28" fmla="*/ 458 w 458"/>
                <a:gd name="T29" fmla="*/ 144 h 522"/>
                <a:gd name="T30" fmla="*/ 458 w 458"/>
                <a:gd name="T31" fmla="*/ 143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58" h="522">
                  <a:moveTo>
                    <a:pt x="458" y="143"/>
                  </a:moveTo>
                  <a:cubicBezTo>
                    <a:pt x="458" y="134"/>
                    <a:pt x="453" y="126"/>
                    <a:pt x="445" y="122"/>
                  </a:cubicBezTo>
                  <a:cubicBezTo>
                    <a:pt x="242" y="4"/>
                    <a:pt x="242" y="4"/>
                    <a:pt x="242" y="4"/>
                  </a:cubicBezTo>
                  <a:cubicBezTo>
                    <a:pt x="234" y="0"/>
                    <a:pt x="224" y="0"/>
                    <a:pt x="216" y="4"/>
                  </a:cubicBezTo>
                  <a:cubicBezTo>
                    <a:pt x="13" y="121"/>
                    <a:pt x="13" y="121"/>
                    <a:pt x="13" y="121"/>
                  </a:cubicBezTo>
                  <a:cubicBezTo>
                    <a:pt x="5" y="126"/>
                    <a:pt x="0" y="134"/>
                    <a:pt x="0" y="143"/>
                  </a:cubicBezTo>
                  <a:cubicBezTo>
                    <a:pt x="0" y="378"/>
                    <a:pt x="0" y="378"/>
                    <a:pt x="0" y="378"/>
                  </a:cubicBezTo>
                  <a:cubicBezTo>
                    <a:pt x="0" y="379"/>
                    <a:pt x="0" y="379"/>
                    <a:pt x="0" y="379"/>
                  </a:cubicBezTo>
                  <a:cubicBezTo>
                    <a:pt x="0" y="388"/>
                    <a:pt x="5" y="396"/>
                    <a:pt x="13" y="400"/>
                  </a:cubicBezTo>
                  <a:cubicBezTo>
                    <a:pt x="216" y="518"/>
                    <a:pt x="216" y="518"/>
                    <a:pt x="216" y="518"/>
                  </a:cubicBezTo>
                  <a:cubicBezTo>
                    <a:pt x="224" y="522"/>
                    <a:pt x="233" y="522"/>
                    <a:pt x="241" y="518"/>
                  </a:cubicBezTo>
                  <a:cubicBezTo>
                    <a:pt x="445" y="400"/>
                    <a:pt x="445" y="400"/>
                    <a:pt x="445" y="400"/>
                  </a:cubicBezTo>
                  <a:cubicBezTo>
                    <a:pt x="452" y="396"/>
                    <a:pt x="457" y="388"/>
                    <a:pt x="457" y="379"/>
                  </a:cubicBezTo>
                  <a:cubicBezTo>
                    <a:pt x="457" y="379"/>
                    <a:pt x="457" y="379"/>
                    <a:pt x="457" y="378"/>
                  </a:cubicBezTo>
                  <a:cubicBezTo>
                    <a:pt x="458" y="144"/>
                    <a:pt x="458" y="144"/>
                    <a:pt x="458" y="144"/>
                  </a:cubicBezTo>
                  <a:cubicBezTo>
                    <a:pt x="458" y="144"/>
                    <a:pt x="458" y="143"/>
                    <a:pt x="458" y="143"/>
                  </a:cubicBezTo>
                  <a:close/>
                </a:path>
              </a:pathLst>
            </a:custGeom>
            <a:solidFill>
              <a:srgbClr val="E57000"/>
            </a:solidFill>
            <a:ln>
              <a:noFill/>
            </a:ln>
            <a:effectLst/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+mn-ea"/>
                <a:cs typeface="+mn-cs"/>
              </a:endParaRPr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CF91C295-174A-66FD-C699-1FC331E02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291" y="7016475"/>
              <a:ext cx="528148" cy="490003"/>
            </a:xfrm>
            <a:custGeom>
              <a:avLst/>
              <a:gdLst>
                <a:gd name="T0" fmla="*/ 2147483646 w 458"/>
                <a:gd name="T1" fmla="*/ 2147483646 h 522"/>
                <a:gd name="T2" fmla="*/ 2147483646 w 458"/>
                <a:gd name="T3" fmla="*/ 2147483646 h 522"/>
                <a:gd name="T4" fmla="*/ 2147483646 w 458"/>
                <a:gd name="T5" fmla="*/ 2147483646 h 522"/>
                <a:gd name="T6" fmla="*/ 2147483646 w 458"/>
                <a:gd name="T7" fmla="*/ 2147483646 h 522"/>
                <a:gd name="T8" fmla="*/ 2147483646 w 458"/>
                <a:gd name="T9" fmla="*/ 2147483646 h 522"/>
                <a:gd name="T10" fmla="*/ 0 w 458"/>
                <a:gd name="T11" fmla="*/ 2147483646 h 522"/>
                <a:gd name="T12" fmla="*/ 0 w 458"/>
                <a:gd name="T13" fmla="*/ 2147483646 h 522"/>
                <a:gd name="T14" fmla="*/ 0 w 458"/>
                <a:gd name="T15" fmla="*/ 2147483646 h 522"/>
                <a:gd name="T16" fmla="*/ 2147483646 w 458"/>
                <a:gd name="T17" fmla="*/ 2147483646 h 522"/>
                <a:gd name="T18" fmla="*/ 2147483646 w 458"/>
                <a:gd name="T19" fmla="*/ 2147483646 h 522"/>
                <a:gd name="T20" fmla="*/ 2147483646 w 458"/>
                <a:gd name="T21" fmla="*/ 2147483646 h 522"/>
                <a:gd name="T22" fmla="*/ 2147483646 w 458"/>
                <a:gd name="T23" fmla="*/ 2147483646 h 522"/>
                <a:gd name="T24" fmla="*/ 2147483646 w 458"/>
                <a:gd name="T25" fmla="*/ 2147483646 h 522"/>
                <a:gd name="T26" fmla="*/ 2147483646 w 458"/>
                <a:gd name="T27" fmla="*/ 2147483646 h 522"/>
                <a:gd name="T28" fmla="*/ 2147483646 w 458"/>
                <a:gd name="T29" fmla="*/ 2147483646 h 522"/>
                <a:gd name="T30" fmla="*/ 2147483646 w 458"/>
                <a:gd name="T31" fmla="*/ 2147483646 h 52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58" h="522">
                  <a:moveTo>
                    <a:pt x="458" y="143"/>
                  </a:moveTo>
                  <a:cubicBezTo>
                    <a:pt x="457" y="134"/>
                    <a:pt x="453" y="126"/>
                    <a:pt x="445" y="122"/>
                  </a:cubicBezTo>
                  <a:cubicBezTo>
                    <a:pt x="242" y="4"/>
                    <a:pt x="242" y="4"/>
                    <a:pt x="242" y="4"/>
                  </a:cubicBezTo>
                  <a:cubicBezTo>
                    <a:pt x="234" y="0"/>
                    <a:pt x="224" y="0"/>
                    <a:pt x="216" y="4"/>
                  </a:cubicBezTo>
                  <a:cubicBezTo>
                    <a:pt x="13" y="121"/>
                    <a:pt x="13" y="121"/>
                    <a:pt x="13" y="121"/>
                  </a:cubicBezTo>
                  <a:cubicBezTo>
                    <a:pt x="5" y="126"/>
                    <a:pt x="0" y="134"/>
                    <a:pt x="0" y="143"/>
                  </a:cubicBezTo>
                  <a:cubicBezTo>
                    <a:pt x="0" y="378"/>
                    <a:pt x="0" y="378"/>
                    <a:pt x="0" y="378"/>
                  </a:cubicBezTo>
                  <a:cubicBezTo>
                    <a:pt x="0" y="379"/>
                    <a:pt x="0" y="379"/>
                    <a:pt x="0" y="379"/>
                  </a:cubicBezTo>
                  <a:cubicBezTo>
                    <a:pt x="0" y="388"/>
                    <a:pt x="5" y="396"/>
                    <a:pt x="13" y="400"/>
                  </a:cubicBezTo>
                  <a:cubicBezTo>
                    <a:pt x="216" y="518"/>
                    <a:pt x="216" y="518"/>
                    <a:pt x="216" y="518"/>
                  </a:cubicBezTo>
                  <a:cubicBezTo>
                    <a:pt x="224" y="522"/>
                    <a:pt x="233" y="522"/>
                    <a:pt x="241" y="518"/>
                  </a:cubicBezTo>
                  <a:cubicBezTo>
                    <a:pt x="445" y="400"/>
                    <a:pt x="445" y="400"/>
                    <a:pt x="445" y="400"/>
                  </a:cubicBezTo>
                  <a:cubicBezTo>
                    <a:pt x="452" y="396"/>
                    <a:pt x="457" y="388"/>
                    <a:pt x="457" y="379"/>
                  </a:cubicBezTo>
                  <a:cubicBezTo>
                    <a:pt x="457" y="379"/>
                    <a:pt x="457" y="379"/>
                    <a:pt x="457" y="378"/>
                  </a:cubicBezTo>
                  <a:cubicBezTo>
                    <a:pt x="458" y="144"/>
                    <a:pt x="458" y="144"/>
                    <a:pt x="458" y="144"/>
                  </a:cubicBezTo>
                  <a:cubicBezTo>
                    <a:pt x="458" y="144"/>
                    <a:pt x="458" y="143"/>
                    <a:pt x="458" y="143"/>
                  </a:cubicBezTo>
                  <a:close/>
                </a:path>
              </a:pathLst>
            </a:custGeom>
            <a:solidFill>
              <a:srgbClr val="E57000"/>
            </a:solidFill>
            <a:ln>
              <a:noFill/>
            </a:ln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+mn-ea"/>
                <a:cs typeface="+mn-cs"/>
              </a:endParaRPr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96E62E33-1A81-F739-895A-A84E1EE56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4035" y="7431551"/>
              <a:ext cx="528148" cy="490796"/>
            </a:xfrm>
            <a:custGeom>
              <a:avLst/>
              <a:gdLst>
                <a:gd name="T0" fmla="*/ 2147483646 w 458"/>
                <a:gd name="T1" fmla="*/ 2147483646 h 523"/>
                <a:gd name="T2" fmla="*/ 2147483646 w 458"/>
                <a:gd name="T3" fmla="*/ 2147483646 h 523"/>
                <a:gd name="T4" fmla="*/ 2147483646 w 458"/>
                <a:gd name="T5" fmla="*/ 2147483646 h 523"/>
                <a:gd name="T6" fmla="*/ 2147483646 w 458"/>
                <a:gd name="T7" fmla="*/ 2147483646 h 523"/>
                <a:gd name="T8" fmla="*/ 2147483646 w 458"/>
                <a:gd name="T9" fmla="*/ 2147483646 h 523"/>
                <a:gd name="T10" fmla="*/ 2147483646 w 458"/>
                <a:gd name="T11" fmla="*/ 2147483646 h 523"/>
                <a:gd name="T12" fmla="*/ 2147483646 w 458"/>
                <a:gd name="T13" fmla="*/ 2147483646 h 523"/>
                <a:gd name="T14" fmla="*/ 0 w 458"/>
                <a:gd name="T15" fmla="*/ 2147483646 h 523"/>
                <a:gd name="T16" fmla="*/ 2147483646 w 458"/>
                <a:gd name="T17" fmla="*/ 2147483646 h 523"/>
                <a:gd name="T18" fmla="*/ 2147483646 w 458"/>
                <a:gd name="T19" fmla="*/ 2147483646 h 523"/>
                <a:gd name="T20" fmla="*/ 2147483646 w 458"/>
                <a:gd name="T21" fmla="*/ 2147483646 h 523"/>
                <a:gd name="T22" fmla="*/ 2147483646 w 458"/>
                <a:gd name="T23" fmla="*/ 2147483646 h 523"/>
                <a:gd name="T24" fmla="*/ 2147483646 w 458"/>
                <a:gd name="T25" fmla="*/ 2147483646 h 523"/>
                <a:gd name="T26" fmla="*/ 2147483646 w 458"/>
                <a:gd name="T27" fmla="*/ 2147483646 h 523"/>
                <a:gd name="T28" fmla="*/ 2147483646 w 458"/>
                <a:gd name="T29" fmla="*/ 2147483646 h 523"/>
                <a:gd name="T30" fmla="*/ 2147483646 w 458"/>
                <a:gd name="T31" fmla="*/ 2147483646 h 523"/>
                <a:gd name="T32" fmla="*/ 2147483646 w 458"/>
                <a:gd name="T33" fmla="*/ 2147483646 h 52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8" h="523">
                  <a:moveTo>
                    <a:pt x="458" y="144"/>
                  </a:moveTo>
                  <a:cubicBezTo>
                    <a:pt x="458" y="135"/>
                    <a:pt x="453" y="127"/>
                    <a:pt x="445" y="122"/>
                  </a:cubicBezTo>
                  <a:cubicBezTo>
                    <a:pt x="242" y="5"/>
                    <a:pt x="242" y="5"/>
                    <a:pt x="242" y="5"/>
                  </a:cubicBezTo>
                  <a:cubicBezTo>
                    <a:pt x="234" y="0"/>
                    <a:pt x="225" y="0"/>
                    <a:pt x="217" y="5"/>
                  </a:cubicBezTo>
                  <a:cubicBezTo>
                    <a:pt x="13" y="122"/>
                    <a:pt x="13" y="122"/>
                    <a:pt x="13" y="122"/>
                  </a:cubicBezTo>
                  <a:cubicBezTo>
                    <a:pt x="5" y="126"/>
                    <a:pt x="1" y="135"/>
                    <a:pt x="1" y="144"/>
                  </a:cubicBezTo>
                  <a:cubicBezTo>
                    <a:pt x="1" y="144"/>
                    <a:pt x="1" y="144"/>
                    <a:pt x="1" y="144"/>
                  </a:cubicBezTo>
                  <a:cubicBezTo>
                    <a:pt x="0" y="379"/>
                    <a:pt x="0" y="379"/>
                    <a:pt x="0" y="379"/>
                  </a:cubicBezTo>
                  <a:cubicBezTo>
                    <a:pt x="0" y="379"/>
                    <a:pt x="1" y="380"/>
                    <a:pt x="1" y="380"/>
                  </a:cubicBezTo>
                  <a:cubicBezTo>
                    <a:pt x="1" y="389"/>
                    <a:pt x="6" y="396"/>
                    <a:pt x="13" y="401"/>
                  </a:cubicBezTo>
                  <a:cubicBezTo>
                    <a:pt x="216" y="518"/>
                    <a:pt x="216" y="518"/>
                    <a:pt x="216" y="518"/>
                  </a:cubicBezTo>
                  <a:cubicBezTo>
                    <a:pt x="224" y="523"/>
                    <a:pt x="234" y="523"/>
                    <a:pt x="242" y="518"/>
                  </a:cubicBezTo>
                  <a:cubicBezTo>
                    <a:pt x="445" y="401"/>
                    <a:pt x="445" y="401"/>
                    <a:pt x="445" y="401"/>
                  </a:cubicBezTo>
                  <a:cubicBezTo>
                    <a:pt x="453" y="397"/>
                    <a:pt x="458" y="389"/>
                    <a:pt x="458" y="380"/>
                  </a:cubicBezTo>
                  <a:cubicBezTo>
                    <a:pt x="458" y="380"/>
                    <a:pt x="458" y="379"/>
                    <a:pt x="458" y="379"/>
                  </a:cubicBezTo>
                  <a:cubicBezTo>
                    <a:pt x="458" y="144"/>
                    <a:pt x="458" y="144"/>
                    <a:pt x="458" y="144"/>
                  </a:cubicBezTo>
                  <a:cubicBezTo>
                    <a:pt x="458" y="144"/>
                    <a:pt x="458" y="144"/>
                    <a:pt x="458" y="144"/>
                  </a:cubicBezTo>
                  <a:close/>
                </a:path>
              </a:pathLst>
            </a:custGeom>
            <a:solidFill>
              <a:srgbClr val="E57000"/>
            </a:solidFill>
            <a:ln>
              <a:noFill/>
            </a:ln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+mn-ea"/>
                <a:cs typeface="+mn-cs"/>
              </a:endParaRPr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9F673621-B1CF-34A5-C88D-D49261152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3653" y="7432538"/>
              <a:ext cx="525986" cy="490433"/>
            </a:xfrm>
            <a:custGeom>
              <a:avLst/>
              <a:gdLst>
                <a:gd name="T0" fmla="*/ 458 w 458"/>
                <a:gd name="T1" fmla="*/ 144 h 523"/>
                <a:gd name="T2" fmla="*/ 445 w 458"/>
                <a:gd name="T3" fmla="*/ 122 h 523"/>
                <a:gd name="T4" fmla="*/ 242 w 458"/>
                <a:gd name="T5" fmla="*/ 5 h 523"/>
                <a:gd name="T6" fmla="*/ 217 w 458"/>
                <a:gd name="T7" fmla="*/ 5 h 523"/>
                <a:gd name="T8" fmla="*/ 13 w 458"/>
                <a:gd name="T9" fmla="*/ 122 h 523"/>
                <a:gd name="T10" fmla="*/ 1 w 458"/>
                <a:gd name="T11" fmla="*/ 144 h 523"/>
                <a:gd name="T12" fmla="*/ 1 w 458"/>
                <a:gd name="T13" fmla="*/ 144 h 523"/>
                <a:gd name="T14" fmla="*/ 0 w 458"/>
                <a:gd name="T15" fmla="*/ 379 h 523"/>
                <a:gd name="T16" fmla="*/ 0 w 458"/>
                <a:gd name="T17" fmla="*/ 380 h 523"/>
                <a:gd name="T18" fmla="*/ 13 w 458"/>
                <a:gd name="T19" fmla="*/ 401 h 523"/>
                <a:gd name="T20" fmla="*/ 216 w 458"/>
                <a:gd name="T21" fmla="*/ 518 h 523"/>
                <a:gd name="T22" fmla="*/ 242 w 458"/>
                <a:gd name="T23" fmla="*/ 518 h 523"/>
                <a:gd name="T24" fmla="*/ 445 w 458"/>
                <a:gd name="T25" fmla="*/ 401 h 523"/>
                <a:gd name="T26" fmla="*/ 458 w 458"/>
                <a:gd name="T27" fmla="*/ 380 h 523"/>
                <a:gd name="T28" fmla="*/ 458 w 458"/>
                <a:gd name="T29" fmla="*/ 379 h 523"/>
                <a:gd name="T30" fmla="*/ 458 w 458"/>
                <a:gd name="T31" fmla="*/ 144 h 523"/>
                <a:gd name="T32" fmla="*/ 458 w 458"/>
                <a:gd name="T33" fmla="*/ 144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58" h="523">
                  <a:moveTo>
                    <a:pt x="458" y="144"/>
                  </a:moveTo>
                  <a:cubicBezTo>
                    <a:pt x="458" y="135"/>
                    <a:pt x="453" y="127"/>
                    <a:pt x="445" y="122"/>
                  </a:cubicBezTo>
                  <a:cubicBezTo>
                    <a:pt x="242" y="5"/>
                    <a:pt x="242" y="5"/>
                    <a:pt x="242" y="5"/>
                  </a:cubicBezTo>
                  <a:cubicBezTo>
                    <a:pt x="234" y="0"/>
                    <a:pt x="225" y="0"/>
                    <a:pt x="217" y="5"/>
                  </a:cubicBezTo>
                  <a:cubicBezTo>
                    <a:pt x="13" y="122"/>
                    <a:pt x="13" y="122"/>
                    <a:pt x="13" y="122"/>
                  </a:cubicBezTo>
                  <a:cubicBezTo>
                    <a:pt x="5" y="126"/>
                    <a:pt x="1" y="135"/>
                    <a:pt x="1" y="144"/>
                  </a:cubicBezTo>
                  <a:cubicBezTo>
                    <a:pt x="1" y="144"/>
                    <a:pt x="1" y="144"/>
                    <a:pt x="1" y="144"/>
                  </a:cubicBezTo>
                  <a:cubicBezTo>
                    <a:pt x="0" y="379"/>
                    <a:pt x="0" y="379"/>
                    <a:pt x="0" y="379"/>
                  </a:cubicBezTo>
                  <a:cubicBezTo>
                    <a:pt x="0" y="379"/>
                    <a:pt x="0" y="380"/>
                    <a:pt x="0" y="380"/>
                  </a:cubicBezTo>
                  <a:cubicBezTo>
                    <a:pt x="1" y="389"/>
                    <a:pt x="6" y="396"/>
                    <a:pt x="13" y="401"/>
                  </a:cubicBezTo>
                  <a:cubicBezTo>
                    <a:pt x="216" y="518"/>
                    <a:pt x="216" y="518"/>
                    <a:pt x="216" y="518"/>
                  </a:cubicBezTo>
                  <a:cubicBezTo>
                    <a:pt x="224" y="523"/>
                    <a:pt x="234" y="523"/>
                    <a:pt x="242" y="518"/>
                  </a:cubicBezTo>
                  <a:cubicBezTo>
                    <a:pt x="445" y="401"/>
                    <a:pt x="445" y="401"/>
                    <a:pt x="445" y="401"/>
                  </a:cubicBezTo>
                  <a:cubicBezTo>
                    <a:pt x="453" y="397"/>
                    <a:pt x="458" y="389"/>
                    <a:pt x="458" y="380"/>
                  </a:cubicBezTo>
                  <a:cubicBezTo>
                    <a:pt x="458" y="380"/>
                    <a:pt x="458" y="379"/>
                    <a:pt x="458" y="379"/>
                  </a:cubicBezTo>
                  <a:cubicBezTo>
                    <a:pt x="458" y="144"/>
                    <a:pt x="458" y="144"/>
                    <a:pt x="458" y="144"/>
                  </a:cubicBezTo>
                  <a:cubicBezTo>
                    <a:pt x="458" y="144"/>
                    <a:pt x="458" y="144"/>
                    <a:pt x="458" y="144"/>
                  </a:cubicBezTo>
                  <a:close/>
                </a:path>
              </a:pathLst>
            </a:custGeom>
            <a:solidFill>
              <a:srgbClr val="E57000"/>
            </a:solidFill>
            <a:ln>
              <a:noFill/>
            </a:ln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+mn-ea"/>
                <a:cs typeface="+mn-cs"/>
              </a:endParaRPr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758ECC2E-6965-5F4C-EE37-5C26268F8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8342" y="7846229"/>
              <a:ext cx="528148" cy="490796"/>
            </a:xfrm>
            <a:custGeom>
              <a:avLst/>
              <a:gdLst>
                <a:gd name="T0" fmla="*/ 2147483646 w 458"/>
                <a:gd name="T1" fmla="*/ 2147483646 h 523"/>
                <a:gd name="T2" fmla="*/ 2147483646 w 458"/>
                <a:gd name="T3" fmla="*/ 2147483646 h 523"/>
                <a:gd name="T4" fmla="*/ 2147483646 w 458"/>
                <a:gd name="T5" fmla="*/ 2147483646 h 523"/>
                <a:gd name="T6" fmla="*/ 2147483646 w 458"/>
                <a:gd name="T7" fmla="*/ 2147483646 h 523"/>
                <a:gd name="T8" fmla="*/ 2147483646 w 458"/>
                <a:gd name="T9" fmla="*/ 2147483646 h 523"/>
                <a:gd name="T10" fmla="*/ 0 w 458"/>
                <a:gd name="T11" fmla="*/ 2147483646 h 523"/>
                <a:gd name="T12" fmla="*/ 0 w 458"/>
                <a:gd name="T13" fmla="*/ 2147483646 h 523"/>
                <a:gd name="T14" fmla="*/ 0 w 458"/>
                <a:gd name="T15" fmla="*/ 2147483646 h 523"/>
                <a:gd name="T16" fmla="*/ 0 w 458"/>
                <a:gd name="T17" fmla="*/ 2147483646 h 523"/>
                <a:gd name="T18" fmla="*/ 2147483646 w 458"/>
                <a:gd name="T19" fmla="*/ 2147483646 h 523"/>
                <a:gd name="T20" fmla="*/ 2147483646 w 458"/>
                <a:gd name="T21" fmla="*/ 2147483646 h 523"/>
                <a:gd name="T22" fmla="*/ 2147483646 w 458"/>
                <a:gd name="T23" fmla="*/ 2147483646 h 523"/>
                <a:gd name="T24" fmla="*/ 2147483646 w 458"/>
                <a:gd name="T25" fmla="*/ 2147483646 h 523"/>
                <a:gd name="T26" fmla="*/ 2147483646 w 458"/>
                <a:gd name="T27" fmla="*/ 2147483646 h 523"/>
                <a:gd name="T28" fmla="*/ 2147483646 w 458"/>
                <a:gd name="T29" fmla="*/ 2147483646 h 523"/>
                <a:gd name="T30" fmla="*/ 2147483646 w 458"/>
                <a:gd name="T31" fmla="*/ 2147483646 h 523"/>
                <a:gd name="T32" fmla="*/ 2147483646 w 458"/>
                <a:gd name="T33" fmla="*/ 2147483646 h 52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8" h="523">
                  <a:moveTo>
                    <a:pt x="458" y="144"/>
                  </a:moveTo>
                  <a:cubicBezTo>
                    <a:pt x="457" y="135"/>
                    <a:pt x="453" y="127"/>
                    <a:pt x="445" y="122"/>
                  </a:cubicBezTo>
                  <a:cubicBezTo>
                    <a:pt x="242" y="5"/>
                    <a:pt x="242" y="5"/>
                    <a:pt x="242" y="5"/>
                  </a:cubicBezTo>
                  <a:cubicBezTo>
                    <a:pt x="234" y="0"/>
                    <a:pt x="224" y="0"/>
                    <a:pt x="216" y="5"/>
                  </a:cubicBezTo>
                  <a:cubicBezTo>
                    <a:pt x="13" y="122"/>
                    <a:pt x="13" y="122"/>
                    <a:pt x="13" y="122"/>
                  </a:cubicBezTo>
                  <a:cubicBezTo>
                    <a:pt x="5" y="127"/>
                    <a:pt x="0" y="135"/>
                    <a:pt x="0" y="144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379"/>
                    <a:pt x="0" y="379"/>
                    <a:pt x="0" y="379"/>
                  </a:cubicBezTo>
                  <a:cubicBezTo>
                    <a:pt x="0" y="379"/>
                    <a:pt x="0" y="379"/>
                    <a:pt x="0" y="380"/>
                  </a:cubicBezTo>
                  <a:cubicBezTo>
                    <a:pt x="0" y="388"/>
                    <a:pt x="5" y="397"/>
                    <a:pt x="13" y="401"/>
                  </a:cubicBezTo>
                  <a:cubicBezTo>
                    <a:pt x="216" y="519"/>
                    <a:pt x="216" y="519"/>
                    <a:pt x="216" y="519"/>
                  </a:cubicBezTo>
                  <a:cubicBezTo>
                    <a:pt x="224" y="523"/>
                    <a:pt x="234" y="523"/>
                    <a:pt x="241" y="519"/>
                  </a:cubicBezTo>
                  <a:cubicBezTo>
                    <a:pt x="445" y="401"/>
                    <a:pt x="445" y="401"/>
                    <a:pt x="445" y="401"/>
                  </a:cubicBezTo>
                  <a:cubicBezTo>
                    <a:pt x="453" y="397"/>
                    <a:pt x="457" y="389"/>
                    <a:pt x="458" y="380"/>
                  </a:cubicBezTo>
                  <a:cubicBezTo>
                    <a:pt x="458" y="380"/>
                    <a:pt x="458" y="379"/>
                    <a:pt x="458" y="379"/>
                  </a:cubicBezTo>
                  <a:cubicBezTo>
                    <a:pt x="458" y="144"/>
                    <a:pt x="458" y="144"/>
                    <a:pt x="458" y="144"/>
                  </a:cubicBezTo>
                  <a:cubicBezTo>
                    <a:pt x="458" y="144"/>
                    <a:pt x="458" y="144"/>
                    <a:pt x="458" y="144"/>
                  </a:cubicBezTo>
                  <a:close/>
                </a:path>
              </a:pathLst>
            </a:custGeom>
            <a:solidFill>
              <a:srgbClr val="E57000"/>
            </a:solidFill>
            <a:ln>
              <a:noFill/>
            </a:ln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+mn-ea"/>
                <a:cs typeface="+mn-cs"/>
              </a:endParaRPr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60CAAE4E-6E45-804B-D94C-D88473639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291" y="7846229"/>
              <a:ext cx="528148" cy="490796"/>
            </a:xfrm>
            <a:custGeom>
              <a:avLst/>
              <a:gdLst>
                <a:gd name="T0" fmla="*/ 2147483646 w 458"/>
                <a:gd name="T1" fmla="*/ 2147483646 h 523"/>
                <a:gd name="T2" fmla="*/ 2147483646 w 458"/>
                <a:gd name="T3" fmla="*/ 2147483646 h 523"/>
                <a:gd name="T4" fmla="*/ 2147483646 w 458"/>
                <a:gd name="T5" fmla="*/ 2147483646 h 523"/>
                <a:gd name="T6" fmla="*/ 2147483646 w 458"/>
                <a:gd name="T7" fmla="*/ 2147483646 h 523"/>
                <a:gd name="T8" fmla="*/ 2147483646 w 458"/>
                <a:gd name="T9" fmla="*/ 2147483646 h 523"/>
                <a:gd name="T10" fmla="*/ 0 w 458"/>
                <a:gd name="T11" fmla="*/ 2147483646 h 523"/>
                <a:gd name="T12" fmla="*/ 0 w 458"/>
                <a:gd name="T13" fmla="*/ 2147483646 h 523"/>
                <a:gd name="T14" fmla="*/ 0 w 458"/>
                <a:gd name="T15" fmla="*/ 2147483646 h 523"/>
                <a:gd name="T16" fmla="*/ 0 w 458"/>
                <a:gd name="T17" fmla="*/ 2147483646 h 523"/>
                <a:gd name="T18" fmla="*/ 2147483646 w 458"/>
                <a:gd name="T19" fmla="*/ 2147483646 h 523"/>
                <a:gd name="T20" fmla="*/ 2147483646 w 458"/>
                <a:gd name="T21" fmla="*/ 2147483646 h 523"/>
                <a:gd name="T22" fmla="*/ 2147483646 w 458"/>
                <a:gd name="T23" fmla="*/ 2147483646 h 523"/>
                <a:gd name="T24" fmla="*/ 2147483646 w 458"/>
                <a:gd name="T25" fmla="*/ 2147483646 h 523"/>
                <a:gd name="T26" fmla="*/ 2147483646 w 458"/>
                <a:gd name="T27" fmla="*/ 2147483646 h 523"/>
                <a:gd name="T28" fmla="*/ 2147483646 w 458"/>
                <a:gd name="T29" fmla="*/ 2147483646 h 523"/>
                <a:gd name="T30" fmla="*/ 2147483646 w 458"/>
                <a:gd name="T31" fmla="*/ 2147483646 h 523"/>
                <a:gd name="T32" fmla="*/ 2147483646 w 458"/>
                <a:gd name="T33" fmla="*/ 2147483646 h 52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8" h="523">
                  <a:moveTo>
                    <a:pt x="457" y="144"/>
                  </a:moveTo>
                  <a:cubicBezTo>
                    <a:pt x="457" y="135"/>
                    <a:pt x="452" y="127"/>
                    <a:pt x="445" y="122"/>
                  </a:cubicBezTo>
                  <a:cubicBezTo>
                    <a:pt x="242" y="5"/>
                    <a:pt x="242" y="5"/>
                    <a:pt x="242" y="5"/>
                  </a:cubicBezTo>
                  <a:cubicBezTo>
                    <a:pt x="234" y="0"/>
                    <a:pt x="224" y="0"/>
                    <a:pt x="216" y="5"/>
                  </a:cubicBezTo>
                  <a:cubicBezTo>
                    <a:pt x="13" y="122"/>
                    <a:pt x="13" y="122"/>
                    <a:pt x="13" y="122"/>
                  </a:cubicBezTo>
                  <a:cubicBezTo>
                    <a:pt x="5" y="127"/>
                    <a:pt x="0" y="135"/>
                    <a:pt x="0" y="144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379"/>
                    <a:pt x="0" y="379"/>
                    <a:pt x="0" y="379"/>
                  </a:cubicBezTo>
                  <a:cubicBezTo>
                    <a:pt x="0" y="379"/>
                    <a:pt x="0" y="379"/>
                    <a:pt x="0" y="380"/>
                  </a:cubicBezTo>
                  <a:cubicBezTo>
                    <a:pt x="0" y="388"/>
                    <a:pt x="5" y="397"/>
                    <a:pt x="13" y="401"/>
                  </a:cubicBezTo>
                  <a:cubicBezTo>
                    <a:pt x="216" y="519"/>
                    <a:pt x="216" y="519"/>
                    <a:pt x="216" y="519"/>
                  </a:cubicBezTo>
                  <a:cubicBezTo>
                    <a:pt x="224" y="523"/>
                    <a:pt x="233" y="523"/>
                    <a:pt x="241" y="519"/>
                  </a:cubicBezTo>
                  <a:cubicBezTo>
                    <a:pt x="445" y="401"/>
                    <a:pt x="445" y="401"/>
                    <a:pt x="445" y="401"/>
                  </a:cubicBezTo>
                  <a:cubicBezTo>
                    <a:pt x="452" y="397"/>
                    <a:pt x="457" y="389"/>
                    <a:pt x="457" y="380"/>
                  </a:cubicBezTo>
                  <a:cubicBezTo>
                    <a:pt x="457" y="380"/>
                    <a:pt x="457" y="379"/>
                    <a:pt x="457" y="379"/>
                  </a:cubicBezTo>
                  <a:cubicBezTo>
                    <a:pt x="458" y="144"/>
                    <a:pt x="458" y="144"/>
                    <a:pt x="458" y="144"/>
                  </a:cubicBezTo>
                  <a:cubicBezTo>
                    <a:pt x="458" y="144"/>
                    <a:pt x="457" y="144"/>
                    <a:pt x="457" y="144"/>
                  </a:cubicBezTo>
                  <a:close/>
                </a:path>
              </a:pathLst>
            </a:custGeom>
            <a:solidFill>
              <a:srgbClr val="E57000"/>
            </a:solidFill>
            <a:ln>
              <a:noFill/>
            </a:ln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+mn-ea"/>
                <a:cs typeface="+mn-cs"/>
              </a:endParaRPr>
            </a:p>
          </p:txBody>
        </p:sp>
        <p:sp>
          <p:nvSpPr>
            <p:cNvPr id="20" name="TextBox 51">
              <a:extLst>
                <a:ext uri="{FF2B5EF4-FFF2-40B4-BE49-F238E27FC236}">
                  <a16:creationId xmlns:a16="http://schemas.microsoft.com/office/drawing/2014/main" id="{BEB6F7CB-BA77-82BB-41AD-A6A8571092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3633" y="7190641"/>
              <a:ext cx="642775" cy="139034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Solution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Architecture</a:t>
              </a:r>
            </a:p>
          </p:txBody>
        </p:sp>
        <p:sp>
          <p:nvSpPr>
            <p:cNvPr id="21" name="TextBox 52">
              <a:extLst>
                <a:ext uri="{FF2B5EF4-FFF2-40B4-BE49-F238E27FC236}">
                  <a16:creationId xmlns:a16="http://schemas.microsoft.com/office/drawing/2014/main" id="{710B2115-E5B1-FE2F-EECF-9B60953F2A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6735" y="7560474"/>
              <a:ext cx="700810" cy="225729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Design,</a:t>
              </a:r>
              <a:b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</a:b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Configuration &amp;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Development</a:t>
              </a:r>
            </a:p>
          </p:txBody>
        </p:sp>
        <p:sp>
          <p:nvSpPr>
            <p:cNvPr id="22" name="TextBox 53">
              <a:extLst>
                <a:ext uri="{FF2B5EF4-FFF2-40B4-BE49-F238E27FC236}">
                  <a16:creationId xmlns:a16="http://schemas.microsoft.com/office/drawing/2014/main" id="{A49ADCC9-7111-21C2-9A94-5ACCB566D2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5050" y="8059626"/>
              <a:ext cx="519201" cy="98395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Testing </a:t>
              </a:r>
            </a:p>
          </p:txBody>
        </p:sp>
        <p:sp>
          <p:nvSpPr>
            <p:cNvPr id="23" name="TextBox 54">
              <a:extLst>
                <a:ext uri="{FF2B5EF4-FFF2-40B4-BE49-F238E27FC236}">
                  <a16:creationId xmlns:a16="http://schemas.microsoft.com/office/drawing/2014/main" id="{00EFF11E-51D2-E44F-4301-57E0E574ED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1510" y="7978762"/>
              <a:ext cx="483699" cy="225729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Data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Replication /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Migration</a:t>
              </a:r>
            </a:p>
          </p:txBody>
        </p:sp>
        <p:sp>
          <p:nvSpPr>
            <p:cNvPr id="24" name="TextBox 55">
              <a:extLst>
                <a:ext uri="{FF2B5EF4-FFF2-40B4-BE49-F238E27FC236}">
                  <a16:creationId xmlns:a16="http://schemas.microsoft.com/office/drawing/2014/main" id="{8632CA45-4B46-AD4A-1CA1-66EDF53920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6022" y="7560474"/>
              <a:ext cx="564170" cy="225729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Deployment &amp;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Post Production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Support</a:t>
              </a:r>
            </a:p>
          </p:txBody>
        </p:sp>
        <p:sp>
          <p:nvSpPr>
            <p:cNvPr id="25" name="TextBox 56">
              <a:extLst>
                <a:ext uri="{FF2B5EF4-FFF2-40B4-BE49-F238E27FC236}">
                  <a16:creationId xmlns:a16="http://schemas.microsoft.com/office/drawing/2014/main" id="{A122A18E-E67E-525E-149E-5444570F47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0344" y="7137940"/>
              <a:ext cx="520672" cy="225729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Requirements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Definition &amp;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Analysis</a:t>
              </a:r>
            </a:p>
          </p:txBody>
        </p:sp>
        <p:sp>
          <p:nvSpPr>
            <p:cNvPr id="26" name="TextBox 57">
              <a:extLst>
                <a:ext uri="{FF2B5EF4-FFF2-40B4-BE49-F238E27FC236}">
                  <a16:creationId xmlns:a16="http://schemas.microsoft.com/office/drawing/2014/main" id="{4E8475E6-88FC-14F9-E526-A53D3B9B37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50569" y="7551843"/>
              <a:ext cx="509072" cy="243093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" panose="020B0604020202020204" pitchFamily="34" charset="0"/>
                </a:rPr>
                <a:t>Governance</a:t>
              </a:r>
              <a:b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" panose="020B0604020202020204" pitchFamily="34" charset="0"/>
                </a:rPr>
              </a:b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" panose="020B0604020202020204" pitchFamily="34" charset="0"/>
                </a:rPr>
                <a:t>&amp; Program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" panose="020B0604020202020204" pitchFamily="34" charset="0"/>
                </a:rPr>
                <a:t>Management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F9218F2F-C5BD-1CF0-1993-F8E1AEE68836}"/>
              </a:ext>
            </a:extLst>
          </p:cNvPr>
          <p:cNvSpPr txBox="1"/>
          <p:nvPr/>
        </p:nvSpPr>
        <p:spPr>
          <a:xfrm>
            <a:off x="525526" y="1481300"/>
            <a:ext cx="2184645" cy="594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4963" marR="0" lvl="0" indent="-285750" algn="l" defTabSz="914400" rtl="0" eaLnBrk="0" fontAlgn="auto" latinLnBrk="0" hangingPunct="0">
              <a:lnSpc>
                <a:spcPct val="104000"/>
              </a:lnSpc>
              <a:spcBef>
                <a:spcPts val="50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itchFamily="2" charset="2"/>
              <a:buChar char="ü"/>
              <a:tabLst>
                <a:tab pos="-457200" algn="l"/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IBM Plex Sans" panose="020B0503050203000203" pitchFamily="34" charset="0"/>
                <a:ea typeface="Arial Narrow" charset="0"/>
                <a:cs typeface="Arial" panose="020B0604020202020204" pitchFamily="34" charset="0"/>
              </a:rPr>
              <a:t>Faster Payment</a:t>
            </a:r>
          </a:p>
          <a:p>
            <a:pPr marL="334963" marR="0" lvl="0" indent="-285750" algn="l" defTabSz="914400" rtl="0" eaLnBrk="0" fontAlgn="auto" latinLnBrk="0" hangingPunct="0">
              <a:lnSpc>
                <a:spcPct val="104000"/>
              </a:lnSpc>
              <a:spcBef>
                <a:spcPts val="50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itchFamily="2" charset="2"/>
              <a:buChar char="ü"/>
              <a:tabLst>
                <a:tab pos="-457200" algn="l"/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IBM Plex Sans" panose="020B0503050203000203" pitchFamily="34" charset="0"/>
                <a:ea typeface="Arial Narrow" charset="0"/>
                <a:cs typeface="Arial" panose="020B0604020202020204" pitchFamily="34" charset="0"/>
              </a:rPr>
              <a:t>International Wires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0F28B1-C1ED-FB11-FF7F-8E8738BD8163}"/>
              </a:ext>
            </a:extLst>
          </p:cNvPr>
          <p:cNvSpPr txBox="1"/>
          <p:nvPr/>
        </p:nvSpPr>
        <p:spPr>
          <a:xfrm rot="16200000">
            <a:off x="-423811" y="3477341"/>
            <a:ext cx="1909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TechPartner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SCOPE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5B71F5-8484-A81A-A02F-61C04D2013E2}"/>
              </a:ext>
            </a:extLst>
          </p:cNvPr>
          <p:cNvSpPr txBox="1"/>
          <p:nvPr/>
        </p:nvSpPr>
        <p:spPr>
          <a:xfrm>
            <a:off x="2864191" y="1481300"/>
            <a:ext cx="2451728" cy="818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4963" marR="0" lvl="0" indent="-285750" algn="l" defTabSz="914400" rtl="0" eaLnBrk="0" fontAlgn="auto" latinLnBrk="0" hangingPunct="0">
              <a:lnSpc>
                <a:spcPct val="104000"/>
              </a:lnSpc>
              <a:spcBef>
                <a:spcPts val="50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itchFamily="2" charset="2"/>
              <a:buChar char="ü"/>
              <a:tabLst>
                <a:tab pos="-457200" algn="l"/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IBM Plex Sans" panose="020B0503050203000203" pitchFamily="34" charset="0"/>
                <a:ea typeface="Arial Narrow" charset="0"/>
                <a:cs typeface="Arial" panose="020B0604020202020204" pitchFamily="34" charset="0"/>
              </a:rPr>
              <a:t>High Value Payments (Wires)</a:t>
            </a:r>
          </a:p>
          <a:p>
            <a:pPr marL="334963" marR="0" lvl="0" indent="-285750" algn="l" defTabSz="914400" rtl="0" eaLnBrk="0" fontAlgn="auto" latinLnBrk="0" hangingPunct="0">
              <a:lnSpc>
                <a:spcPct val="104000"/>
              </a:lnSpc>
              <a:spcBef>
                <a:spcPts val="50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itchFamily="2" charset="2"/>
              <a:buChar char="ü"/>
              <a:tabLst>
                <a:tab pos="-457200" algn="l"/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IBM Plex Sans" panose="020B0503050203000203" pitchFamily="34" charset="0"/>
                <a:ea typeface="Arial Narrow" charset="0"/>
                <a:cs typeface="Arial" panose="020B0604020202020204" pitchFamily="34" charset="0"/>
              </a:rPr>
              <a:t>Low Value Payments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2D556B-7B16-5DD9-8334-79AD1406B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73328" y="6475653"/>
            <a:ext cx="2844800" cy="366183"/>
          </a:xfrm>
        </p:spPr>
        <p:txBody>
          <a:bodyPr/>
          <a:lstStyle/>
          <a:p>
            <a:pPr marL="0" marR="0" lvl="0" indent="0" algn="r" defTabSz="913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532031-6A7D-483A-A066-0D4C829E5C9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39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483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0112E7A0-07B2-B195-B28A-48358341D2EC}"/>
              </a:ext>
            </a:extLst>
          </p:cNvPr>
          <p:cNvSpPr/>
          <p:nvPr/>
        </p:nvSpPr>
        <p:spPr>
          <a:xfrm>
            <a:off x="5553745" y="585907"/>
            <a:ext cx="6676972" cy="601625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CC2B990-9AE6-96A0-0902-C4EB23316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65" y="-108780"/>
            <a:ext cx="11701670" cy="917198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IBM Plex Sans Medium" panose="020B0503050203000203" pitchFamily="34" charset="0"/>
              </a:rPr>
              <a:t>Clearing &amp; Settlement of Wholesale Foreign Exchange Payments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A82BAD-6CC2-41D1-80B1-DFAD127BF9BA}"/>
              </a:ext>
            </a:extLst>
          </p:cNvPr>
          <p:cNvSpPr/>
          <p:nvPr/>
        </p:nvSpPr>
        <p:spPr>
          <a:xfrm>
            <a:off x="5807600" y="4977510"/>
            <a:ext cx="630791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Key Drivers &amp; Transformation Program Objectives</a:t>
            </a:r>
          </a:p>
          <a:p>
            <a:pPr marL="177796" marR="0" lvl="0" indent="-177796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+mn-ea"/>
                <a:cs typeface="Arial" panose="020B0604020202020204" pitchFamily="34" charset="0"/>
              </a:rPr>
              <a:t>The Money Loss Key Settlement(MLKS) platform provides the worlds’ largest multi-currency cash settlement system, eliminating settlement risk for over half the world’s foreign exchange payment instructions (identified as one of 6 critical global market infrastructures). </a:t>
            </a:r>
          </a:p>
          <a:p>
            <a:pPr marL="177796" marR="0" lvl="0" indent="-177796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+mn-ea"/>
                <a:cs typeface="Arial" panose="020B0604020202020204" pitchFamily="34" charset="0"/>
              </a:rPr>
              <a:t>MLKS sought to eliminate the risk of default on foreign exchange (FX) transactions caused by time zone differences and to transform FX settlement processes by enabling simultaneous and real-time global settlement. </a:t>
            </a:r>
          </a:p>
          <a:p>
            <a:pPr marL="177796" marR="0" lvl="0" indent="-177796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+mn-ea"/>
                <a:cs typeface="Arial" panose="020B0604020202020204" pitchFamily="34" charset="0"/>
              </a:rPr>
              <a:t>MLKS is integrated with the Central Bank RTGS’ system, as well as members’ back-office systems.</a:t>
            </a:r>
          </a:p>
        </p:txBody>
      </p:sp>
      <p:sp>
        <p:nvSpPr>
          <p:cNvPr id="27" name="Rectangle 15">
            <a:extLst>
              <a:ext uri="{FF2B5EF4-FFF2-40B4-BE49-F238E27FC236}">
                <a16:creationId xmlns:a16="http://schemas.microsoft.com/office/drawing/2014/main" id="{3936623E-BABB-4050-A089-FFDD070D9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600" y="4251908"/>
            <a:ext cx="5618003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288" marR="0" lvl="0" indent="0" algn="l" defTabSz="914377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44546A"/>
              </a:buClr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MS Mincho" charset="-128"/>
                <a:cs typeface="+mn-cs"/>
              </a:rPr>
              <a:t>New Initiatives</a:t>
            </a:r>
          </a:p>
          <a:p>
            <a:pPr marL="403225" marR="0" lvl="0" indent="-219075" algn="l" defTabSz="914377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44546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Introduction of RTGS Hub – multi year transition project to have a single Alliance Messaging Hub for all currencies</a:t>
            </a:r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5623CE5E-C9F3-42FD-BE32-3226A9D7A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4857" y="904841"/>
            <a:ext cx="6211305" cy="338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288" marR="0" lvl="0" indent="0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546A"/>
              </a:buClr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MS Mincho" charset="-128"/>
                <a:cs typeface="+mn-cs"/>
              </a:rPr>
              <a:t>Program Highlights &amp; Key Metrics</a:t>
            </a:r>
          </a:p>
          <a:p>
            <a:pPr marL="14288" marR="0" lvl="0" indent="0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546A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MS Mincho" charset="-128"/>
                <a:cs typeface="+mn-cs"/>
              </a:rPr>
              <a:t>TechPartner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MS Mincho" charset="-128"/>
                <a:cs typeface="+mn-cs"/>
              </a:rPr>
              <a:t> designed, developed, built, and run under managed services. 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000000000" pitchFamily="34" charset="77"/>
              <a:ea typeface="Arial Narrow" charset="0"/>
              <a:cs typeface="+mn-cs"/>
            </a:endParaRPr>
          </a:p>
          <a:p>
            <a:pPr marL="403225" marR="0" lvl="0" indent="-219075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546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Design, develop, and deploy a single application which settles all the FX trades between member banks (Spot, Forwards, Options, Swaps, NDF, Credit derivatives)</a:t>
            </a:r>
          </a:p>
          <a:p>
            <a:pPr marL="403225" marR="0" lvl="0" indent="-219075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546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Moving from every-day settlement to Instant settlement </a:t>
            </a:r>
          </a:p>
          <a:p>
            <a:pPr marL="403225" marR="0" lvl="0" indent="-219075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546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System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57000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57000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supports trading on 18 currencies</a:t>
            </a:r>
          </a:p>
          <a:p>
            <a:pPr marL="403225" marR="0" lvl="0" indent="-219075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546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Leverage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TechPartner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 Global Delivery Model – the current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TechPartner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 and client geography is distributed across three continents</a:t>
            </a:r>
          </a:p>
          <a:p>
            <a:pPr marL="403225" marR="0" lvl="0" indent="-219075" algn="l" defTabSz="914377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4546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Implemented FX trading life-cycle</a:t>
            </a:r>
          </a:p>
          <a:p>
            <a:pPr marL="403225" marR="0" lvl="3" indent="-219075" algn="l" defTabSz="914377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4546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Implemented Clearing &amp; Settlement, Transaction Processing, &amp; Reporting functions</a:t>
            </a:r>
          </a:p>
          <a:p>
            <a:pPr marL="403225" marR="0" lvl="0" indent="-219075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546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Improved processes and lowered risk through the One Settlement Window</a:t>
            </a:r>
          </a:p>
          <a:p>
            <a:pPr marL="403225" marR="0" lvl="0" indent="-219075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546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Daily average of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57000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700K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 trades with a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57000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peak volume of 1.93 million trades from 60 member banks</a:t>
            </a:r>
          </a:p>
          <a:p>
            <a:pPr marL="403225" marR="0" lvl="0" indent="-219075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546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57000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Transactions totaling $5 trillion US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Arial Narrow" charset="0"/>
                <a:cs typeface="Arial" panose="020B0604020202020204" pitchFamily="34" charset="0"/>
              </a:rPr>
              <a:t> on average settled daily, with a high watermark of $23 trillion settled during the “Lehmann week” in September 2018.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D190E4-3299-A2EF-0274-AEEF16AEE6EB}"/>
              </a:ext>
            </a:extLst>
          </p:cNvPr>
          <p:cNvSpPr/>
          <p:nvPr/>
        </p:nvSpPr>
        <p:spPr>
          <a:xfrm>
            <a:off x="285837" y="861844"/>
            <a:ext cx="5183592" cy="592141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1F555A-F259-814F-91D6-23CC458EECFF}"/>
              </a:ext>
            </a:extLst>
          </p:cNvPr>
          <p:cNvGrpSpPr/>
          <p:nvPr/>
        </p:nvGrpSpPr>
        <p:grpSpPr>
          <a:xfrm>
            <a:off x="760752" y="2458328"/>
            <a:ext cx="4694740" cy="4092589"/>
            <a:chOff x="4536022" y="7016475"/>
            <a:chExt cx="1821523" cy="13205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A12217C-3B28-1FA2-B7D6-BE91B5340FAB}"/>
                </a:ext>
              </a:extLst>
            </p:cNvPr>
            <p:cNvSpPr/>
            <p:nvPr/>
          </p:nvSpPr>
          <p:spPr bwMode="auto">
            <a:xfrm>
              <a:off x="4738480" y="7129033"/>
              <a:ext cx="1335952" cy="1087393"/>
            </a:xfrm>
            <a:prstGeom prst="ellipse">
              <a:avLst/>
            </a:prstGeom>
            <a:solidFill>
              <a:srgbClr val="5AA2AE">
                <a:lumMod val="20000"/>
                <a:lumOff val="80000"/>
              </a:srgbClr>
            </a:solidFill>
            <a:ln w="4762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000000000" pitchFamily="34" charset="77"/>
                <a:ea typeface=""/>
                <a:cs typeface=""/>
              </a:endParaRPr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01DD09E-DC03-FE55-4149-29C9AD399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7324" y="7016475"/>
              <a:ext cx="528455" cy="490433"/>
            </a:xfrm>
            <a:custGeom>
              <a:avLst/>
              <a:gdLst>
                <a:gd name="T0" fmla="*/ 458 w 458"/>
                <a:gd name="T1" fmla="*/ 143 h 522"/>
                <a:gd name="T2" fmla="*/ 445 w 458"/>
                <a:gd name="T3" fmla="*/ 122 h 522"/>
                <a:gd name="T4" fmla="*/ 242 w 458"/>
                <a:gd name="T5" fmla="*/ 4 h 522"/>
                <a:gd name="T6" fmla="*/ 216 w 458"/>
                <a:gd name="T7" fmla="*/ 4 h 522"/>
                <a:gd name="T8" fmla="*/ 13 w 458"/>
                <a:gd name="T9" fmla="*/ 121 h 522"/>
                <a:gd name="T10" fmla="*/ 0 w 458"/>
                <a:gd name="T11" fmla="*/ 143 h 522"/>
                <a:gd name="T12" fmla="*/ 0 w 458"/>
                <a:gd name="T13" fmla="*/ 378 h 522"/>
                <a:gd name="T14" fmla="*/ 0 w 458"/>
                <a:gd name="T15" fmla="*/ 379 h 522"/>
                <a:gd name="T16" fmla="*/ 13 w 458"/>
                <a:gd name="T17" fmla="*/ 400 h 522"/>
                <a:gd name="T18" fmla="*/ 216 w 458"/>
                <a:gd name="T19" fmla="*/ 518 h 522"/>
                <a:gd name="T20" fmla="*/ 241 w 458"/>
                <a:gd name="T21" fmla="*/ 518 h 522"/>
                <a:gd name="T22" fmla="*/ 445 w 458"/>
                <a:gd name="T23" fmla="*/ 400 h 522"/>
                <a:gd name="T24" fmla="*/ 457 w 458"/>
                <a:gd name="T25" fmla="*/ 379 h 522"/>
                <a:gd name="T26" fmla="*/ 457 w 458"/>
                <a:gd name="T27" fmla="*/ 378 h 522"/>
                <a:gd name="T28" fmla="*/ 458 w 458"/>
                <a:gd name="T29" fmla="*/ 144 h 522"/>
                <a:gd name="T30" fmla="*/ 458 w 458"/>
                <a:gd name="T31" fmla="*/ 143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58" h="522">
                  <a:moveTo>
                    <a:pt x="458" y="143"/>
                  </a:moveTo>
                  <a:cubicBezTo>
                    <a:pt x="458" y="134"/>
                    <a:pt x="453" y="126"/>
                    <a:pt x="445" y="122"/>
                  </a:cubicBezTo>
                  <a:cubicBezTo>
                    <a:pt x="242" y="4"/>
                    <a:pt x="242" y="4"/>
                    <a:pt x="242" y="4"/>
                  </a:cubicBezTo>
                  <a:cubicBezTo>
                    <a:pt x="234" y="0"/>
                    <a:pt x="224" y="0"/>
                    <a:pt x="216" y="4"/>
                  </a:cubicBezTo>
                  <a:cubicBezTo>
                    <a:pt x="13" y="121"/>
                    <a:pt x="13" y="121"/>
                    <a:pt x="13" y="121"/>
                  </a:cubicBezTo>
                  <a:cubicBezTo>
                    <a:pt x="5" y="126"/>
                    <a:pt x="0" y="134"/>
                    <a:pt x="0" y="143"/>
                  </a:cubicBezTo>
                  <a:cubicBezTo>
                    <a:pt x="0" y="378"/>
                    <a:pt x="0" y="378"/>
                    <a:pt x="0" y="378"/>
                  </a:cubicBezTo>
                  <a:cubicBezTo>
                    <a:pt x="0" y="379"/>
                    <a:pt x="0" y="379"/>
                    <a:pt x="0" y="379"/>
                  </a:cubicBezTo>
                  <a:cubicBezTo>
                    <a:pt x="0" y="388"/>
                    <a:pt x="5" y="396"/>
                    <a:pt x="13" y="400"/>
                  </a:cubicBezTo>
                  <a:cubicBezTo>
                    <a:pt x="216" y="518"/>
                    <a:pt x="216" y="518"/>
                    <a:pt x="216" y="518"/>
                  </a:cubicBezTo>
                  <a:cubicBezTo>
                    <a:pt x="224" y="522"/>
                    <a:pt x="233" y="522"/>
                    <a:pt x="241" y="518"/>
                  </a:cubicBezTo>
                  <a:cubicBezTo>
                    <a:pt x="445" y="400"/>
                    <a:pt x="445" y="400"/>
                    <a:pt x="445" y="400"/>
                  </a:cubicBezTo>
                  <a:cubicBezTo>
                    <a:pt x="452" y="396"/>
                    <a:pt x="457" y="388"/>
                    <a:pt x="457" y="379"/>
                  </a:cubicBezTo>
                  <a:cubicBezTo>
                    <a:pt x="457" y="379"/>
                    <a:pt x="457" y="379"/>
                    <a:pt x="457" y="378"/>
                  </a:cubicBezTo>
                  <a:cubicBezTo>
                    <a:pt x="458" y="144"/>
                    <a:pt x="458" y="144"/>
                    <a:pt x="458" y="144"/>
                  </a:cubicBezTo>
                  <a:cubicBezTo>
                    <a:pt x="458" y="144"/>
                    <a:pt x="458" y="143"/>
                    <a:pt x="458" y="143"/>
                  </a:cubicBezTo>
                  <a:close/>
                </a:path>
              </a:pathLst>
            </a:custGeom>
            <a:solidFill>
              <a:srgbClr val="E57000"/>
            </a:solidFill>
            <a:ln>
              <a:noFill/>
            </a:ln>
            <a:effectLst/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+mn-ea"/>
                <a:cs typeface="+mn-cs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730747DA-72D0-5346-7893-2D25E251C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291" y="7016475"/>
              <a:ext cx="528148" cy="490003"/>
            </a:xfrm>
            <a:custGeom>
              <a:avLst/>
              <a:gdLst>
                <a:gd name="T0" fmla="*/ 2147483646 w 458"/>
                <a:gd name="T1" fmla="*/ 2147483646 h 522"/>
                <a:gd name="T2" fmla="*/ 2147483646 w 458"/>
                <a:gd name="T3" fmla="*/ 2147483646 h 522"/>
                <a:gd name="T4" fmla="*/ 2147483646 w 458"/>
                <a:gd name="T5" fmla="*/ 2147483646 h 522"/>
                <a:gd name="T6" fmla="*/ 2147483646 w 458"/>
                <a:gd name="T7" fmla="*/ 2147483646 h 522"/>
                <a:gd name="T8" fmla="*/ 2147483646 w 458"/>
                <a:gd name="T9" fmla="*/ 2147483646 h 522"/>
                <a:gd name="T10" fmla="*/ 0 w 458"/>
                <a:gd name="T11" fmla="*/ 2147483646 h 522"/>
                <a:gd name="T12" fmla="*/ 0 w 458"/>
                <a:gd name="T13" fmla="*/ 2147483646 h 522"/>
                <a:gd name="T14" fmla="*/ 0 w 458"/>
                <a:gd name="T15" fmla="*/ 2147483646 h 522"/>
                <a:gd name="T16" fmla="*/ 2147483646 w 458"/>
                <a:gd name="T17" fmla="*/ 2147483646 h 522"/>
                <a:gd name="T18" fmla="*/ 2147483646 w 458"/>
                <a:gd name="T19" fmla="*/ 2147483646 h 522"/>
                <a:gd name="T20" fmla="*/ 2147483646 w 458"/>
                <a:gd name="T21" fmla="*/ 2147483646 h 522"/>
                <a:gd name="T22" fmla="*/ 2147483646 w 458"/>
                <a:gd name="T23" fmla="*/ 2147483646 h 522"/>
                <a:gd name="T24" fmla="*/ 2147483646 w 458"/>
                <a:gd name="T25" fmla="*/ 2147483646 h 522"/>
                <a:gd name="T26" fmla="*/ 2147483646 w 458"/>
                <a:gd name="T27" fmla="*/ 2147483646 h 522"/>
                <a:gd name="T28" fmla="*/ 2147483646 w 458"/>
                <a:gd name="T29" fmla="*/ 2147483646 h 522"/>
                <a:gd name="T30" fmla="*/ 2147483646 w 458"/>
                <a:gd name="T31" fmla="*/ 2147483646 h 52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58" h="522">
                  <a:moveTo>
                    <a:pt x="458" y="143"/>
                  </a:moveTo>
                  <a:cubicBezTo>
                    <a:pt x="457" y="134"/>
                    <a:pt x="453" y="126"/>
                    <a:pt x="445" y="122"/>
                  </a:cubicBezTo>
                  <a:cubicBezTo>
                    <a:pt x="242" y="4"/>
                    <a:pt x="242" y="4"/>
                    <a:pt x="242" y="4"/>
                  </a:cubicBezTo>
                  <a:cubicBezTo>
                    <a:pt x="234" y="0"/>
                    <a:pt x="224" y="0"/>
                    <a:pt x="216" y="4"/>
                  </a:cubicBezTo>
                  <a:cubicBezTo>
                    <a:pt x="13" y="121"/>
                    <a:pt x="13" y="121"/>
                    <a:pt x="13" y="121"/>
                  </a:cubicBezTo>
                  <a:cubicBezTo>
                    <a:pt x="5" y="126"/>
                    <a:pt x="0" y="134"/>
                    <a:pt x="0" y="143"/>
                  </a:cubicBezTo>
                  <a:cubicBezTo>
                    <a:pt x="0" y="378"/>
                    <a:pt x="0" y="378"/>
                    <a:pt x="0" y="378"/>
                  </a:cubicBezTo>
                  <a:cubicBezTo>
                    <a:pt x="0" y="379"/>
                    <a:pt x="0" y="379"/>
                    <a:pt x="0" y="379"/>
                  </a:cubicBezTo>
                  <a:cubicBezTo>
                    <a:pt x="0" y="388"/>
                    <a:pt x="5" y="396"/>
                    <a:pt x="13" y="400"/>
                  </a:cubicBezTo>
                  <a:cubicBezTo>
                    <a:pt x="216" y="518"/>
                    <a:pt x="216" y="518"/>
                    <a:pt x="216" y="518"/>
                  </a:cubicBezTo>
                  <a:cubicBezTo>
                    <a:pt x="224" y="522"/>
                    <a:pt x="233" y="522"/>
                    <a:pt x="241" y="518"/>
                  </a:cubicBezTo>
                  <a:cubicBezTo>
                    <a:pt x="445" y="400"/>
                    <a:pt x="445" y="400"/>
                    <a:pt x="445" y="400"/>
                  </a:cubicBezTo>
                  <a:cubicBezTo>
                    <a:pt x="452" y="396"/>
                    <a:pt x="457" y="388"/>
                    <a:pt x="457" y="379"/>
                  </a:cubicBezTo>
                  <a:cubicBezTo>
                    <a:pt x="457" y="379"/>
                    <a:pt x="457" y="379"/>
                    <a:pt x="457" y="378"/>
                  </a:cubicBezTo>
                  <a:cubicBezTo>
                    <a:pt x="458" y="144"/>
                    <a:pt x="458" y="144"/>
                    <a:pt x="458" y="144"/>
                  </a:cubicBezTo>
                  <a:cubicBezTo>
                    <a:pt x="458" y="144"/>
                    <a:pt x="458" y="143"/>
                    <a:pt x="458" y="143"/>
                  </a:cubicBezTo>
                  <a:close/>
                </a:path>
              </a:pathLst>
            </a:custGeom>
            <a:solidFill>
              <a:srgbClr val="E57000"/>
            </a:solidFill>
            <a:ln>
              <a:noFill/>
            </a:ln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+mn-ea"/>
                <a:cs typeface="+mn-cs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8CAB7E8A-FF42-C236-6EFA-5B5141232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4035" y="7431551"/>
              <a:ext cx="528148" cy="490796"/>
            </a:xfrm>
            <a:custGeom>
              <a:avLst/>
              <a:gdLst>
                <a:gd name="T0" fmla="*/ 2147483646 w 458"/>
                <a:gd name="T1" fmla="*/ 2147483646 h 523"/>
                <a:gd name="T2" fmla="*/ 2147483646 w 458"/>
                <a:gd name="T3" fmla="*/ 2147483646 h 523"/>
                <a:gd name="T4" fmla="*/ 2147483646 w 458"/>
                <a:gd name="T5" fmla="*/ 2147483646 h 523"/>
                <a:gd name="T6" fmla="*/ 2147483646 w 458"/>
                <a:gd name="T7" fmla="*/ 2147483646 h 523"/>
                <a:gd name="T8" fmla="*/ 2147483646 w 458"/>
                <a:gd name="T9" fmla="*/ 2147483646 h 523"/>
                <a:gd name="T10" fmla="*/ 2147483646 w 458"/>
                <a:gd name="T11" fmla="*/ 2147483646 h 523"/>
                <a:gd name="T12" fmla="*/ 2147483646 w 458"/>
                <a:gd name="T13" fmla="*/ 2147483646 h 523"/>
                <a:gd name="T14" fmla="*/ 0 w 458"/>
                <a:gd name="T15" fmla="*/ 2147483646 h 523"/>
                <a:gd name="T16" fmla="*/ 2147483646 w 458"/>
                <a:gd name="T17" fmla="*/ 2147483646 h 523"/>
                <a:gd name="T18" fmla="*/ 2147483646 w 458"/>
                <a:gd name="T19" fmla="*/ 2147483646 h 523"/>
                <a:gd name="T20" fmla="*/ 2147483646 w 458"/>
                <a:gd name="T21" fmla="*/ 2147483646 h 523"/>
                <a:gd name="T22" fmla="*/ 2147483646 w 458"/>
                <a:gd name="T23" fmla="*/ 2147483646 h 523"/>
                <a:gd name="T24" fmla="*/ 2147483646 w 458"/>
                <a:gd name="T25" fmla="*/ 2147483646 h 523"/>
                <a:gd name="T26" fmla="*/ 2147483646 w 458"/>
                <a:gd name="T27" fmla="*/ 2147483646 h 523"/>
                <a:gd name="T28" fmla="*/ 2147483646 w 458"/>
                <a:gd name="T29" fmla="*/ 2147483646 h 523"/>
                <a:gd name="T30" fmla="*/ 2147483646 w 458"/>
                <a:gd name="T31" fmla="*/ 2147483646 h 523"/>
                <a:gd name="T32" fmla="*/ 2147483646 w 458"/>
                <a:gd name="T33" fmla="*/ 2147483646 h 52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8" h="523">
                  <a:moveTo>
                    <a:pt x="458" y="144"/>
                  </a:moveTo>
                  <a:cubicBezTo>
                    <a:pt x="458" y="135"/>
                    <a:pt x="453" y="127"/>
                    <a:pt x="445" y="122"/>
                  </a:cubicBezTo>
                  <a:cubicBezTo>
                    <a:pt x="242" y="5"/>
                    <a:pt x="242" y="5"/>
                    <a:pt x="242" y="5"/>
                  </a:cubicBezTo>
                  <a:cubicBezTo>
                    <a:pt x="234" y="0"/>
                    <a:pt x="225" y="0"/>
                    <a:pt x="217" y="5"/>
                  </a:cubicBezTo>
                  <a:cubicBezTo>
                    <a:pt x="13" y="122"/>
                    <a:pt x="13" y="122"/>
                    <a:pt x="13" y="122"/>
                  </a:cubicBezTo>
                  <a:cubicBezTo>
                    <a:pt x="5" y="126"/>
                    <a:pt x="1" y="135"/>
                    <a:pt x="1" y="144"/>
                  </a:cubicBezTo>
                  <a:cubicBezTo>
                    <a:pt x="1" y="144"/>
                    <a:pt x="1" y="144"/>
                    <a:pt x="1" y="144"/>
                  </a:cubicBezTo>
                  <a:cubicBezTo>
                    <a:pt x="0" y="379"/>
                    <a:pt x="0" y="379"/>
                    <a:pt x="0" y="379"/>
                  </a:cubicBezTo>
                  <a:cubicBezTo>
                    <a:pt x="0" y="379"/>
                    <a:pt x="1" y="380"/>
                    <a:pt x="1" y="380"/>
                  </a:cubicBezTo>
                  <a:cubicBezTo>
                    <a:pt x="1" y="389"/>
                    <a:pt x="6" y="396"/>
                    <a:pt x="13" y="401"/>
                  </a:cubicBezTo>
                  <a:cubicBezTo>
                    <a:pt x="216" y="518"/>
                    <a:pt x="216" y="518"/>
                    <a:pt x="216" y="518"/>
                  </a:cubicBezTo>
                  <a:cubicBezTo>
                    <a:pt x="224" y="523"/>
                    <a:pt x="234" y="523"/>
                    <a:pt x="242" y="518"/>
                  </a:cubicBezTo>
                  <a:cubicBezTo>
                    <a:pt x="445" y="401"/>
                    <a:pt x="445" y="401"/>
                    <a:pt x="445" y="401"/>
                  </a:cubicBezTo>
                  <a:cubicBezTo>
                    <a:pt x="453" y="397"/>
                    <a:pt x="458" y="389"/>
                    <a:pt x="458" y="380"/>
                  </a:cubicBezTo>
                  <a:cubicBezTo>
                    <a:pt x="458" y="380"/>
                    <a:pt x="458" y="379"/>
                    <a:pt x="458" y="379"/>
                  </a:cubicBezTo>
                  <a:cubicBezTo>
                    <a:pt x="458" y="144"/>
                    <a:pt x="458" y="144"/>
                    <a:pt x="458" y="144"/>
                  </a:cubicBezTo>
                  <a:cubicBezTo>
                    <a:pt x="458" y="144"/>
                    <a:pt x="458" y="144"/>
                    <a:pt x="458" y="144"/>
                  </a:cubicBezTo>
                  <a:close/>
                </a:path>
              </a:pathLst>
            </a:custGeom>
            <a:solidFill>
              <a:srgbClr val="E57000"/>
            </a:solidFill>
            <a:ln>
              <a:noFill/>
            </a:ln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+mn-ea"/>
                <a:cs typeface="+mn-cs"/>
              </a:endParaRPr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7A8DEEF8-0BBF-D2A5-FCFC-ACC5BCE1C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3653" y="7432538"/>
              <a:ext cx="525986" cy="490433"/>
            </a:xfrm>
            <a:custGeom>
              <a:avLst/>
              <a:gdLst>
                <a:gd name="T0" fmla="*/ 458 w 458"/>
                <a:gd name="T1" fmla="*/ 144 h 523"/>
                <a:gd name="T2" fmla="*/ 445 w 458"/>
                <a:gd name="T3" fmla="*/ 122 h 523"/>
                <a:gd name="T4" fmla="*/ 242 w 458"/>
                <a:gd name="T5" fmla="*/ 5 h 523"/>
                <a:gd name="T6" fmla="*/ 217 w 458"/>
                <a:gd name="T7" fmla="*/ 5 h 523"/>
                <a:gd name="T8" fmla="*/ 13 w 458"/>
                <a:gd name="T9" fmla="*/ 122 h 523"/>
                <a:gd name="T10" fmla="*/ 1 w 458"/>
                <a:gd name="T11" fmla="*/ 144 h 523"/>
                <a:gd name="T12" fmla="*/ 1 w 458"/>
                <a:gd name="T13" fmla="*/ 144 h 523"/>
                <a:gd name="T14" fmla="*/ 0 w 458"/>
                <a:gd name="T15" fmla="*/ 379 h 523"/>
                <a:gd name="T16" fmla="*/ 0 w 458"/>
                <a:gd name="T17" fmla="*/ 380 h 523"/>
                <a:gd name="T18" fmla="*/ 13 w 458"/>
                <a:gd name="T19" fmla="*/ 401 h 523"/>
                <a:gd name="T20" fmla="*/ 216 w 458"/>
                <a:gd name="T21" fmla="*/ 518 h 523"/>
                <a:gd name="T22" fmla="*/ 242 w 458"/>
                <a:gd name="T23" fmla="*/ 518 h 523"/>
                <a:gd name="T24" fmla="*/ 445 w 458"/>
                <a:gd name="T25" fmla="*/ 401 h 523"/>
                <a:gd name="T26" fmla="*/ 458 w 458"/>
                <a:gd name="T27" fmla="*/ 380 h 523"/>
                <a:gd name="T28" fmla="*/ 458 w 458"/>
                <a:gd name="T29" fmla="*/ 379 h 523"/>
                <a:gd name="T30" fmla="*/ 458 w 458"/>
                <a:gd name="T31" fmla="*/ 144 h 523"/>
                <a:gd name="T32" fmla="*/ 458 w 458"/>
                <a:gd name="T33" fmla="*/ 144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58" h="523">
                  <a:moveTo>
                    <a:pt x="458" y="144"/>
                  </a:moveTo>
                  <a:cubicBezTo>
                    <a:pt x="458" y="135"/>
                    <a:pt x="453" y="127"/>
                    <a:pt x="445" y="122"/>
                  </a:cubicBezTo>
                  <a:cubicBezTo>
                    <a:pt x="242" y="5"/>
                    <a:pt x="242" y="5"/>
                    <a:pt x="242" y="5"/>
                  </a:cubicBezTo>
                  <a:cubicBezTo>
                    <a:pt x="234" y="0"/>
                    <a:pt x="225" y="0"/>
                    <a:pt x="217" y="5"/>
                  </a:cubicBezTo>
                  <a:cubicBezTo>
                    <a:pt x="13" y="122"/>
                    <a:pt x="13" y="122"/>
                    <a:pt x="13" y="122"/>
                  </a:cubicBezTo>
                  <a:cubicBezTo>
                    <a:pt x="5" y="126"/>
                    <a:pt x="1" y="135"/>
                    <a:pt x="1" y="144"/>
                  </a:cubicBezTo>
                  <a:cubicBezTo>
                    <a:pt x="1" y="144"/>
                    <a:pt x="1" y="144"/>
                    <a:pt x="1" y="144"/>
                  </a:cubicBezTo>
                  <a:cubicBezTo>
                    <a:pt x="0" y="379"/>
                    <a:pt x="0" y="379"/>
                    <a:pt x="0" y="379"/>
                  </a:cubicBezTo>
                  <a:cubicBezTo>
                    <a:pt x="0" y="379"/>
                    <a:pt x="0" y="380"/>
                    <a:pt x="0" y="380"/>
                  </a:cubicBezTo>
                  <a:cubicBezTo>
                    <a:pt x="1" y="389"/>
                    <a:pt x="6" y="396"/>
                    <a:pt x="13" y="401"/>
                  </a:cubicBezTo>
                  <a:cubicBezTo>
                    <a:pt x="216" y="518"/>
                    <a:pt x="216" y="518"/>
                    <a:pt x="216" y="518"/>
                  </a:cubicBezTo>
                  <a:cubicBezTo>
                    <a:pt x="224" y="523"/>
                    <a:pt x="234" y="523"/>
                    <a:pt x="242" y="518"/>
                  </a:cubicBezTo>
                  <a:cubicBezTo>
                    <a:pt x="445" y="401"/>
                    <a:pt x="445" y="401"/>
                    <a:pt x="445" y="401"/>
                  </a:cubicBezTo>
                  <a:cubicBezTo>
                    <a:pt x="453" y="397"/>
                    <a:pt x="458" y="389"/>
                    <a:pt x="458" y="380"/>
                  </a:cubicBezTo>
                  <a:cubicBezTo>
                    <a:pt x="458" y="380"/>
                    <a:pt x="458" y="379"/>
                    <a:pt x="458" y="379"/>
                  </a:cubicBezTo>
                  <a:cubicBezTo>
                    <a:pt x="458" y="144"/>
                    <a:pt x="458" y="144"/>
                    <a:pt x="458" y="144"/>
                  </a:cubicBezTo>
                  <a:cubicBezTo>
                    <a:pt x="458" y="144"/>
                    <a:pt x="458" y="144"/>
                    <a:pt x="458" y="144"/>
                  </a:cubicBezTo>
                  <a:close/>
                </a:path>
              </a:pathLst>
            </a:custGeom>
            <a:solidFill>
              <a:srgbClr val="E57000"/>
            </a:solidFill>
            <a:ln>
              <a:noFill/>
            </a:ln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+mn-ea"/>
                <a:cs typeface="+mn-cs"/>
              </a:endParaRPr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8A8DB60D-A5B4-9810-D514-0EF6AE7EB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8342" y="7846229"/>
              <a:ext cx="528148" cy="490796"/>
            </a:xfrm>
            <a:custGeom>
              <a:avLst/>
              <a:gdLst>
                <a:gd name="T0" fmla="*/ 2147483646 w 458"/>
                <a:gd name="T1" fmla="*/ 2147483646 h 523"/>
                <a:gd name="T2" fmla="*/ 2147483646 w 458"/>
                <a:gd name="T3" fmla="*/ 2147483646 h 523"/>
                <a:gd name="T4" fmla="*/ 2147483646 w 458"/>
                <a:gd name="T5" fmla="*/ 2147483646 h 523"/>
                <a:gd name="T6" fmla="*/ 2147483646 w 458"/>
                <a:gd name="T7" fmla="*/ 2147483646 h 523"/>
                <a:gd name="T8" fmla="*/ 2147483646 w 458"/>
                <a:gd name="T9" fmla="*/ 2147483646 h 523"/>
                <a:gd name="T10" fmla="*/ 0 w 458"/>
                <a:gd name="T11" fmla="*/ 2147483646 h 523"/>
                <a:gd name="T12" fmla="*/ 0 w 458"/>
                <a:gd name="T13" fmla="*/ 2147483646 h 523"/>
                <a:gd name="T14" fmla="*/ 0 w 458"/>
                <a:gd name="T15" fmla="*/ 2147483646 h 523"/>
                <a:gd name="T16" fmla="*/ 0 w 458"/>
                <a:gd name="T17" fmla="*/ 2147483646 h 523"/>
                <a:gd name="T18" fmla="*/ 2147483646 w 458"/>
                <a:gd name="T19" fmla="*/ 2147483646 h 523"/>
                <a:gd name="T20" fmla="*/ 2147483646 w 458"/>
                <a:gd name="T21" fmla="*/ 2147483646 h 523"/>
                <a:gd name="T22" fmla="*/ 2147483646 w 458"/>
                <a:gd name="T23" fmla="*/ 2147483646 h 523"/>
                <a:gd name="T24" fmla="*/ 2147483646 w 458"/>
                <a:gd name="T25" fmla="*/ 2147483646 h 523"/>
                <a:gd name="T26" fmla="*/ 2147483646 w 458"/>
                <a:gd name="T27" fmla="*/ 2147483646 h 523"/>
                <a:gd name="T28" fmla="*/ 2147483646 w 458"/>
                <a:gd name="T29" fmla="*/ 2147483646 h 523"/>
                <a:gd name="T30" fmla="*/ 2147483646 w 458"/>
                <a:gd name="T31" fmla="*/ 2147483646 h 523"/>
                <a:gd name="T32" fmla="*/ 2147483646 w 458"/>
                <a:gd name="T33" fmla="*/ 2147483646 h 52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8" h="523">
                  <a:moveTo>
                    <a:pt x="458" y="144"/>
                  </a:moveTo>
                  <a:cubicBezTo>
                    <a:pt x="457" y="135"/>
                    <a:pt x="453" y="127"/>
                    <a:pt x="445" y="122"/>
                  </a:cubicBezTo>
                  <a:cubicBezTo>
                    <a:pt x="242" y="5"/>
                    <a:pt x="242" y="5"/>
                    <a:pt x="242" y="5"/>
                  </a:cubicBezTo>
                  <a:cubicBezTo>
                    <a:pt x="234" y="0"/>
                    <a:pt x="224" y="0"/>
                    <a:pt x="216" y="5"/>
                  </a:cubicBezTo>
                  <a:cubicBezTo>
                    <a:pt x="13" y="122"/>
                    <a:pt x="13" y="122"/>
                    <a:pt x="13" y="122"/>
                  </a:cubicBezTo>
                  <a:cubicBezTo>
                    <a:pt x="5" y="127"/>
                    <a:pt x="0" y="135"/>
                    <a:pt x="0" y="144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379"/>
                    <a:pt x="0" y="379"/>
                    <a:pt x="0" y="379"/>
                  </a:cubicBezTo>
                  <a:cubicBezTo>
                    <a:pt x="0" y="379"/>
                    <a:pt x="0" y="379"/>
                    <a:pt x="0" y="380"/>
                  </a:cubicBezTo>
                  <a:cubicBezTo>
                    <a:pt x="0" y="388"/>
                    <a:pt x="5" y="397"/>
                    <a:pt x="13" y="401"/>
                  </a:cubicBezTo>
                  <a:cubicBezTo>
                    <a:pt x="216" y="519"/>
                    <a:pt x="216" y="519"/>
                    <a:pt x="216" y="519"/>
                  </a:cubicBezTo>
                  <a:cubicBezTo>
                    <a:pt x="224" y="523"/>
                    <a:pt x="234" y="523"/>
                    <a:pt x="241" y="519"/>
                  </a:cubicBezTo>
                  <a:cubicBezTo>
                    <a:pt x="445" y="401"/>
                    <a:pt x="445" y="401"/>
                    <a:pt x="445" y="401"/>
                  </a:cubicBezTo>
                  <a:cubicBezTo>
                    <a:pt x="453" y="397"/>
                    <a:pt x="457" y="389"/>
                    <a:pt x="458" y="380"/>
                  </a:cubicBezTo>
                  <a:cubicBezTo>
                    <a:pt x="458" y="380"/>
                    <a:pt x="458" y="379"/>
                    <a:pt x="458" y="379"/>
                  </a:cubicBezTo>
                  <a:cubicBezTo>
                    <a:pt x="458" y="144"/>
                    <a:pt x="458" y="144"/>
                    <a:pt x="458" y="144"/>
                  </a:cubicBezTo>
                  <a:cubicBezTo>
                    <a:pt x="458" y="144"/>
                    <a:pt x="458" y="144"/>
                    <a:pt x="458" y="144"/>
                  </a:cubicBezTo>
                  <a:close/>
                </a:path>
              </a:pathLst>
            </a:custGeom>
            <a:solidFill>
              <a:srgbClr val="E57000"/>
            </a:solidFill>
            <a:ln>
              <a:noFill/>
            </a:ln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+mn-ea"/>
                <a:cs typeface="+mn-cs"/>
              </a:endParaRPr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C5834F34-DCD6-34ED-27DA-70ECAEC36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291" y="7846229"/>
              <a:ext cx="528148" cy="490796"/>
            </a:xfrm>
            <a:custGeom>
              <a:avLst/>
              <a:gdLst>
                <a:gd name="T0" fmla="*/ 2147483646 w 458"/>
                <a:gd name="T1" fmla="*/ 2147483646 h 523"/>
                <a:gd name="T2" fmla="*/ 2147483646 w 458"/>
                <a:gd name="T3" fmla="*/ 2147483646 h 523"/>
                <a:gd name="T4" fmla="*/ 2147483646 w 458"/>
                <a:gd name="T5" fmla="*/ 2147483646 h 523"/>
                <a:gd name="T6" fmla="*/ 2147483646 w 458"/>
                <a:gd name="T7" fmla="*/ 2147483646 h 523"/>
                <a:gd name="T8" fmla="*/ 2147483646 w 458"/>
                <a:gd name="T9" fmla="*/ 2147483646 h 523"/>
                <a:gd name="T10" fmla="*/ 0 w 458"/>
                <a:gd name="T11" fmla="*/ 2147483646 h 523"/>
                <a:gd name="T12" fmla="*/ 0 w 458"/>
                <a:gd name="T13" fmla="*/ 2147483646 h 523"/>
                <a:gd name="T14" fmla="*/ 0 w 458"/>
                <a:gd name="T15" fmla="*/ 2147483646 h 523"/>
                <a:gd name="T16" fmla="*/ 0 w 458"/>
                <a:gd name="T17" fmla="*/ 2147483646 h 523"/>
                <a:gd name="T18" fmla="*/ 2147483646 w 458"/>
                <a:gd name="T19" fmla="*/ 2147483646 h 523"/>
                <a:gd name="T20" fmla="*/ 2147483646 w 458"/>
                <a:gd name="T21" fmla="*/ 2147483646 h 523"/>
                <a:gd name="T22" fmla="*/ 2147483646 w 458"/>
                <a:gd name="T23" fmla="*/ 2147483646 h 523"/>
                <a:gd name="T24" fmla="*/ 2147483646 w 458"/>
                <a:gd name="T25" fmla="*/ 2147483646 h 523"/>
                <a:gd name="T26" fmla="*/ 2147483646 w 458"/>
                <a:gd name="T27" fmla="*/ 2147483646 h 523"/>
                <a:gd name="T28" fmla="*/ 2147483646 w 458"/>
                <a:gd name="T29" fmla="*/ 2147483646 h 523"/>
                <a:gd name="T30" fmla="*/ 2147483646 w 458"/>
                <a:gd name="T31" fmla="*/ 2147483646 h 523"/>
                <a:gd name="T32" fmla="*/ 2147483646 w 458"/>
                <a:gd name="T33" fmla="*/ 2147483646 h 52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8" h="523">
                  <a:moveTo>
                    <a:pt x="457" y="144"/>
                  </a:moveTo>
                  <a:cubicBezTo>
                    <a:pt x="457" y="135"/>
                    <a:pt x="452" y="127"/>
                    <a:pt x="445" y="122"/>
                  </a:cubicBezTo>
                  <a:cubicBezTo>
                    <a:pt x="242" y="5"/>
                    <a:pt x="242" y="5"/>
                    <a:pt x="242" y="5"/>
                  </a:cubicBezTo>
                  <a:cubicBezTo>
                    <a:pt x="234" y="0"/>
                    <a:pt x="224" y="0"/>
                    <a:pt x="216" y="5"/>
                  </a:cubicBezTo>
                  <a:cubicBezTo>
                    <a:pt x="13" y="122"/>
                    <a:pt x="13" y="122"/>
                    <a:pt x="13" y="122"/>
                  </a:cubicBezTo>
                  <a:cubicBezTo>
                    <a:pt x="5" y="127"/>
                    <a:pt x="0" y="135"/>
                    <a:pt x="0" y="144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379"/>
                    <a:pt x="0" y="379"/>
                    <a:pt x="0" y="379"/>
                  </a:cubicBezTo>
                  <a:cubicBezTo>
                    <a:pt x="0" y="379"/>
                    <a:pt x="0" y="379"/>
                    <a:pt x="0" y="380"/>
                  </a:cubicBezTo>
                  <a:cubicBezTo>
                    <a:pt x="0" y="388"/>
                    <a:pt x="5" y="397"/>
                    <a:pt x="13" y="401"/>
                  </a:cubicBezTo>
                  <a:cubicBezTo>
                    <a:pt x="216" y="519"/>
                    <a:pt x="216" y="519"/>
                    <a:pt x="216" y="519"/>
                  </a:cubicBezTo>
                  <a:cubicBezTo>
                    <a:pt x="224" y="523"/>
                    <a:pt x="233" y="523"/>
                    <a:pt x="241" y="519"/>
                  </a:cubicBezTo>
                  <a:cubicBezTo>
                    <a:pt x="445" y="401"/>
                    <a:pt x="445" y="401"/>
                    <a:pt x="445" y="401"/>
                  </a:cubicBezTo>
                  <a:cubicBezTo>
                    <a:pt x="452" y="397"/>
                    <a:pt x="457" y="389"/>
                    <a:pt x="457" y="380"/>
                  </a:cubicBezTo>
                  <a:cubicBezTo>
                    <a:pt x="457" y="380"/>
                    <a:pt x="457" y="379"/>
                    <a:pt x="457" y="379"/>
                  </a:cubicBezTo>
                  <a:cubicBezTo>
                    <a:pt x="458" y="144"/>
                    <a:pt x="458" y="144"/>
                    <a:pt x="458" y="144"/>
                  </a:cubicBezTo>
                  <a:cubicBezTo>
                    <a:pt x="458" y="144"/>
                    <a:pt x="457" y="144"/>
                    <a:pt x="457" y="144"/>
                  </a:cubicBezTo>
                  <a:close/>
                </a:path>
              </a:pathLst>
            </a:custGeom>
            <a:solidFill>
              <a:srgbClr val="E57000"/>
            </a:solidFill>
            <a:ln>
              <a:noFill/>
            </a:ln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000000000" pitchFamily="34" charset="77"/>
                <a:ea typeface="+mn-ea"/>
                <a:cs typeface="+mn-cs"/>
              </a:endParaRPr>
            </a:p>
          </p:txBody>
        </p:sp>
        <p:sp>
          <p:nvSpPr>
            <p:cNvPr id="17" name="TextBox 51">
              <a:extLst>
                <a:ext uri="{FF2B5EF4-FFF2-40B4-BE49-F238E27FC236}">
                  <a16:creationId xmlns:a16="http://schemas.microsoft.com/office/drawing/2014/main" id="{BB13BE46-5AEE-8CB4-5063-545D243EE0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3633" y="7190641"/>
              <a:ext cx="642775" cy="139034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Solution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Architecture</a:t>
              </a:r>
            </a:p>
          </p:txBody>
        </p:sp>
        <p:sp>
          <p:nvSpPr>
            <p:cNvPr id="18" name="TextBox 52">
              <a:extLst>
                <a:ext uri="{FF2B5EF4-FFF2-40B4-BE49-F238E27FC236}">
                  <a16:creationId xmlns:a16="http://schemas.microsoft.com/office/drawing/2014/main" id="{05A37051-35B1-9AA9-18A1-200A664C54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6735" y="7560474"/>
              <a:ext cx="700810" cy="225729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Design,</a:t>
              </a:r>
              <a:b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</a:b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Configuration &amp;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Development</a:t>
              </a:r>
            </a:p>
          </p:txBody>
        </p:sp>
        <p:sp>
          <p:nvSpPr>
            <p:cNvPr id="19" name="TextBox 53">
              <a:extLst>
                <a:ext uri="{FF2B5EF4-FFF2-40B4-BE49-F238E27FC236}">
                  <a16:creationId xmlns:a16="http://schemas.microsoft.com/office/drawing/2014/main" id="{4CF7DBB0-4F18-F046-DD66-89574EE695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5050" y="8059626"/>
              <a:ext cx="519201" cy="98395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Testing </a:t>
              </a:r>
            </a:p>
          </p:txBody>
        </p:sp>
        <p:sp>
          <p:nvSpPr>
            <p:cNvPr id="20" name="TextBox 54">
              <a:extLst>
                <a:ext uri="{FF2B5EF4-FFF2-40B4-BE49-F238E27FC236}">
                  <a16:creationId xmlns:a16="http://schemas.microsoft.com/office/drawing/2014/main" id="{86D67862-E2AC-C109-8D75-0F2DBCA585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1510" y="7978762"/>
              <a:ext cx="483699" cy="225729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Data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Replication /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Migration</a:t>
              </a:r>
            </a:p>
          </p:txBody>
        </p:sp>
        <p:sp>
          <p:nvSpPr>
            <p:cNvPr id="21" name="TextBox 55">
              <a:extLst>
                <a:ext uri="{FF2B5EF4-FFF2-40B4-BE49-F238E27FC236}">
                  <a16:creationId xmlns:a16="http://schemas.microsoft.com/office/drawing/2014/main" id="{57648BEF-4E92-EDD8-7D90-00C6938C1D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6022" y="7560474"/>
              <a:ext cx="564170" cy="225729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Deployment &amp;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Post Production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Support</a:t>
              </a:r>
            </a:p>
          </p:txBody>
        </p:sp>
        <p:sp>
          <p:nvSpPr>
            <p:cNvPr id="22" name="TextBox 56">
              <a:extLst>
                <a:ext uri="{FF2B5EF4-FFF2-40B4-BE49-F238E27FC236}">
                  <a16:creationId xmlns:a16="http://schemas.microsoft.com/office/drawing/2014/main" id="{4E3A39AE-1EC4-FC10-291B-0ECCE03507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0344" y="7137940"/>
              <a:ext cx="520672" cy="225729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Requirements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Definition &amp;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 Narrow" charset="0"/>
                </a:rPr>
                <a:t>Analysis</a:t>
              </a:r>
            </a:p>
          </p:txBody>
        </p:sp>
        <p:sp>
          <p:nvSpPr>
            <p:cNvPr id="23" name="TextBox 57">
              <a:extLst>
                <a:ext uri="{FF2B5EF4-FFF2-40B4-BE49-F238E27FC236}">
                  <a16:creationId xmlns:a16="http://schemas.microsoft.com/office/drawing/2014/main" id="{9501BC7C-16DB-1162-C164-9C053F4EE2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50569" y="7551843"/>
              <a:ext cx="509072" cy="243093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" panose="020B0604020202020204" pitchFamily="34" charset="0"/>
                </a:rPr>
                <a:t>Governance</a:t>
              </a:r>
              <a:b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" panose="020B0604020202020204" pitchFamily="34" charset="0"/>
                </a:rPr>
              </a:b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" panose="020B0604020202020204" pitchFamily="34" charset="0"/>
                </a:rPr>
                <a:t>&amp; Program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000000000" pitchFamily="34" charset="77"/>
                  <a:ea typeface="Arial Narrow" charset="0"/>
                  <a:cs typeface="Arial" panose="020B0604020202020204" pitchFamily="34" charset="0"/>
                </a:rPr>
                <a:t>Management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2944BE35-03FE-2107-DC88-8C4911EE9DD3}"/>
              </a:ext>
            </a:extLst>
          </p:cNvPr>
          <p:cNvSpPr txBox="1"/>
          <p:nvPr/>
        </p:nvSpPr>
        <p:spPr>
          <a:xfrm rot="16200000">
            <a:off x="-424321" y="3430016"/>
            <a:ext cx="1909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TechPartner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SCOPE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46ACE7-9198-9D8A-E16E-FF2A3FB8287A}"/>
              </a:ext>
            </a:extLst>
          </p:cNvPr>
          <p:cNvSpPr txBox="1"/>
          <p:nvPr/>
        </p:nvSpPr>
        <p:spPr>
          <a:xfrm>
            <a:off x="1181501" y="1328606"/>
            <a:ext cx="3017493" cy="367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9213" marR="0" lvl="0" indent="0" algn="ctr" defTabSz="914400" rtl="0" eaLnBrk="0" fontAlgn="auto" latinLnBrk="0" hangingPunct="0">
              <a:lnSpc>
                <a:spcPct val="104000"/>
              </a:lnSpc>
              <a:spcBef>
                <a:spcPts val="5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>
                <a:tab pos="-457200" algn="l"/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30:70 (Onshore : Offshore)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IBM Plex Sans" panose="020B0503050203000203" pitchFamily="34" charset="0"/>
              <a:ea typeface="Arial Narrow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FF7CC19-BDAC-6AD1-07C2-D726B308CA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73328" y="6610090"/>
            <a:ext cx="2844800" cy="135738"/>
          </a:xfrm>
        </p:spPr>
        <p:txBody>
          <a:bodyPr/>
          <a:lstStyle/>
          <a:p>
            <a:pPr marL="0" marR="0" lvl="0" indent="0" algn="r" defTabSz="913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532031-6A7D-483A-A066-0D4C829E5C9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39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534439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>
          <a:solidFill>
            <a:srgbClr val="C00000"/>
          </a:solidFill>
        </a:ln>
      </a:spPr>
      <a:bodyPr wrap="square"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BWOT Briefing Deck 250122" id="{291EDDC9-B2E0-B545-8768-C404481245C1}" vid="{6647A923-2D4A-794C-90C1-B5CAB73666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589</Words>
  <Application>Microsoft Macintosh PowerPoint</Application>
  <PresentationFormat>Widescreen</PresentationFormat>
  <Paragraphs>79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IBM Plex Sans</vt:lpstr>
      <vt:lpstr>IBM Plex Sans Condensed Light</vt:lpstr>
      <vt:lpstr>IBM Plex Sans Light</vt:lpstr>
      <vt:lpstr>IBM Plex Sans Medium</vt:lpstr>
      <vt:lpstr>Wingdings</vt:lpstr>
      <vt:lpstr>3_Office Theme</vt:lpstr>
      <vt:lpstr>Payments Ecosystem Transformation for Large UK Bank </vt:lpstr>
      <vt:lpstr>Clearing &amp; Settlement of Wholesale Foreign Exchange Payments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 RAMANUJAM</dc:creator>
  <cp:lastModifiedBy>SURJIT DAS</cp:lastModifiedBy>
  <cp:revision>5</cp:revision>
  <dcterms:created xsi:type="dcterms:W3CDTF">2024-12-30T01:50:25Z</dcterms:created>
  <dcterms:modified xsi:type="dcterms:W3CDTF">2026-04-25T07:43:19Z</dcterms:modified>
</cp:coreProperties>
</file>