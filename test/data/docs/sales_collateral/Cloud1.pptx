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43" r:id="rId2"/>
    <p:sldId id="2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39DFB1-E842-F7A0-6263-45A89C9B9135}" v="2" dt="2025-01-13T12:39:09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ESH RAMANUJAM" userId="S::raramesh@in.ibm.com::ded75565-4a73-4d8d-8653-9fb57c77480d" providerId="AD" clId="Web-{FE39DFB1-E842-F7A0-6263-45A89C9B9135}"/>
    <pc:docChg chg="modSld sldOrd">
      <pc:chgData name="RAMESH RAMANUJAM" userId="S::raramesh@in.ibm.com::ded75565-4a73-4d8d-8653-9fb57c77480d" providerId="AD" clId="Web-{FE39DFB1-E842-F7A0-6263-45A89C9B9135}" dt="2025-01-13T12:39:13.547" v="7"/>
      <pc:docMkLst>
        <pc:docMk/>
      </pc:docMkLst>
      <pc:sldChg chg="modNotes">
        <pc:chgData name="RAMESH RAMANUJAM" userId="S::raramesh@in.ibm.com::ded75565-4a73-4d8d-8653-9fb57c77480d" providerId="AD" clId="Web-{FE39DFB1-E842-F7A0-6263-45A89C9B9135}" dt="2025-01-13T12:39:13.547" v="7"/>
        <pc:sldMkLst>
          <pc:docMk/>
          <pc:sldMk cId="1144728113" sldId="263"/>
        </pc:sldMkLst>
      </pc:sldChg>
      <pc:sldChg chg="ord modNotes">
        <pc:chgData name="RAMESH RAMANUJAM" userId="S::raramesh@in.ibm.com::ded75565-4a73-4d8d-8653-9fb57c77480d" providerId="AD" clId="Web-{FE39DFB1-E842-F7A0-6263-45A89C9B9135}" dt="2025-01-13T12:39:07.656" v="3"/>
        <pc:sldMkLst>
          <pc:docMk/>
          <pc:sldMk cId="998632232" sldId="34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F67E92-F456-4F31-A046-EEF71721715D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F4AA44-AD29-4D94-A5D9-3F99E9E28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67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Lloyds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128140-B553-49A4-91CA-D22AE292739A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238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Lloyds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D0D451-81A3-4554-8F53-1A1C088953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8729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58">
            <a:extLst>
              <a:ext uri="{FF2B5EF4-FFF2-40B4-BE49-F238E27FC236}">
                <a16:creationId xmlns:a16="http://schemas.microsoft.com/office/drawing/2014/main" id="{2A41B636-0B84-244E-BA4F-3295C544610A}"/>
              </a:ext>
            </a:extLst>
          </p:cNvPr>
          <p:cNvSpPr/>
          <p:nvPr userDrawn="1"/>
        </p:nvSpPr>
        <p:spPr>
          <a:xfrm rot="21600000" flipH="1">
            <a:off x="6072000" y="3798000"/>
            <a:ext cx="6120000" cy="3060000"/>
          </a:xfrm>
          <a:prstGeom prst="triangl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200" dirty="0" err="1">
              <a:latin typeface="IBM Plex Sans" panose="020B0503050203000203" pitchFamily="34" charset="77"/>
            </a:endParaRPr>
          </a:p>
        </p:txBody>
      </p:sp>
      <p:sp>
        <p:nvSpPr>
          <p:cNvPr id="4" name="Isosceles Triangle 58">
            <a:extLst>
              <a:ext uri="{FF2B5EF4-FFF2-40B4-BE49-F238E27FC236}">
                <a16:creationId xmlns:a16="http://schemas.microsoft.com/office/drawing/2014/main" id="{ED4FF82D-DA3F-554A-B59F-A7EECC1D2DF5}"/>
              </a:ext>
            </a:extLst>
          </p:cNvPr>
          <p:cNvSpPr/>
          <p:nvPr userDrawn="1"/>
        </p:nvSpPr>
        <p:spPr>
          <a:xfrm rot="16200000" flipH="1">
            <a:off x="8142000" y="2079000"/>
            <a:ext cx="5400000" cy="2700000"/>
          </a:xfrm>
          <a:prstGeom prst="triangl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200" dirty="0" err="1">
              <a:latin typeface="IBM Plex Sans" panose="020B0503050203000203" pitchFamily="34" charset="7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72000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accent1"/>
                </a:solidFill>
                <a:latin typeface="IBM Plex Sans" panose="020B0503050000000000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2960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164055" y="1339060"/>
            <a:ext cx="9853512" cy="1461601"/>
          </a:xfrm>
        </p:spPr>
        <p:txBody>
          <a:bodyPr/>
          <a:lstStyle>
            <a:lvl1pPr marL="0" indent="0">
              <a:spcBef>
                <a:spcPts val="303"/>
              </a:spcBef>
              <a:spcAft>
                <a:spcPts val="303"/>
              </a:spcAft>
              <a:defRPr b="0">
                <a:solidFill>
                  <a:schemeClr val="bg2"/>
                </a:solidFill>
              </a:defRPr>
            </a:lvl1pPr>
            <a:lvl2pPr>
              <a:spcBef>
                <a:spcPts val="303"/>
              </a:spcBef>
              <a:spcAft>
                <a:spcPts val="303"/>
              </a:spcAft>
              <a:defRPr>
                <a:solidFill>
                  <a:schemeClr val="bg2"/>
                </a:solidFill>
              </a:defRPr>
            </a:lvl2pPr>
            <a:lvl3pPr>
              <a:spcBef>
                <a:spcPts val="303"/>
              </a:spcBef>
              <a:spcAft>
                <a:spcPts val="303"/>
              </a:spcAft>
              <a:defRPr>
                <a:solidFill>
                  <a:schemeClr val="bg2"/>
                </a:solidFill>
              </a:defRPr>
            </a:lvl3pPr>
            <a:lvl4pPr>
              <a:spcBef>
                <a:spcPts val="303"/>
              </a:spcBef>
              <a:spcAft>
                <a:spcPts val="303"/>
              </a:spcAft>
              <a:defRPr>
                <a:solidFill>
                  <a:schemeClr val="bg2"/>
                </a:solidFill>
              </a:defRPr>
            </a:lvl4pPr>
            <a:lvl5pPr>
              <a:spcBef>
                <a:spcPts val="303"/>
              </a:spcBef>
              <a:spcAft>
                <a:spcPts val="303"/>
              </a:spcAft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D631C-49F9-4BB4-BD22-A2D7AD6B63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5102" y="163629"/>
            <a:ext cx="537271" cy="21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51" name="(c)" hidden="1">
            <a:extLst>
              <a:ext uri="{FF2B5EF4-FFF2-40B4-BE49-F238E27FC236}">
                <a16:creationId xmlns:a16="http://schemas.microsoft.com/office/drawing/2014/main" id="{9144BC36-7634-8246-A4F9-41CE9379B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1975" y="6884988"/>
            <a:ext cx="19367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/>
            <a:r>
              <a:rPr lang="fi-FI" altLang="en-US" sz="200">
                <a:solidFill>
                  <a:schemeClr val="bg1"/>
                </a:solidFill>
              </a:rPr>
              <a:t>©grow. for fortum</a:t>
            </a:r>
            <a:endParaRPr lang="en-GB" altLang="en-US" sz="200">
              <a:solidFill>
                <a:schemeClr val="bg1"/>
              </a:solidFill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04CD333B-04C4-814C-8474-04DF89E3760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60000" y="6480000"/>
            <a:ext cx="719138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defRPr/>
            </a:pPr>
            <a:fld id="{D6D72AD5-F429-4642-B1B3-4A69234F9FA2}" type="slidenum">
              <a:rPr lang="en-US" altLang="hu-HU" sz="1100" smtClean="0">
                <a:solidFill>
                  <a:schemeClr val="accent6">
                    <a:lumMod val="50000"/>
                  </a:schemeClr>
                </a:solidFill>
                <a:latin typeface="IBM Plex Sans" panose="020B0503050000000000" pitchFamily="34" charset="77"/>
                <a:ea typeface="IBM Eliot Sans"/>
                <a:cs typeface="IBM Eliot Sans"/>
                <a:sym typeface="Helvetica Neue" panose="02000503000000020004" pitchFamily="2" charset="0"/>
              </a:rPr>
              <a:pPr algn="r">
                <a:defRPr/>
              </a:pPr>
              <a:t>‹#›</a:t>
            </a:fld>
            <a:endParaRPr lang="en-US" altLang="hu-HU" sz="1100" dirty="0">
              <a:solidFill>
                <a:schemeClr val="accent6">
                  <a:lumMod val="50000"/>
                </a:schemeClr>
              </a:solidFill>
              <a:latin typeface="IBM Plex Sans" panose="020B0503050000000000" pitchFamily="34" charset="77"/>
              <a:ea typeface="IBM Eliot Sans"/>
              <a:cs typeface="IBM Eliot Sans"/>
              <a:sym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73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l" rtl="0" fontAlgn="base">
        <a:lnSpc>
          <a:spcPct val="85000"/>
        </a:lnSpc>
        <a:spcBef>
          <a:spcPct val="0"/>
        </a:spcBef>
        <a:spcAft>
          <a:spcPct val="0"/>
        </a:spcAft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2pPr>
      <a:lvl3pPr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3pPr>
      <a:lvl4pPr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4pPr>
      <a:lvl5pPr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266700" indent="-266700" algn="l" rtl="0" fontAlgn="base"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539750" indent="-273050" algn="l" rtl="0" fontAlgn="base"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–"/>
        <a:defRPr kern="1200">
          <a:solidFill>
            <a:srgbClr val="000000"/>
          </a:solidFill>
          <a:latin typeface="+mn-lt"/>
          <a:ea typeface="+mn-ea"/>
          <a:cs typeface="+mn-cs"/>
        </a:defRPr>
      </a:lvl2pPr>
      <a:lvl3pPr marL="806450" indent="-266700" algn="l" rtl="0" fontAlgn="base"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071563" indent="-265113" algn="l" rtl="0" fontAlgn="base"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1346200" indent="-274638" algn="l" rtl="0" fontAlgn="base"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rgbClr val="000000"/>
          </a:solidFill>
          <a:latin typeface="+mn-lt"/>
          <a:ea typeface="+mn-ea"/>
          <a:cs typeface="+mn-cs"/>
        </a:defRPr>
      </a:lvl5pPr>
      <a:lvl6pPr marL="1612900" indent="-266700" algn="l" defTabSz="91440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–"/>
        <a:defRPr sz="1200" kern="1200">
          <a:solidFill>
            <a:srgbClr val="000000"/>
          </a:solidFill>
          <a:latin typeface="+mn-lt"/>
          <a:ea typeface="+mn-ea"/>
          <a:cs typeface="+mn-cs"/>
        </a:defRPr>
      </a:lvl6pPr>
      <a:lvl7pPr marL="1878013" indent="-265113" algn="l" defTabSz="91440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rgbClr val="000000"/>
          </a:solidFill>
          <a:latin typeface="+mn-lt"/>
          <a:ea typeface="+mn-ea"/>
          <a:cs typeface="+mn-cs"/>
        </a:defRPr>
      </a:lvl7pPr>
      <a:lvl8pPr marL="2152650" indent="-274638" algn="l" defTabSz="91440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–"/>
        <a:defRPr sz="1200" kern="1200">
          <a:solidFill>
            <a:srgbClr val="000000"/>
          </a:solidFill>
          <a:latin typeface="+mn-lt"/>
          <a:ea typeface="+mn-ea"/>
          <a:cs typeface="+mn-cs"/>
        </a:defRPr>
      </a:lvl8pPr>
      <a:lvl9pPr marL="2419350" indent="-266700" algn="l" defTabSz="91440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5CEB34-C679-405A-A7BF-B6A0F0667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670" y="567164"/>
            <a:ext cx="3512000" cy="30456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Hybrid Cloud Migration Program: Large UK Bank</a:t>
            </a:r>
            <a:endParaRPr lang="en-US" dirty="0"/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354378" y="577571"/>
            <a:ext cx="7549401" cy="143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IBM Plex Sans" panose="020B0503050203000203" pitchFamily="34" charset="0"/>
                <a:ea typeface="Helvetica Neue" charset="0"/>
                <a:cs typeface="Helvetica Neue" charset="0"/>
              </a:rPr>
              <a:t>Business Challenge</a:t>
            </a:r>
          </a:p>
          <a:p>
            <a:pPr marL="173038" marR="0" lvl="0" indent="-173038" algn="just" defTabSz="121917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</a:t>
            </a:r>
            <a:r>
              <a:rPr kumimoji="0" lang="en-US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5EC27F">
                    <a:lumMod val="7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history of mergers and acquisitions </a:t>
            </a:r>
            <a:r>
              <a:rPr kumimoji="0" lang="en-US" alt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across the group had led to an IT estate that is significantly larger and more complex than is optimal for the bank.</a:t>
            </a:r>
          </a:p>
          <a:p>
            <a:pPr marL="173038" marR="0" lvl="0" indent="-173038" algn="just" defTabSz="121917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5EC27F">
                    <a:lumMod val="7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Increased change and run cost</a:t>
            </a:r>
            <a:r>
              <a:rPr kumimoji="0" lang="en-US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to maintain the estate</a:t>
            </a:r>
          </a:p>
          <a:p>
            <a:pPr marL="173038" marR="0" lvl="0" indent="-173038" algn="just" defTabSz="121917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Increased risk due to </a:t>
            </a:r>
            <a:r>
              <a:rPr kumimoji="0" lang="en-US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5EC27F">
                    <a:lumMod val="7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diluted SME knowledge </a:t>
            </a:r>
            <a:r>
              <a:rPr kumimoji="0" lang="en-US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5EC27F">
                    <a:lumMod val="7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&amp; </a:t>
            </a:r>
            <a:r>
              <a:rPr kumimoji="0" lang="en-US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5EC27F">
                    <a:lumMod val="7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aging technology</a:t>
            </a:r>
          </a:p>
          <a:p>
            <a:pPr marL="173038" marR="0" lvl="0" indent="-173038" algn="just" defTabSz="121917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5EC27F">
                    <a:lumMod val="7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Large amount of technical debt </a:t>
            </a:r>
            <a:r>
              <a:rPr kumimoji="0" lang="en-US" alt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causing support and regulatory issues</a:t>
            </a:r>
          </a:p>
        </p:txBody>
      </p:sp>
      <p:sp>
        <p:nvSpPr>
          <p:cNvPr id="72" name="Rectangle 23"/>
          <p:cNvSpPr>
            <a:spLocks noChangeArrowheads="1"/>
          </p:cNvSpPr>
          <p:nvPr/>
        </p:nvSpPr>
        <p:spPr bwMode="auto">
          <a:xfrm>
            <a:off x="354378" y="2141112"/>
            <a:ext cx="7810536" cy="168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IBM Plex Sans" panose="020B0503050203000203" pitchFamily="34" charset="0"/>
                <a:ea typeface="Helvetica Neue" charset="0"/>
                <a:cs typeface="Helvetica Neue" charset="0"/>
              </a:rPr>
              <a:t>IBM Differentiator</a:t>
            </a:r>
          </a:p>
          <a:p>
            <a:pPr marL="173038" marR="0" lvl="0" indent="-173038" algn="just" defTabSz="121917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Migrate applications </a:t>
            </a:r>
            <a:r>
              <a:rPr kumimoji="0" lang="en-US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5EC27F">
                    <a:lumMod val="7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from traditionally managed infrastructure to an IBM provisioned hybrid cloud</a:t>
            </a:r>
          </a:p>
          <a:p>
            <a:pPr marL="173038" marR="0" lvl="0" indent="-173038" algn="just" defTabSz="121917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Developing </a:t>
            </a:r>
            <a:r>
              <a:rPr kumimoji="0" lang="en-US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5EC27F">
                    <a:lumMod val="7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15+ technical patterns </a:t>
            </a:r>
            <a:r>
              <a:rPr kumimoji="0" lang="en-US" alt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that helps the bank to lead the industry (thru agility, flexibility, reliability and faster time to market)</a:t>
            </a:r>
          </a:p>
          <a:p>
            <a:pPr marL="173038" marR="0" lvl="0" indent="-173038" algn="just" defTabSz="121917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5EC27F">
                    <a:lumMod val="7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Move/Upgrade applications from out of support H/W &amp; S/W</a:t>
            </a:r>
            <a:r>
              <a:rPr kumimoji="0" lang="en-US" alt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currency to reduce technical debt</a:t>
            </a:r>
          </a:p>
          <a:p>
            <a:pPr marL="173038" marR="0" lvl="0" indent="-173038" algn="just" defTabSz="121917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Unique methods and tools for migration; </a:t>
            </a:r>
            <a:r>
              <a:rPr kumimoji="0" lang="en-US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5EC27F">
                    <a:lumMod val="7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Factory capability to deliver migrations at pace</a:t>
            </a:r>
          </a:p>
          <a:p>
            <a:pPr marL="173038" marR="0" lvl="0" indent="-173038" algn="just" defTabSz="121917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Breadth of </a:t>
            </a:r>
            <a:r>
              <a:rPr kumimoji="0" lang="en-US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5EC27F">
                    <a:lumMod val="7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consultancy and transformational capability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B178728-D355-4AF8-B5CE-3362144BC350}"/>
              </a:ext>
            </a:extLst>
          </p:cNvPr>
          <p:cNvGrpSpPr/>
          <p:nvPr/>
        </p:nvGrpSpPr>
        <p:grpSpPr>
          <a:xfrm>
            <a:off x="221755" y="4043846"/>
            <a:ext cx="2998965" cy="2281810"/>
            <a:chOff x="221755" y="4043846"/>
            <a:chExt cx="2998965" cy="228181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136582B-7514-4D3D-A497-9305D1F7798F}"/>
                </a:ext>
              </a:extLst>
            </p:cNvPr>
            <p:cNvSpPr/>
            <p:nvPr/>
          </p:nvSpPr>
          <p:spPr>
            <a:xfrm>
              <a:off x="221755" y="4381609"/>
              <a:ext cx="2994820" cy="1787165"/>
            </a:xfrm>
            <a:prstGeom prst="rect">
              <a:avLst/>
            </a:prstGeom>
            <a:gradFill>
              <a:gsLst>
                <a:gs pos="0">
                  <a:schemeClr val="bg2">
                    <a:lumMod val="95000"/>
                  </a:schemeClr>
                </a:gs>
                <a:gs pos="100000">
                  <a:schemeClr val="bg2">
                    <a:lumMod val="95000"/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2C6A190-29D0-42E5-9E63-53A58CDB5D19}"/>
                </a:ext>
              </a:extLst>
            </p:cNvPr>
            <p:cNvSpPr/>
            <p:nvPr/>
          </p:nvSpPr>
          <p:spPr>
            <a:xfrm>
              <a:off x="221755" y="4043846"/>
              <a:ext cx="2994820" cy="318100"/>
            </a:xfrm>
            <a:prstGeom prst="rect">
              <a:avLst/>
            </a:prstGeom>
            <a:solidFill>
              <a:schemeClr val="bg2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022BA3-B3F3-441E-A417-2C9CEC3139BC}"/>
                </a:ext>
              </a:extLst>
            </p:cNvPr>
            <p:cNvSpPr/>
            <p:nvPr/>
          </p:nvSpPr>
          <p:spPr>
            <a:xfrm>
              <a:off x="221755" y="4043846"/>
              <a:ext cx="1199367" cy="3181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6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67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elvetica Neue" charset="0"/>
                  <a:ea typeface="Helvetica Neue" charset="0"/>
                  <a:cs typeface="Helvetica Neue" charset="0"/>
                </a:rPr>
                <a:t>Complexity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D1E4FF7-B962-43B4-A233-ACB9441D7EB8}"/>
                </a:ext>
              </a:extLst>
            </p:cNvPr>
            <p:cNvSpPr/>
            <p:nvPr/>
          </p:nvSpPr>
          <p:spPr>
            <a:xfrm>
              <a:off x="231587" y="4386664"/>
              <a:ext cx="2989133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1" indent="0" algn="l" defTabSz="1219170" rtl="0" eaLnBrk="0" fontAlgn="base" latinLnBrk="0" hangingPunct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charset="0"/>
                  <a:cs typeface="Calibri" panose="020F0502020204030204" pitchFamily="34" charset="0"/>
                </a:rPr>
                <a:t>25K Hosts &amp; ~1300 Apps to be migrated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charset="0"/>
                  <a:cs typeface="Calibri" panose="020F0502020204030204" pitchFamily="34" charset="0"/>
                </a:rPr>
                <a:t> are classified into</a:t>
              </a:r>
            </a:p>
            <a:p>
              <a:pPr marL="228600" marR="0" lvl="1" indent="-228600" algn="l" defTabSz="1219170" rtl="0" eaLnBrk="0" fontAlgn="base" latinLnBrk="0" hangingPunct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+mj-lt"/>
                <a:buAutoNum type="alphaLcParenR"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charset="0"/>
                  <a:cs typeface="Calibri" panose="020F0502020204030204" pitchFamily="34" charset="0"/>
                </a:rPr>
                <a:t>Re-Hosting (like-to-like) - 1500 hosts; 100 Apps</a:t>
              </a:r>
            </a:p>
            <a:p>
              <a:pPr marL="228600" marR="0" lvl="1" indent="-228600" algn="l" defTabSz="1219170" rtl="0" eaLnBrk="0" fontAlgn="base" latinLnBrk="0" hangingPunct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+mj-lt"/>
                <a:buAutoNum type="alphaLcParenR"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charset="0"/>
                  <a:cs typeface="Calibri" panose="020F0502020204030204" pitchFamily="34" charset="0"/>
                </a:rPr>
                <a:t>Re-Factoring (</a:t>
              </a:r>
              <a:r>
                <a:rPr kumimoji="0" lang="pl-PL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charset="0"/>
                  <a:cs typeface="Calibri" panose="020F0502020204030204" pitchFamily="34" charset="0"/>
                </a:rPr>
                <a:t>W2K, W2K3 or W2K8 to W2012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charset="0"/>
                  <a:cs typeface="Calibri" panose="020F0502020204030204" pitchFamily="34" charset="0"/>
                </a:rPr>
                <a:t> etc.) – 21000 hosts; 1000 apps</a:t>
              </a:r>
            </a:p>
            <a:p>
              <a:pPr marL="228600" marR="0" lvl="1" indent="-228600" algn="l" defTabSz="1219170" rtl="0" eaLnBrk="0" fontAlgn="base" latinLnBrk="0" hangingPunct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+mj-lt"/>
                <a:buAutoNum type="alphaLcParenR"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charset="0"/>
                  <a:cs typeface="Calibri" panose="020F0502020204030204" pitchFamily="34" charset="0"/>
                </a:rPr>
                <a:t>Re-Platform (AIX to Linux) – All Unix to Linux platform – 3500 hosts; 200 Apps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33639">
                    <a:lumMod val="50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3D6E4C-8290-466B-9E96-3465DFE642B9}"/>
              </a:ext>
            </a:extLst>
          </p:cNvPr>
          <p:cNvGrpSpPr/>
          <p:nvPr/>
        </p:nvGrpSpPr>
        <p:grpSpPr>
          <a:xfrm>
            <a:off x="3331638" y="4043846"/>
            <a:ext cx="2994820" cy="2132775"/>
            <a:chOff x="3397553" y="4043846"/>
            <a:chExt cx="2994820" cy="213277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EE36F9D-DFF4-4B54-A94C-A1DA28563307}"/>
                </a:ext>
              </a:extLst>
            </p:cNvPr>
            <p:cNvSpPr/>
            <p:nvPr/>
          </p:nvSpPr>
          <p:spPr>
            <a:xfrm>
              <a:off x="3397553" y="4381609"/>
              <a:ext cx="2994820" cy="1787165"/>
            </a:xfrm>
            <a:prstGeom prst="rect">
              <a:avLst/>
            </a:prstGeom>
            <a:gradFill>
              <a:gsLst>
                <a:gs pos="0">
                  <a:schemeClr val="bg2">
                    <a:lumMod val="95000"/>
                  </a:schemeClr>
                </a:gs>
                <a:gs pos="100000">
                  <a:schemeClr val="bg2">
                    <a:lumMod val="95000"/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B8CED09-4EAE-468E-AB1E-0F299918A8DB}"/>
                </a:ext>
              </a:extLst>
            </p:cNvPr>
            <p:cNvSpPr/>
            <p:nvPr/>
          </p:nvSpPr>
          <p:spPr>
            <a:xfrm>
              <a:off x="3397553" y="4043846"/>
              <a:ext cx="2994820" cy="318100"/>
            </a:xfrm>
            <a:prstGeom prst="rect">
              <a:avLst/>
            </a:prstGeom>
            <a:solidFill>
              <a:schemeClr val="bg2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3" name="Rectangle 23"/>
            <p:cNvSpPr>
              <a:spLocks noChangeArrowheads="1"/>
            </p:cNvSpPr>
            <p:nvPr/>
          </p:nvSpPr>
          <p:spPr bwMode="auto">
            <a:xfrm>
              <a:off x="3562755" y="4406328"/>
              <a:ext cx="2739722" cy="1770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10000"/>
                </a:lnSpc>
                <a:spcBef>
                  <a:spcPct val="6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Implement Target Operating Model </a:t>
              </a: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to enable bank to maximize investment in Cloud across all their lines of business.</a:t>
              </a:r>
            </a:p>
            <a:p>
              <a:pPr marL="0" marR="0" lvl="0" indent="0" algn="l" defTabSz="1219170" rtl="0" eaLnBrk="0" fontAlgn="base" latinLnBrk="0" hangingPunct="0">
                <a:lnSpc>
                  <a:spcPct val="110000"/>
                </a:lnSpc>
                <a:spcBef>
                  <a:spcPct val="6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Work with existing application run and change teams to deliver application remediation where required to move applications to the target within the hybrid cloud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3B1843-8D57-4158-9845-E6534DE7D0E1}"/>
                </a:ext>
              </a:extLst>
            </p:cNvPr>
            <p:cNvSpPr/>
            <p:nvPr/>
          </p:nvSpPr>
          <p:spPr>
            <a:xfrm>
              <a:off x="3435206" y="4043846"/>
              <a:ext cx="960519" cy="3181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6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67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elvetica Neue" charset="0"/>
                  <a:ea typeface="Helvetica Neue" charset="0"/>
                  <a:cs typeface="Helvetica Neue" charset="0"/>
                </a:rPr>
                <a:t>Outcome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8E4EF8-C68D-4CEE-B79D-67AC5C19DF50}"/>
              </a:ext>
            </a:extLst>
          </p:cNvPr>
          <p:cNvGrpSpPr/>
          <p:nvPr/>
        </p:nvGrpSpPr>
        <p:grpSpPr>
          <a:xfrm>
            <a:off x="6437376" y="4043846"/>
            <a:ext cx="2854315" cy="2600674"/>
            <a:chOff x="6573120" y="4043846"/>
            <a:chExt cx="2854315" cy="260067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ABC8F01-30BA-48E0-BE06-61CD85B4A87E}"/>
                </a:ext>
              </a:extLst>
            </p:cNvPr>
            <p:cNvSpPr/>
            <p:nvPr/>
          </p:nvSpPr>
          <p:spPr>
            <a:xfrm>
              <a:off x="6573120" y="4381609"/>
              <a:ext cx="2854315" cy="1787165"/>
            </a:xfrm>
            <a:prstGeom prst="rect">
              <a:avLst/>
            </a:prstGeom>
            <a:gradFill>
              <a:gsLst>
                <a:gs pos="0">
                  <a:schemeClr val="bg2">
                    <a:lumMod val="95000"/>
                  </a:schemeClr>
                </a:gs>
                <a:gs pos="100000">
                  <a:schemeClr val="bg2">
                    <a:lumMod val="95000"/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C4E80E1-8ED3-497A-AD9F-621048C531A9}"/>
                </a:ext>
              </a:extLst>
            </p:cNvPr>
            <p:cNvSpPr/>
            <p:nvPr/>
          </p:nvSpPr>
          <p:spPr>
            <a:xfrm>
              <a:off x="6573120" y="4043846"/>
              <a:ext cx="2854315" cy="318100"/>
            </a:xfrm>
            <a:prstGeom prst="rect">
              <a:avLst/>
            </a:prstGeom>
            <a:solidFill>
              <a:schemeClr val="bg2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Rectangle 23"/>
            <p:cNvSpPr>
              <a:spLocks noChangeArrowheads="1"/>
            </p:cNvSpPr>
            <p:nvPr/>
          </p:nvSpPr>
          <p:spPr bwMode="auto">
            <a:xfrm>
              <a:off x="6610772" y="4406984"/>
              <a:ext cx="2635916" cy="2237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>
              <a:spAutoFit/>
            </a:bodyPr>
            <a:lstStyle/>
            <a:p>
              <a:pPr marL="117475" marR="0" lvl="0" indent="0" algn="l" defTabSz="1219170" rtl="0" eaLnBrk="0" fontAlgn="base" latinLnBrk="0" hangingPunct="0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Technical debt reduction </a:t>
              </a:r>
              <a:r>
                <a: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resolving a large platform currency </a:t>
              </a: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issue within the bank</a:t>
              </a:r>
            </a:p>
            <a:p>
              <a:pPr marL="117475" marR="0" lvl="0" indent="0" algn="just" defTabSz="121917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Reduction in infrastructure RTB cost</a:t>
              </a:r>
            </a:p>
            <a:p>
              <a:pPr marL="117475" marR="0" lvl="0" indent="0" algn="just" defTabSz="121917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Faster environment provision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thus reducing CTB cost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33639">
                    <a:lumMod val="50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endParaRPr>
            </a:p>
            <a:p>
              <a:pPr marL="117475" marR="0" lvl="0" indent="0" algn="just" defTabSz="121917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Allow the bank to capitalize on their investment in Cloud </a:t>
              </a:r>
              <a:r>
                <a: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by tuning their processes</a:t>
              </a: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 across all lines of business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C506B3-A1B5-4B37-949A-AD2D555BCA94}"/>
                </a:ext>
              </a:extLst>
            </p:cNvPr>
            <p:cNvSpPr/>
            <p:nvPr/>
          </p:nvSpPr>
          <p:spPr>
            <a:xfrm>
              <a:off x="6610772" y="4043846"/>
              <a:ext cx="1689886" cy="3181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6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67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elvetica Neue" charset="0"/>
                  <a:ea typeface="Helvetica Neue" charset="0"/>
                  <a:cs typeface="Helvetica Neue" charset="0"/>
                </a:rPr>
                <a:t>Business Benefits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E5E944-F7C7-4259-9ED5-C09A7BC4A55B}"/>
              </a:ext>
            </a:extLst>
          </p:cNvPr>
          <p:cNvGrpSpPr/>
          <p:nvPr/>
        </p:nvGrpSpPr>
        <p:grpSpPr>
          <a:xfrm>
            <a:off x="9402608" y="4043846"/>
            <a:ext cx="2557805" cy="2124928"/>
            <a:chOff x="9402608" y="4043846"/>
            <a:chExt cx="2557805" cy="212492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8DED4DF-C6ED-4FA9-B1D7-F9C54C24D710}"/>
                </a:ext>
              </a:extLst>
            </p:cNvPr>
            <p:cNvSpPr/>
            <p:nvPr/>
          </p:nvSpPr>
          <p:spPr>
            <a:xfrm>
              <a:off x="9402608" y="4381609"/>
              <a:ext cx="2557805" cy="1787165"/>
            </a:xfrm>
            <a:prstGeom prst="rect">
              <a:avLst/>
            </a:prstGeom>
            <a:gradFill>
              <a:gsLst>
                <a:gs pos="0">
                  <a:schemeClr val="bg2">
                    <a:lumMod val="95000"/>
                  </a:schemeClr>
                </a:gs>
                <a:gs pos="100000">
                  <a:schemeClr val="bg2">
                    <a:lumMod val="95000"/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30A205-F31C-4C38-8355-A1A8149682ED}"/>
                </a:ext>
              </a:extLst>
            </p:cNvPr>
            <p:cNvSpPr/>
            <p:nvPr/>
          </p:nvSpPr>
          <p:spPr>
            <a:xfrm>
              <a:off x="9402608" y="4043846"/>
              <a:ext cx="2557805" cy="318100"/>
            </a:xfrm>
            <a:prstGeom prst="rect">
              <a:avLst/>
            </a:prstGeom>
            <a:solidFill>
              <a:schemeClr val="bg2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9440260" y="4406984"/>
              <a:ext cx="2409317" cy="1624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>
              <a:spAutoFit/>
            </a:bodyPr>
            <a:lstStyle/>
            <a:p>
              <a:pPr marL="117475" marR="0" lvl="0" indent="0" algn="l" defTabSz="1219170" rtl="0" eaLnBrk="0" fontAlgn="base" latinLnBrk="0" hangingPunct="0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Multi year strategic partnership</a:t>
              </a:r>
            </a:p>
            <a:p>
              <a:pPr marL="117475" marR="0" lvl="0" indent="0" algn="just" defTabSz="121917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Global (Managed) Delivery</a:t>
              </a:r>
            </a:p>
            <a:p>
              <a:pPr marL="117475" marR="0" lvl="0" indent="0" algn="just" defTabSz="121917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One IBM (</a:t>
              </a:r>
              <a:r>
                <a:rPr kumimoji="0" lang="en-US" altLang="ja-JP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GBS/GTS)</a:t>
              </a:r>
            </a:p>
            <a:p>
              <a:pPr marL="117475" marR="0" lvl="0" indent="0" algn="just" defTabSz="121917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639">
                      <a:lumMod val="5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Large pool of highly skilled architects &amp; consultants are involved in this complex program</a:t>
              </a:r>
            </a:p>
            <a:p>
              <a:pPr marL="285750" marR="0" lvl="0" indent="-285750" algn="just" defTabSz="1219170" rtl="0" eaLnBrk="0" fontAlgn="base" latinLnBrk="0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33639">
                    <a:lumMod val="50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617897F-7042-4C6D-A702-493025D9EFEE}"/>
                </a:ext>
              </a:extLst>
            </p:cNvPr>
            <p:cNvSpPr/>
            <p:nvPr/>
          </p:nvSpPr>
          <p:spPr>
            <a:xfrm>
              <a:off x="9440260" y="4043846"/>
              <a:ext cx="1245854" cy="3181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6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67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elvetica Neue" charset="0"/>
                  <a:ea typeface="Helvetica Neue" charset="0"/>
                  <a:cs typeface="Helvetica Neue" charset="0"/>
                </a:rPr>
                <a:t>Engagement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8632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9337" y="23816"/>
            <a:ext cx="2733324" cy="59503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9144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3200" b="1" kern="1200" dirty="0">
                <a:solidFill>
                  <a:schemeClr val="accent1"/>
                </a:solidFill>
                <a:latin typeface="Calibri" charset="0"/>
              </a:rPr>
              <a:t>Factory Model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414BEB-FB6D-40DD-8CF3-FA45B1EF1D38}"/>
              </a:ext>
            </a:extLst>
          </p:cNvPr>
          <p:cNvGrpSpPr/>
          <p:nvPr/>
        </p:nvGrpSpPr>
        <p:grpSpPr>
          <a:xfrm>
            <a:off x="474437" y="715844"/>
            <a:ext cx="11243125" cy="5715333"/>
            <a:chOff x="480677" y="740779"/>
            <a:chExt cx="11158657" cy="5812618"/>
          </a:xfrm>
        </p:grpSpPr>
        <p:sp>
          <p:nvSpPr>
            <p:cNvPr id="8" name="Rounded Rectangle 2">
              <a:extLst>
                <a:ext uri="{FF2B5EF4-FFF2-40B4-BE49-F238E27FC236}">
                  <a16:creationId xmlns:a16="http://schemas.microsoft.com/office/drawing/2014/main" id="{C505DF40-EF08-42A9-A8CB-6A5D6354714B}"/>
                </a:ext>
              </a:extLst>
            </p:cNvPr>
            <p:cNvSpPr/>
            <p:nvPr/>
          </p:nvSpPr>
          <p:spPr>
            <a:xfrm>
              <a:off x="480677" y="5783480"/>
              <a:ext cx="11086665" cy="76991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Titel 1">
              <a:extLst>
                <a:ext uri="{FF2B5EF4-FFF2-40B4-BE49-F238E27FC236}">
                  <a16:creationId xmlns:a16="http://schemas.microsoft.com/office/drawing/2014/main" id="{7F101C6D-D718-4AEE-B352-B15F94DBB6D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25576" y="5849228"/>
              <a:ext cx="11014675" cy="657181"/>
            </a:xfrm>
            <a:prstGeom prst="rect">
              <a:avLst/>
            </a:prstGeom>
            <a:noFill/>
            <a:ln w="9525" cap="rnd" cmpd="dbl">
              <a:noFill/>
              <a:prstDash val="lgDash"/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912492" rtl="0" eaLnBrk="0" fontAlgn="base" hangingPunct="0">
                <a:lnSpc>
                  <a:spcPts val="2977"/>
                </a:lnSpc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accent1"/>
                  </a:solidFill>
                  <a:latin typeface="Arial" pitchFamily="34" charset="0"/>
                  <a:ea typeface="+mj-ea"/>
                  <a:cs typeface="Arial" pitchFamily="34" charset="0"/>
                </a:defRPr>
              </a:lvl1pPr>
              <a:lvl2pPr algn="l" defTabSz="912492" rtl="0" eaLnBrk="0" fontAlgn="base" hangingPunct="0">
                <a:lnSpc>
                  <a:spcPts val="2977"/>
                </a:lnSpc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accent1"/>
                  </a:solidFill>
                  <a:latin typeface="Arial" charset="0"/>
                  <a:cs typeface="Arial" charset="0"/>
                </a:defRPr>
              </a:lvl2pPr>
              <a:lvl3pPr algn="l" defTabSz="912492" rtl="0" eaLnBrk="0" fontAlgn="base" hangingPunct="0">
                <a:lnSpc>
                  <a:spcPts val="2977"/>
                </a:lnSpc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accent1"/>
                  </a:solidFill>
                  <a:latin typeface="Arial" charset="0"/>
                  <a:cs typeface="Arial" charset="0"/>
                </a:defRPr>
              </a:lvl3pPr>
              <a:lvl4pPr algn="l" defTabSz="912492" rtl="0" eaLnBrk="0" fontAlgn="base" hangingPunct="0">
                <a:lnSpc>
                  <a:spcPts val="2977"/>
                </a:lnSpc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accent1"/>
                  </a:solidFill>
                  <a:latin typeface="Arial" charset="0"/>
                  <a:cs typeface="Arial" charset="0"/>
                </a:defRPr>
              </a:lvl4pPr>
              <a:lvl5pPr algn="l" defTabSz="912492" rtl="0" eaLnBrk="0" fontAlgn="base" hangingPunct="0">
                <a:lnSpc>
                  <a:spcPts val="2977"/>
                </a:lnSpc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accent1"/>
                  </a:solidFill>
                  <a:latin typeface="Arial" charset="0"/>
                  <a:cs typeface="Arial" charset="0"/>
                </a:defRPr>
              </a:lvl5pPr>
              <a:lvl6pPr marL="399995" algn="l" defTabSz="912492" rtl="0" fontAlgn="base">
                <a:lnSpc>
                  <a:spcPts val="2977"/>
                </a:lnSpc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accent1"/>
                  </a:solidFill>
                  <a:latin typeface="Arial" charset="0"/>
                  <a:cs typeface="Arial" charset="0"/>
                </a:defRPr>
              </a:lvl6pPr>
              <a:lvl7pPr marL="799985" algn="l" defTabSz="912492" rtl="0" fontAlgn="base">
                <a:lnSpc>
                  <a:spcPts val="2977"/>
                </a:lnSpc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accent1"/>
                  </a:solidFill>
                  <a:latin typeface="Arial" charset="0"/>
                  <a:cs typeface="Arial" charset="0"/>
                </a:defRPr>
              </a:lvl7pPr>
              <a:lvl8pPr marL="1199979" algn="l" defTabSz="912492" rtl="0" fontAlgn="base">
                <a:lnSpc>
                  <a:spcPts val="2977"/>
                </a:lnSpc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accent1"/>
                  </a:solidFill>
                  <a:latin typeface="Arial" charset="0"/>
                  <a:cs typeface="Arial" charset="0"/>
                </a:defRPr>
              </a:lvl8pPr>
              <a:lvl9pPr marL="1599972" algn="l" defTabSz="912492" rtl="0" fontAlgn="base">
                <a:lnSpc>
                  <a:spcPts val="2977"/>
                </a:lnSpc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accent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algn="just" defTabSz="912492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EC27F"/>
                  </a:solidFill>
                  <a:effectLst/>
                  <a:uLnTx/>
                  <a:uFillTx/>
                  <a:latin typeface="Arial" pitchFamily="34" charset="0"/>
                  <a:ea typeface="+mj-ea"/>
                  <a:cs typeface="Arial" charset="0"/>
                </a:rPr>
                <a:t>Within the 26 weeks from Order Submission (Change Factory) to Wave Complete there is a </a:t>
              </a:r>
              <a:r>
                <a:rPr kumimoji="0" lang="en-GB" sz="1400" b="0" i="0" u="sng" strike="noStrike" kern="1200" cap="none" spc="0" normalizeH="0" baseline="0" noProof="0" dirty="0">
                  <a:ln>
                    <a:noFill/>
                  </a:ln>
                  <a:solidFill>
                    <a:srgbClr val="5EC27F"/>
                  </a:solidFill>
                  <a:effectLst/>
                  <a:uLnTx/>
                  <a:uFillTx/>
                  <a:latin typeface="Arial" pitchFamily="34" charset="0"/>
                  <a:ea typeface="+mj-ea"/>
                  <a:cs typeface="Arial" charset="0"/>
                </a:rPr>
                <a:t>Chill period of 12 weeks 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EC27F"/>
                  </a:solidFill>
                  <a:effectLst/>
                  <a:uLnTx/>
                  <a:uFillTx/>
                  <a:latin typeface="Arial" pitchFamily="34" charset="0"/>
                  <a:ea typeface="+mj-ea"/>
                  <a:cs typeface="Arial" charset="0"/>
                </a:rPr>
                <a:t>in which change should be minimized as much as possible. This is followed by the </a:t>
              </a:r>
              <a:r>
                <a:rPr kumimoji="0" lang="en-GB" sz="1400" b="0" i="0" u="sng" strike="noStrike" kern="1200" cap="none" spc="0" normalizeH="0" baseline="0" noProof="0" dirty="0">
                  <a:ln>
                    <a:noFill/>
                  </a:ln>
                  <a:solidFill>
                    <a:srgbClr val="5EC27F"/>
                  </a:solidFill>
                  <a:effectLst/>
                  <a:uLnTx/>
                  <a:uFillTx/>
                  <a:latin typeface="Arial" pitchFamily="34" charset="0"/>
                  <a:ea typeface="+mj-ea"/>
                  <a:cs typeface="Arial" charset="0"/>
                </a:rPr>
                <a:t>Freeze period of 14 weeks 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EC27F"/>
                  </a:solidFill>
                  <a:effectLst/>
                  <a:uLnTx/>
                  <a:uFillTx/>
                  <a:latin typeface="Arial" pitchFamily="34" charset="0"/>
                  <a:ea typeface="+mj-ea"/>
                  <a:cs typeface="Arial" charset="0"/>
                </a:rPr>
                <a:t>during which no changes are permitted in the source environment, followed by 2 weeks of after care during which production promotion is limited to defect remediation in the Cloud.  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01A7F2B-B1E3-4E7B-A6D1-D6340DD68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677" y="740779"/>
              <a:ext cx="11158657" cy="1970080"/>
            </a:xfrm>
            <a:prstGeom prst="rect">
              <a:avLst/>
            </a:prstGeom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1F77C1C-679E-4279-9355-811DD085E386}"/>
                </a:ext>
              </a:extLst>
            </p:cNvPr>
            <p:cNvSpPr/>
            <p:nvPr/>
          </p:nvSpPr>
          <p:spPr bwMode="auto">
            <a:xfrm>
              <a:off x="753093" y="2831410"/>
              <a:ext cx="1670167" cy="2807513"/>
            </a:xfrm>
            <a:prstGeom prst="roundRect">
              <a:avLst/>
            </a:prstGeom>
            <a:solidFill>
              <a:srgbClr val="0066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Bodoni MT" panose="02070603080606020203" pitchFamily="18" charset="0"/>
                  <a:ea typeface="Batang" panose="02030600000101010101" pitchFamily="18" charset="-127"/>
                  <a:cs typeface="+mn-cs"/>
                </a:rPr>
                <a:t>Preparation</a:t>
              </a:r>
              <a:r>
                <a:rPr kumimoji="0" 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Bodoni MT" panose="02070603080606020203" pitchFamily="18" charset="0"/>
                  <a:ea typeface="+mn-ea"/>
                  <a:cs typeface="+mn-cs"/>
                </a:rPr>
                <a:t> Phase</a:t>
              </a:r>
            </a:p>
            <a:p>
              <a:pPr marL="0" marR="0" lvl="0" indent="0" algn="l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+mn-cs"/>
              </a:endParaRPr>
            </a:p>
            <a:p>
              <a:pPr marL="0" marR="0" lvl="0" indent="0" algn="l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0" i="0" u="sng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Activities:</a:t>
              </a:r>
            </a:p>
            <a:p>
              <a:pPr marL="228548" marR="0" lvl="0" indent="-228548" algn="l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Wave Set-up</a:t>
              </a:r>
            </a:p>
            <a:p>
              <a:pPr marL="228548" marR="0" lvl="0" indent="-228548" algn="l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Review with Domain</a:t>
              </a:r>
              <a:r>
                <a:rPr kumimoji="0" 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SPOCs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73831C5-044C-4C22-B8A7-CC954E0D388C}"/>
                </a:ext>
              </a:extLst>
            </p:cNvPr>
            <p:cNvSpPr/>
            <p:nvPr/>
          </p:nvSpPr>
          <p:spPr bwMode="auto">
            <a:xfrm>
              <a:off x="2496508" y="2798770"/>
              <a:ext cx="1713049" cy="2842621"/>
            </a:xfrm>
            <a:prstGeom prst="roundRect">
              <a:avLst/>
            </a:prstGeom>
            <a:solidFill>
              <a:srgbClr val="0066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Bodoni MT" panose="02070603080606020203" pitchFamily="18" charset="0"/>
                  <a:ea typeface="Batang" panose="02030600000101010101" pitchFamily="18" charset="-127"/>
                  <a:cs typeface="+mn-cs"/>
                </a:rPr>
                <a:t>Finalize Wave</a:t>
              </a:r>
              <a:endPara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+mn-cs"/>
              </a:endParaRPr>
            </a:p>
            <a:p>
              <a:pPr marL="0" marR="0" lvl="0" indent="0" algn="ctr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Bodoni MT" panose="02070603080606020203" pitchFamily="18" charset="0"/>
                  <a:ea typeface="+mn-ea"/>
                  <a:cs typeface="+mn-cs"/>
                </a:rPr>
                <a:t>Plan</a:t>
              </a:r>
            </a:p>
            <a:p>
              <a:pPr marL="0" marR="0" lvl="0" indent="0" algn="l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0" i="0" u="sng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Activities:</a:t>
              </a:r>
            </a:p>
            <a:p>
              <a:pPr marL="228548" marR="0" lvl="0" indent="-228548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Intakes (as-is) information</a:t>
              </a:r>
            </a:p>
            <a:p>
              <a:pPr marL="228548" marR="0" lvl="0" indent="-228548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Order Landing zones</a:t>
              </a:r>
            </a:p>
            <a:p>
              <a:pPr marL="0" marR="0" lvl="0" indent="0" algn="l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+mn-cs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67ABB25-0FFC-4734-88B1-28A6F694C65E}"/>
                </a:ext>
              </a:extLst>
            </p:cNvPr>
            <p:cNvSpPr/>
            <p:nvPr/>
          </p:nvSpPr>
          <p:spPr bwMode="auto">
            <a:xfrm>
              <a:off x="4323357" y="2802032"/>
              <a:ext cx="1625449" cy="2841722"/>
            </a:xfrm>
            <a:prstGeom prst="roundRect">
              <a:avLst/>
            </a:prstGeom>
            <a:solidFill>
              <a:srgbClr val="0066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Bodoni MT" panose="02070603080606020203" pitchFamily="18" charset="0"/>
                  <a:ea typeface="Batang" panose="02030600000101010101" pitchFamily="18" charset="-127"/>
                  <a:cs typeface="+mn-cs"/>
                </a:rPr>
                <a:t>Migrate &amp; Standardize</a:t>
              </a:r>
            </a:p>
            <a:p>
              <a:pPr marL="0" marR="0" lvl="0" indent="0" algn="ctr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Bodoni MT" panose="02070603080606020203" pitchFamily="18" charset="0"/>
                <a:ea typeface="Batang" panose="02030600000101010101" pitchFamily="18" charset="-127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0" i="0" u="sng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Activities:</a:t>
              </a:r>
            </a:p>
            <a:p>
              <a:pPr marL="228548" marR="0" lvl="0" indent="-228548" algn="l" defTabSz="12189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Infra. Provisioning</a:t>
              </a:r>
            </a:p>
            <a:p>
              <a:pPr marL="228548" marR="0" lvl="0" indent="-228548" algn="l" defTabSz="12189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Code Remediation</a:t>
              </a:r>
            </a:p>
            <a:p>
              <a:pPr marL="228548" marR="0" lvl="0" indent="-228548" algn="l" defTabSz="12189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Technical verification Test (UT)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7D7B18C-FC91-400F-95C6-2676A40086D9}"/>
                </a:ext>
              </a:extLst>
            </p:cNvPr>
            <p:cNvSpPr/>
            <p:nvPr/>
          </p:nvSpPr>
          <p:spPr bwMode="auto">
            <a:xfrm>
              <a:off x="6112606" y="2831411"/>
              <a:ext cx="1625449" cy="2842620"/>
            </a:xfrm>
            <a:prstGeom prst="roundRect">
              <a:avLst/>
            </a:prstGeom>
            <a:solidFill>
              <a:srgbClr val="0066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Bodoni MT" panose="02070603080606020203" pitchFamily="18" charset="0"/>
                  <a:ea typeface="Batang" panose="02030600000101010101" pitchFamily="18" charset="-127"/>
                  <a:cs typeface="+mn-cs"/>
                </a:rPr>
                <a:t>Test</a:t>
              </a:r>
              <a:endPara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Bodoni MT" panose="02070603080606020203" pitchFamily="18" charset="0"/>
                <a:ea typeface="Batang" panose="02030600000101010101" pitchFamily="18" charset="-127"/>
                <a:cs typeface="+mn-cs"/>
              </a:endParaRPr>
            </a:p>
            <a:p>
              <a:pPr marL="0" marR="0" lvl="0" indent="0" algn="l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Bodoni MT" panose="02070603080606020203" pitchFamily="18" charset="0"/>
                <a:ea typeface="Batang" panose="02030600000101010101" pitchFamily="18" charset="-127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0" i="0" u="sng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Activities:</a:t>
              </a:r>
            </a:p>
            <a:p>
              <a:pPr marL="228548" marR="0" lvl="0" indent="-228548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Plan test requirements</a:t>
              </a:r>
            </a:p>
            <a:p>
              <a:pPr marL="228548" marR="0" lvl="0" indent="-228548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Prepare &amp; Execute</a:t>
              </a:r>
            </a:p>
            <a:p>
              <a:pPr marL="228548" marR="0" lvl="0" indent="-228548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Defect Management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C8FEE0F-5200-4A04-962F-81FEFC2ED8E6}"/>
                </a:ext>
              </a:extLst>
            </p:cNvPr>
            <p:cNvSpPr/>
            <p:nvPr/>
          </p:nvSpPr>
          <p:spPr bwMode="auto">
            <a:xfrm>
              <a:off x="7875380" y="2790878"/>
              <a:ext cx="1625449" cy="2886216"/>
            </a:xfrm>
            <a:prstGeom prst="roundRect">
              <a:avLst/>
            </a:prstGeom>
            <a:solidFill>
              <a:srgbClr val="0066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Bodoni MT" panose="02070603080606020203" pitchFamily="18" charset="0"/>
                  <a:ea typeface="Batang" panose="02030600000101010101" pitchFamily="18" charset="-127"/>
                  <a:cs typeface="+mn-cs"/>
                </a:rPr>
                <a:t>Handover application</a:t>
              </a:r>
              <a:br>
                <a:rPr kumimoji="0" 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Bodoni MT" panose="02070603080606020203" pitchFamily="18" charset="0"/>
                  <a:ea typeface="Batang" panose="02030600000101010101" pitchFamily="18" charset="-127"/>
                  <a:cs typeface="+mn-cs"/>
                </a:rPr>
              </a:br>
              <a:r>
                <a:rPr kumimoji="0" 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Bodoni MT" panose="02070603080606020203" pitchFamily="18" charset="0"/>
                  <a:ea typeface="Batang" panose="02030600000101010101" pitchFamily="18" charset="-127"/>
                  <a:cs typeface="+mn-cs"/>
                </a:rPr>
                <a:t>    to BAU</a:t>
              </a:r>
              <a:r>
                <a:rPr kumimoji="0" 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doni MT" panose="02070603080606020203" pitchFamily="18" charset="0"/>
                  <a:ea typeface="Batang" panose="02030600000101010101" pitchFamily="18" charset="-127"/>
                  <a:cs typeface="+mn-cs"/>
                </a:rPr>
                <a:t>	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0" i="0" u="sng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Activities:</a:t>
              </a:r>
            </a:p>
            <a:p>
              <a:pPr marL="228548" marR="0" lvl="0" indent="-228548" algn="l" defTabSz="12189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Runbook</a:t>
              </a:r>
            </a:p>
            <a:p>
              <a:pPr marL="228548" marR="0" lvl="0" indent="-228548" algn="l" defTabSz="121892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Prepare &amp; Execute &amp; Cutover</a:t>
              </a:r>
              <a:b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</a:b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Handover To BAU, Clean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01D7838-5B32-4B8D-972C-5B242C6A2393}"/>
                </a:ext>
              </a:extLst>
            </p:cNvPr>
            <p:cNvSpPr/>
            <p:nvPr/>
          </p:nvSpPr>
          <p:spPr bwMode="auto">
            <a:xfrm>
              <a:off x="9638153" y="2767474"/>
              <a:ext cx="1599942" cy="2876280"/>
            </a:xfrm>
            <a:prstGeom prst="roundRect">
              <a:avLst/>
            </a:prstGeom>
            <a:solidFill>
              <a:srgbClr val="0066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Bodoni MT" panose="02070603080606020203" pitchFamily="18" charset="0"/>
                  <a:ea typeface="Batang" panose="02030600000101010101" pitchFamily="18" charset="-127"/>
                  <a:cs typeface="+mn-cs"/>
                </a:rPr>
                <a:t>Decommission</a:t>
              </a:r>
            </a:p>
            <a:p>
              <a:pPr marL="0" marR="0" lvl="0" indent="0" algn="l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Bodoni MT" panose="02070603080606020203" pitchFamily="18" charset="0"/>
                <a:ea typeface="Batang" panose="02030600000101010101" pitchFamily="18" charset="-127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0" i="0" u="sng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Activities:</a:t>
              </a:r>
            </a:p>
            <a:p>
              <a:pPr marL="228548" marR="0" lvl="0" indent="-228548" algn="l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Decommission from the old server</a:t>
              </a:r>
            </a:p>
            <a:p>
              <a:pPr marL="228548" marR="0" lvl="0" indent="-228548" algn="l" defTabSz="1218926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4F5FC"/>
                  </a:solidFill>
                  <a:effectLst/>
                  <a:uLnTx/>
                  <a:uFillTx/>
                  <a:latin typeface="Book Antiqua" panose="02040602050305030304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CLEAN the infra/servers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FE0A8F7-92B1-483A-A972-3CF5D9736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12" y="2708618"/>
            <a:ext cx="10654301" cy="288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28113"/>
      </p:ext>
    </p:extLst>
  </p:cSld>
  <p:clrMapOvr>
    <a:masterClrMapping/>
  </p:clrMapOvr>
</p:sld>
</file>

<file path=ppt/theme/theme1.xml><?xml version="1.0" encoding="utf-8"?>
<a:theme xmlns:a="http://schemas.openxmlformats.org/drawingml/2006/main" name="3_Fortum">
  <a:themeElements>
    <a:clrScheme name="Custom 1">
      <a:dk1>
        <a:srgbClr val="333639"/>
      </a:dk1>
      <a:lt1>
        <a:srgbClr val="F4F5FC"/>
      </a:lt1>
      <a:dk2>
        <a:srgbClr val="353A42"/>
      </a:dk2>
      <a:lt2>
        <a:srgbClr val="FFFFFF"/>
      </a:lt2>
      <a:accent1>
        <a:srgbClr val="5EC27F"/>
      </a:accent1>
      <a:accent2>
        <a:srgbClr val="0F7875"/>
      </a:accent2>
      <a:accent3>
        <a:srgbClr val="335A7E"/>
      </a:accent3>
      <a:accent4>
        <a:srgbClr val="3F4F7B"/>
      </a:accent4>
      <a:accent5>
        <a:srgbClr val="5E5CA2"/>
      </a:accent5>
      <a:accent6>
        <a:srgbClr val="AAB2BD"/>
      </a:accent6>
      <a:hlink>
        <a:srgbClr val="F8960D"/>
      </a:hlink>
      <a:folHlink>
        <a:srgbClr val="D70444"/>
      </a:folHlink>
    </a:clrScheme>
    <a:fontScheme name="for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AC3C9016-7340-4902-BD15-1D5E84F40F30}" vid="{4F313137-FF97-41E7-94D7-CB9C29E19E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499</Words>
  <Application>Microsoft Office PowerPoint</Application>
  <PresentationFormat>Widescreen</PresentationFormat>
  <Paragraphs>67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3_Fortum</vt:lpstr>
      <vt:lpstr>Hybrid Cloud Migration Program: Large UK Bank</vt:lpstr>
      <vt:lpstr>Factory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RAMANUJAM</dc:creator>
  <cp:lastModifiedBy>RAMESH RAMANUJAM</cp:lastModifiedBy>
  <cp:revision>4</cp:revision>
  <dcterms:created xsi:type="dcterms:W3CDTF">2024-12-26T02:52:17Z</dcterms:created>
  <dcterms:modified xsi:type="dcterms:W3CDTF">2025-01-13T12:39:16Z</dcterms:modified>
</cp:coreProperties>
</file>