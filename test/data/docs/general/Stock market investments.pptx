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 id="2585" r:id="rId26"/>
    <p:sldId id="2586" r:id="rId27"/>
    <p:sldId id="258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Ups and Downs of Investing in the Stock Market: A Comprehensive Guide" id="{D199AE3A-F436-C440-B91F-278B2857C495}">
          <p14:sldIdLst>
            <p14:sldId id="2561"/>
            <p14:sldId id="2562"/>
          </p14:sldIdLst>
        </p14:section>
        <p14:section name="Introduction to the Stock Market" id="{5D5DD3BB-9697-4C44-BB1F-905455867D0C}">
          <p14:sldIdLst>
            <p14:sldId id="2563"/>
            <p14:sldId id="2564"/>
            <p14:sldId id="2565"/>
            <p14:sldId id="2566"/>
          </p14:sldIdLst>
        </p14:section>
        <p14:section name="Benefits of Investing in the Stock Market" id="{B9F9BDAE-EDCF-2949-9713-AE4E1DF255F7}">
          <p14:sldIdLst>
            <p14:sldId id="2567"/>
            <p14:sldId id="2568"/>
            <p14:sldId id="2569"/>
            <p14:sldId id="2570"/>
          </p14:sldIdLst>
        </p14:section>
        <p14:section name="Risks and Challenges of Stock Market Investing" id="{B6737573-D679-D740-87E6-149BF6BF62B9}">
          <p14:sldIdLst>
            <p14:sldId id="2571"/>
            <p14:sldId id="2572"/>
            <p14:sldId id="2573"/>
            <p14:sldId id="2574"/>
          </p14:sldIdLst>
        </p14:section>
        <p14:section name="Strategies for Successful Investing" id="{F5360512-9FA2-004C-9D96-8244912645BE}">
          <p14:sldIdLst>
            <p14:sldId id="2575"/>
            <p14:sldId id="2576"/>
            <p14:sldId id="2577"/>
            <p14:sldId id="2578"/>
          </p14:sldIdLst>
        </p14:section>
        <p14:section name="Case Studies of Notable Market Ups and Downs" id="{2A14297B-1FCF-1B43-B436-18D966DA62ED}">
          <p14:sldIdLst>
            <p14:sldId id="2579"/>
            <p14:sldId id="2580"/>
            <p14:sldId id="2581"/>
            <p14:sldId id="2582"/>
          </p14:sldIdLst>
        </p14:section>
        <p14:section name="Future Trends and Considerations" id="{02963D43-A42D-4C4F-897E-DB37E11B204A}">
          <p14:sldIdLst>
            <p14:sldId id="2583"/>
            <p14:sldId id="2584"/>
            <p14:sldId id="2585"/>
            <p14:sldId id="2586"/>
          </p14:sldIdLst>
        </p14:section>
        <p14:section name="Conclusion" id="{CFEDA9B8-D5AF-F84E-8335-0EC63E1D80FC}">
          <p14:sldIdLst>
            <p14:sldId id="258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0AD4A4-7D5A-4318-8E9B-7FA46AF0912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7B150AF9-E1F2-4F9D-9D26-B95A2864D2FB}">
      <dgm:prSet/>
      <dgm:spPr/>
      <dgm:t>
        <a:bodyPr/>
        <a:lstStyle/>
        <a:p>
          <a:pPr>
            <a:lnSpc>
              <a:spcPct val="100000"/>
            </a:lnSpc>
            <a:defRPr b="1"/>
          </a:pPr>
          <a:r>
            <a:rPr lang="en-US"/>
            <a:t>Understanding Market Mechanics</a:t>
          </a:r>
        </a:p>
      </dgm:t>
    </dgm:pt>
    <dgm:pt modelId="{AA37DE2F-7AD7-41D4-A970-C3553F665F9A}" type="parTrans" cxnId="{ABB65061-F2A3-4B9A-8BDD-1449BD363BF0}">
      <dgm:prSet/>
      <dgm:spPr/>
      <dgm:t>
        <a:bodyPr/>
        <a:lstStyle/>
        <a:p>
          <a:endParaRPr lang="en-US"/>
        </a:p>
      </dgm:t>
    </dgm:pt>
    <dgm:pt modelId="{78FEC867-F781-426C-AF93-552A08994AC7}" type="sibTrans" cxnId="{ABB65061-F2A3-4B9A-8BDD-1449BD363BF0}">
      <dgm:prSet/>
      <dgm:spPr/>
      <dgm:t>
        <a:bodyPr/>
        <a:lstStyle/>
        <a:p>
          <a:pPr>
            <a:lnSpc>
              <a:spcPct val="100000"/>
            </a:lnSpc>
            <a:defRPr b="1"/>
          </a:pPr>
          <a:endParaRPr lang="en-US"/>
        </a:p>
      </dgm:t>
    </dgm:pt>
    <dgm:pt modelId="{3F2B6CA3-026E-4BF5-A200-8E9DAABB6FBB}">
      <dgm:prSet/>
      <dgm:spPr/>
      <dgm:t>
        <a:bodyPr/>
        <a:lstStyle/>
        <a:p>
          <a:pPr>
            <a:lnSpc>
              <a:spcPct val="100000"/>
            </a:lnSpc>
          </a:pPr>
          <a:r>
            <a:rPr lang="en-US"/>
            <a:t>A nuanced understanding of stock market mechanics is essential for successful investing and making informed decisions.</a:t>
          </a:r>
        </a:p>
      </dgm:t>
    </dgm:pt>
    <dgm:pt modelId="{D953F298-C2F4-4C6E-A4D6-51CE22F3C33C}" type="parTrans" cxnId="{EB264C1D-21A9-4348-88E7-1E201220420F}">
      <dgm:prSet/>
      <dgm:spPr/>
      <dgm:t>
        <a:bodyPr/>
        <a:lstStyle/>
        <a:p>
          <a:endParaRPr lang="en-US"/>
        </a:p>
      </dgm:t>
    </dgm:pt>
    <dgm:pt modelId="{6D3B5684-9D47-4C94-9B03-ACB06EAE2CE1}" type="sibTrans" cxnId="{EB264C1D-21A9-4348-88E7-1E201220420F}">
      <dgm:prSet/>
      <dgm:spPr/>
      <dgm:t>
        <a:bodyPr/>
        <a:lstStyle/>
        <a:p>
          <a:endParaRPr lang="en-US"/>
        </a:p>
      </dgm:t>
    </dgm:pt>
    <dgm:pt modelId="{637F844B-23CA-470F-A33F-1377DAF19AEC}">
      <dgm:prSet/>
      <dgm:spPr/>
      <dgm:t>
        <a:bodyPr/>
        <a:lstStyle/>
        <a:p>
          <a:pPr>
            <a:lnSpc>
              <a:spcPct val="100000"/>
            </a:lnSpc>
            <a:defRPr b="1"/>
          </a:pPr>
          <a:r>
            <a:rPr lang="en-US"/>
            <a:t>Benefits of Investing</a:t>
          </a:r>
        </a:p>
      </dgm:t>
    </dgm:pt>
    <dgm:pt modelId="{CF61D38A-AE4B-436F-AFBF-40F80F528B57}" type="parTrans" cxnId="{3C761A44-49A2-4CD5-83FF-C42BECA61E62}">
      <dgm:prSet/>
      <dgm:spPr/>
      <dgm:t>
        <a:bodyPr/>
        <a:lstStyle/>
        <a:p>
          <a:endParaRPr lang="en-US"/>
        </a:p>
      </dgm:t>
    </dgm:pt>
    <dgm:pt modelId="{2C6D9FB9-84DA-4B61-A996-0FBB4016EE79}" type="sibTrans" cxnId="{3C761A44-49A2-4CD5-83FF-C42BECA61E62}">
      <dgm:prSet/>
      <dgm:spPr/>
      <dgm:t>
        <a:bodyPr/>
        <a:lstStyle/>
        <a:p>
          <a:pPr>
            <a:lnSpc>
              <a:spcPct val="100000"/>
            </a:lnSpc>
            <a:defRPr b="1"/>
          </a:pPr>
          <a:endParaRPr lang="en-US"/>
        </a:p>
      </dgm:t>
    </dgm:pt>
    <dgm:pt modelId="{93C22F53-1BFE-4F2D-A6B9-2907C46DAB19}">
      <dgm:prSet/>
      <dgm:spPr/>
      <dgm:t>
        <a:bodyPr/>
        <a:lstStyle/>
        <a:p>
          <a:pPr>
            <a:lnSpc>
              <a:spcPct val="100000"/>
            </a:lnSpc>
          </a:pPr>
          <a:r>
            <a:rPr lang="en-US"/>
            <a:t>Investing in the stock market can provide significant benefits, including potential wealth growth and portfolio diversification.</a:t>
          </a:r>
        </a:p>
      </dgm:t>
    </dgm:pt>
    <dgm:pt modelId="{6FD728C7-7603-4D4A-A8C1-17CE7BD5EB2E}" type="parTrans" cxnId="{E37D6905-A525-4AF1-B3F7-D960DB840070}">
      <dgm:prSet/>
      <dgm:spPr/>
      <dgm:t>
        <a:bodyPr/>
        <a:lstStyle/>
        <a:p>
          <a:endParaRPr lang="en-US"/>
        </a:p>
      </dgm:t>
    </dgm:pt>
    <dgm:pt modelId="{55DEA2F7-D400-4E9F-9D87-593E2A4D9FED}" type="sibTrans" cxnId="{E37D6905-A525-4AF1-B3F7-D960DB840070}">
      <dgm:prSet/>
      <dgm:spPr/>
      <dgm:t>
        <a:bodyPr/>
        <a:lstStyle/>
        <a:p>
          <a:endParaRPr lang="en-US"/>
        </a:p>
      </dgm:t>
    </dgm:pt>
    <dgm:pt modelId="{B17D06AF-A145-4F27-A02D-A7BA6E4292D0}">
      <dgm:prSet/>
      <dgm:spPr/>
      <dgm:t>
        <a:bodyPr/>
        <a:lstStyle/>
        <a:p>
          <a:pPr>
            <a:lnSpc>
              <a:spcPct val="100000"/>
            </a:lnSpc>
            <a:defRPr b="1"/>
          </a:pPr>
          <a:r>
            <a:rPr lang="en-US"/>
            <a:t>Risk Awareness</a:t>
          </a:r>
        </a:p>
      </dgm:t>
    </dgm:pt>
    <dgm:pt modelId="{ACEA658F-CFE8-427A-90A7-D0D981D17AD7}" type="parTrans" cxnId="{66DB2370-9283-49D8-AD1E-E86B4CFAABF0}">
      <dgm:prSet/>
      <dgm:spPr/>
      <dgm:t>
        <a:bodyPr/>
        <a:lstStyle/>
        <a:p>
          <a:endParaRPr lang="en-US"/>
        </a:p>
      </dgm:t>
    </dgm:pt>
    <dgm:pt modelId="{28796AA5-09BD-4C94-8A26-23F17E961FB5}" type="sibTrans" cxnId="{66DB2370-9283-49D8-AD1E-E86B4CFAABF0}">
      <dgm:prSet/>
      <dgm:spPr/>
      <dgm:t>
        <a:bodyPr/>
        <a:lstStyle/>
        <a:p>
          <a:pPr>
            <a:lnSpc>
              <a:spcPct val="100000"/>
            </a:lnSpc>
            <a:defRPr b="1"/>
          </a:pPr>
          <a:endParaRPr lang="en-US"/>
        </a:p>
      </dgm:t>
    </dgm:pt>
    <dgm:pt modelId="{7B83FB22-9DD4-46F6-9498-D3803F6DC427}">
      <dgm:prSet/>
      <dgm:spPr/>
      <dgm:t>
        <a:bodyPr/>
        <a:lstStyle/>
        <a:p>
          <a:pPr>
            <a:lnSpc>
              <a:spcPct val="100000"/>
            </a:lnSpc>
          </a:pPr>
          <a:r>
            <a:rPr lang="en-US"/>
            <a:t>Understanding the risks associated with stock market investing is crucial for mitigating potential losses and enhancing success.</a:t>
          </a:r>
        </a:p>
      </dgm:t>
    </dgm:pt>
    <dgm:pt modelId="{7D43486A-6079-4BA5-938F-6F0D82DF33A8}" type="parTrans" cxnId="{F46E940D-95BD-4440-9849-C3832053FDD6}">
      <dgm:prSet/>
      <dgm:spPr/>
      <dgm:t>
        <a:bodyPr/>
        <a:lstStyle/>
        <a:p>
          <a:endParaRPr lang="en-US"/>
        </a:p>
      </dgm:t>
    </dgm:pt>
    <dgm:pt modelId="{61F3023D-A49C-4E1A-BB5C-6FEA9BAA1A04}" type="sibTrans" cxnId="{F46E940D-95BD-4440-9849-C3832053FDD6}">
      <dgm:prSet/>
      <dgm:spPr/>
      <dgm:t>
        <a:bodyPr/>
        <a:lstStyle/>
        <a:p>
          <a:endParaRPr lang="en-US"/>
        </a:p>
      </dgm:t>
    </dgm:pt>
    <dgm:pt modelId="{08E4BAA4-3118-4DC7-9377-BD11CCE7C0AE}">
      <dgm:prSet/>
      <dgm:spPr/>
      <dgm:t>
        <a:bodyPr/>
        <a:lstStyle/>
        <a:p>
          <a:pPr>
            <a:lnSpc>
              <a:spcPct val="100000"/>
            </a:lnSpc>
            <a:defRPr b="1"/>
          </a:pPr>
          <a:r>
            <a:rPr lang="en-US"/>
            <a:t>Effective Investment Strategies</a:t>
          </a:r>
        </a:p>
      </dgm:t>
    </dgm:pt>
    <dgm:pt modelId="{A1F0AFC9-2472-4418-903D-51E0D33A9B60}" type="parTrans" cxnId="{E85F5236-1061-4818-A340-2C558801FA82}">
      <dgm:prSet/>
      <dgm:spPr/>
      <dgm:t>
        <a:bodyPr/>
        <a:lstStyle/>
        <a:p>
          <a:endParaRPr lang="en-US"/>
        </a:p>
      </dgm:t>
    </dgm:pt>
    <dgm:pt modelId="{8B7635C4-FA3E-4F09-951D-2FA782F31E75}" type="sibTrans" cxnId="{E85F5236-1061-4818-A340-2C558801FA82}">
      <dgm:prSet/>
      <dgm:spPr/>
      <dgm:t>
        <a:bodyPr/>
        <a:lstStyle/>
        <a:p>
          <a:endParaRPr lang="en-US"/>
        </a:p>
      </dgm:t>
    </dgm:pt>
    <dgm:pt modelId="{7274538C-775A-499C-A851-16F23A6591E5}">
      <dgm:prSet/>
      <dgm:spPr/>
      <dgm:t>
        <a:bodyPr/>
        <a:lstStyle/>
        <a:p>
          <a:pPr>
            <a:lnSpc>
              <a:spcPct val="100000"/>
            </a:lnSpc>
          </a:pPr>
          <a:r>
            <a:rPr lang="en-US"/>
            <a:t>Employing effective investment strategies and staying informed can significantly enhance investors' chances of success in the market.</a:t>
          </a:r>
        </a:p>
      </dgm:t>
    </dgm:pt>
    <dgm:pt modelId="{EDEEBA06-E6BA-477A-B961-3506DE905D60}" type="parTrans" cxnId="{2B79C0F1-512C-4A11-B5DD-0F98EF6C3EEA}">
      <dgm:prSet/>
      <dgm:spPr/>
      <dgm:t>
        <a:bodyPr/>
        <a:lstStyle/>
        <a:p>
          <a:endParaRPr lang="en-US"/>
        </a:p>
      </dgm:t>
    </dgm:pt>
    <dgm:pt modelId="{7FC51D17-796C-4BEF-A84A-7C69941A2CB7}" type="sibTrans" cxnId="{2B79C0F1-512C-4A11-B5DD-0F98EF6C3EEA}">
      <dgm:prSet/>
      <dgm:spPr/>
      <dgm:t>
        <a:bodyPr/>
        <a:lstStyle/>
        <a:p>
          <a:endParaRPr lang="en-US"/>
        </a:p>
      </dgm:t>
    </dgm:pt>
    <dgm:pt modelId="{FA786F2D-18EC-E348-990B-31CF2CADFC84}" type="pres">
      <dgm:prSet presAssocID="{760AD4A4-7D5A-4318-8E9B-7FA46AF09128}" presName="Name0" presStyleCnt="0">
        <dgm:presLayoutVars>
          <dgm:dir/>
          <dgm:resizeHandles val="exact"/>
        </dgm:presLayoutVars>
      </dgm:prSet>
      <dgm:spPr/>
    </dgm:pt>
    <dgm:pt modelId="{825EA199-B354-F04B-8E4D-6E682C85652A}" type="pres">
      <dgm:prSet presAssocID="{7B150AF9-E1F2-4F9D-9D26-B95A2864D2FB}" presName="compNode" presStyleCnt="0"/>
      <dgm:spPr/>
    </dgm:pt>
    <dgm:pt modelId="{4261D6D0-B615-F946-9455-13D60EB890D2}" type="pres">
      <dgm:prSet presAssocID="{7B150AF9-E1F2-4F9D-9D26-B95A2864D2FB}" presName="pictRect" presStyleLbl="revTx" presStyleIdx="0" presStyleCnt="8">
        <dgm:presLayoutVars>
          <dgm:chMax val="0"/>
          <dgm:bulletEnabled/>
        </dgm:presLayoutVars>
      </dgm:prSet>
      <dgm:spPr/>
    </dgm:pt>
    <dgm:pt modelId="{8E71ED08-D23F-B940-A683-AE0D89DC0CA4}" type="pres">
      <dgm:prSet presAssocID="{7B150AF9-E1F2-4F9D-9D26-B95A2864D2FB}" presName="textRect" presStyleLbl="revTx" presStyleIdx="1" presStyleCnt="8">
        <dgm:presLayoutVars>
          <dgm:bulletEnabled/>
        </dgm:presLayoutVars>
      </dgm:prSet>
      <dgm:spPr/>
    </dgm:pt>
    <dgm:pt modelId="{8A635364-763A-9345-9C08-D9944000A307}" type="pres">
      <dgm:prSet presAssocID="{78FEC867-F781-426C-AF93-552A08994AC7}" presName="sibTrans" presStyleLbl="sibTrans2D1" presStyleIdx="0" presStyleCnt="0"/>
      <dgm:spPr/>
    </dgm:pt>
    <dgm:pt modelId="{7ADE8C99-B53B-0147-B954-797BC281E287}" type="pres">
      <dgm:prSet presAssocID="{637F844B-23CA-470F-A33F-1377DAF19AEC}" presName="compNode" presStyleCnt="0"/>
      <dgm:spPr/>
    </dgm:pt>
    <dgm:pt modelId="{D4BF5903-111B-074E-B5BF-6C8D7FCC8784}" type="pres">
      <dgm:prSet presAssocID="{637F844B-23CA-470F-A33F-1377DAF19AEC}" presName="pictRect" presStyleLbl="revTx" presStyleIdx="2" presStyleCnt="8">
        <dgm:presLayoutVars>
          <dgm:chMax val="0"/>
          <dgm:bulletEnabled/>
        </dgm:presLayoutVars>
      </dgm:prSet>
      <dgm:spPr/>
    </dgm:pt>
    <dgm:pt modelId="{CCBB3A3E-A3A7-E444-902B-73849ED763E8}" type="pres">
      <dgm:prSet presAssocID="{637F844B-23CA-470F-A33F-1377DAF19AEC}" presName="textRect" presStyleLbl="revTx" presStyleIdx="3" presStyleCnt="8">
        <dgm:presLayoutVars>
          <dgm:bulletEnabled/>
        </dgm:presLayoutVars>
      </dgm:prSet>
      <dgm:spPr/>
    </dgm:pt>
    <dgm:pt modelId="{475A5954-7E24-874F-A6D7-AF0A11B97DCA}" type="pres">
      <dgm:prSet presAssocID="{2C6D9FB9-84DA-4B61-A996-0FBB4016EE79}" presName="sibTrans" presStyleLbl="sibTrans2D1" presStyleIdx="0" presStyleCnt="0"/>
      <dgm:spPr/>
    </dgm:pt>
    <dgm:pt modelId="{44F682FE-A8F5-6C4C-95CA-8F95C5D8FCE5}" type="pres">
      <dgm:prSet presAssocID="{B17D06AF-A145-4F27-A02D-A7BA6E4292D0}" presName="compNode" presStyleCnt="0"/>
      <dgm:spPr/>
    </dgm:pt>
    <dgm:pt modelId="{A73B63E7-75A3-5847-A1E1-83591ADCE68F}" type="pres">
      <dgm:prSet presAssocID="{B17D06AF-A145-4F27-A02D-A7BA6E4292D0}" presName="pictRect" presStyleLbl="revTx" presStyleIdx="4" presStyleCnt="8">
        <dgm:presLayoutVars>
          <dgm:chMax val="0"/>
          <dgm:bulletEnabled/>
        </dgm:presLayoutVars>
      </dgm:prSet>
      <dgm:spPr/>
    </dgm:pt>
    <dgm:pt modelId="{C122DFBD-EF30-244F-BA83-A2C206E32C1E}" type="pres">
      <dgm:prSet presAssocID="{B17D06AF-A145-4F27-A02D-A7BA6E4292D0}" presName="textRect" presStyleLbl="revTx" presStyleIdx="5" presStyleCnt="8">
        <dgm:presLayoutVars>
          <dgm:bulletEnabled/>
        </dgm:presLayoutVars>
      </dgm:prSet>
      <dgm:spPr/>
    </dgm:pt>
    <dgm:pt modelId="{0000B2B1-421A-3B42-9659-DABDCD8335AD}" type="pres">
      <dgm:prSet presAssocID="{28796AA5-09BD-4C94-8A26-23F17E961FB5}" presName="sibTrans" presStyleLbl="sibTrans2D1" presStyleIdx="0" presStyleCnt="0"/>
      <dgm:spPr/>
    </dgm:pt>
    <dgm:pt modelId="{D0340379-0029-0E43-8121-1FFC572C61D4}" type="pres">
      <dgm:prSet presAssocID="{08E4BAA4-3118-4DC7-9377-BD11CCE7C0AE}" presName="compNode" presStyleCnt="0"/>
      <dgm:spPr/>
    </dgm:pt>
    <dgm:pt modelId="{D53508C6-4899-7D47-9D1C-8A2252D9113D}" type="pres">
      <dgm:prSet presAssocID="{08E4BAA4-3118-4DC7-9377-BD11CCE7C0AE}" presName="pictRect" presStyleLbl="revTx" presStyleIdx="6" presStyleCnt="8">
        <dgm:presLayoutVars>
          <dgm:chMax val="0"/>
          <dgm:bulletEnabled/>
        </dgm:presLayoutVars>
      </dgm:prSet>
      <dgm:spPr/>
    </dgm:pt>
    <dgm:pt modelId="{CE719EEE-82F4-8F49-B5D6-992A48AB172F}" type="pres">
      <dgm:prSet presAssocID="{08E4BAA4-3118-4DC7-9377-BD11CCE7C0AE}" presName="textRect" presStyleLbl="revTx" presStyleIdx="7" presStyleCnt="8">
        <dgm:presLayoutVars>
          <dgm:bulletEnabled/>
        </dgm:presLayoutVars>
      </dgm:prSet>
      <dgm:spPr/>
    </dgm:pt>
  </dgm:ptLst>
  <dgm:cxnLst>
    <dgm:cxn modelId="{E37D6905-A525-4AF1-B3F7-D960DB840070}" srcId="{637F844B-23CA-470F-A33F-1377DAF19AEC}" destId="{93C22F53-1BFE-4F2D-A6B9-2907C46DAB19}" srcOrd="0" destOrd="0" parTransId="{6FD728C7-7603-4D4A-A8C1-17CE7BD5EB2E}" sibTransId="{55DEA2F7-D400-4E9F-9D87-593E2A4D9FED}"/>
    <dgm:cxn modelId="{0BDE7B0C-4868-F649-99F3-15DE2867A7CA}" type="presOf" srcId="{7274538C-775A-499C-A851-16F23A6591E5}" destId="{CE719EEE-82F4-8F49-B5D6-992A48AB172F}" srcOrd="0" destOrd="0" presId="urn:microsoft.com/office/officeart/2024/3/layout/hArchList1"/>
    <dgm:cxn modelId="{F46E940D-95BD-4440-9849-C3832053FDD6}" srcId="{B17D06AF-A145-4F27-A02D-A7BA6E4292D0}" destId="{7B83FB22-9DD4-46F6-9498-D3803F6DC427}" srcOrd="0" destOrd="0" parTransId="{7D43486A-6079-4BA5-938F-6F0D82DF33A8}" sibTransId="{61F3023D-A49C-4E1A-BB5C-6FEA9BAA1A04}"/>
    <dgm:cxn modelId="{9DCA8213-4BAF-B249-BCE5-7A3874A5A319}" type="presOf" srcId="{7B83FB22-9DD4-46F6-9498-D3803F6DC427}" destId="{C122DFBD-EF30-244F-BA83-A2C206E32C1E}" srcOrd="0" destOrd="0" presId="urn:microsoft.com/office/officeart/2024/3/layout/hArchList1"/>
    <dgm:cxn modelId="{D221CC16-8752-A243-9F99-83F420FE394C}" type="presOf" srcId="{3F2B6CA3-026E-4BF5-A200-8E9DAABB6FBB}" destId="{8E71ED08-D23F-B940-A683-AE0D89DC0CA4}" srcOrd="0" destOrd="0" presId="urn:microsoft.com/office/officeart/2024/3/layout/hArchList1"/>
    <dgm:cxn modelId="{EB264C1D-21A9-4348-88E7-1E201220420F}" srcId="{7B150AF9-E1F2-4F9D-9D26-B95A2864D2FB}" destId="{3F2B6CA3-026E-4BF5-A200-8E9DAABB6FBB}" srcOrd="0" destOrd="0" parTransId="{D953F298-C2F4-4C6E-A4D6-51CE22F3C33C}" sibTransId="{6D3B5684-9D47-4C94-9B03-ACB06EAE2CE1}"/>
    <dgm:cxn modelId="{FF7B7A25-014B-5442-BD3D-6D9E757CA589}" type="presOf" srcId="{7B150AF9-E1F2-4F9D-9D26-B95A2864D2FB}" destId="{4261D6D0-B615-F946-9455-13D60EB890D2}" srcOrd="0" destOrd="0" presId="urn:microsoft.com/office/officeart/2024/3/layout/hArchList1"/>
    <dgm:cxn modelId="{E85F5236-1061-4818-A340-2C558801FA82}" srcId="{760AD4A4-7D5A-4318-8E9B-7FA46AF09128}" destId="{08E4BAA4-3118-4DC7-9377-BD11CCE7C0AE}" srcOrd="3" destOrd="0" parTransId="{A1F0AFC9-2472-4418-903D-51E0D33A9B60}" sibTransId="{8B7635C4-FA3E-4F09-951D-2FA782F31E75}"/>
    <dgm:cxn modelId="{3C761A44-49A2-4CD5-83FF-C42BECA61E62}" srcId="{760AD4A4-7D5A-4318-8E9B-7FA46AF09128}" destId="{637F844B-23CA-470F-A33F-1377DAF19AEC}" srcOrd="1" destOrd="0" parTransId="{CF61D38A-AE4B-436F-AFBF-40F80F528B57}" sibTransId="{2C6D9FB9-84DA-4B61-A996-0FBB4016EE79}"/>
    <dgm:cxn modelId="{A1B6FC4F-1489-074E-B0A5-9BEB129C0ED3}" type="presOf" srcId="{B17D06AF-A145-4F27-A02D-A7BA6E4292D0}" destId="{A73B63E7-75A3-5847-A1E1-83591ADCE68F}" srcOrd="0" destOrd="0" presId="urn:microsoft.com/office/officeart/2024/3/layout/hArchList1"/>
    <dgm:cxn modelId="{ABB65061-F2A3-4B9A-8BDD-1449BD363BF0}" srcId="{760AD4A4-7D5A-4318-8E9B-7FA46AF09128}" destId="{7B150AF9-E1F2-4F9D-9D26-B95A2864D2FB}" srcOrd="0" destOrd="0" parTransId="{AA37DE2F-7AD7-41D4-A970-C3553F665F9A}" sibTransId="{78FEC867-F781-426C-AF93-552A08994AC7}"/>
    <dgm:cxn modelId="{66DB2370-9283-49D8-AD1E-E86B4CFAABF0}" srcId="{760AD4A4-7D5A-4318-8E9B-7FA46AF09128}" destId="{B17D06AF-A145-4F27-A02D-A7BA6E4292D0}" srcOrd="2" destOrd="0" parTransId="{ACEA658F-CFE8-427A-90A7-D0D981D17AD7}" sibTransId="{28796AA5-09BD-4C94-8A26-23F17E961FB5}"/>
    <dgm:cxn modelId="{37ACB680-A773-BE4C-9C6F-970130B82FA0}" type="presOf" srcId="{2C6D9FB9-84DA-4B61-A996-0FBB4016EE79}" destId="{475A5954-7E24-874F-A6D7-AF0A11B97DCA}" srcOrd="0" destOrd="0" presId="urn:microsoft.com/office/officeart/2024/3/layout/hArchList1"/>
    <dgm:cxn modelId="{ABE88D8F-30AC-1245-B776-5831FE8FF9AB}" type="presOf" srcId="{93C22F53-1BFE-4F2D-A6B9-2907C46DAB19}" destId="{CCBB3A3E-A3A7-E444-902B-73849ED763E8}" srcOrd="0" destOrd="0" presId="urn:microsoft.com/office/officeart/2024/3/layout/hArchList1"/>
    <dgm:cxn modelId="{65062490-AE4A-1944-B82F-0A213AC7017A}" type="presOf" srcId="{760AD4A4-7D5A-4318-8E9B-7FA46AF09128}" destId="{FA786F2D-18EC-E348-990B-31CF2CADFC84}" srcOrd="0" destOrd="0" presId="urn:microsoft.com/office/officeart/2024/3/layout/hArchList1"/>
    <dgm:cxn modelId="{9C41DB93-F29B-7046-AC53-B8FE9B4A7F9E}" type="presOf" srcId="{637F844B-23CA-470F-A33F-1377DAF19AEC}" destId="{D4BF5903-111B-074E-B5BF-6C8D7FCC8784}" srcOrd="0" destOrd="0" presId="urn:microsoft.com/office/officeart/2024/3/layout/hArchList1"/>
    <dgm:cxn modelId="{8AD1A597-17DF-0B46-B1BC-46A2084F03A3}" type="presOf" srcId="{28796AA5-09BD-4C94-8A26-23F17E961FB5}" destId="{0000B2B1-421A-3B42-9659-DABDCD8335AD}" srcOrd="0" destOrd="0" presId="urn:microsoft.com/office/officeart/2024/3/layout/hArchList1"/>
    <dgm:cxn modelId="{6A80E8A0-765E-AB43-93E2-3200ADC7F21E}" type="presOf" srcId="{78FEC867-F781-426C-AF93-552A08994AC7}" destId="{8A635364-763A-9345-9C08-D9944000A307}" srcOrd="0" destOrd="0" presId="urn:microsoft.com/office/officeart/2024/3/layout/hArchList1"/>
    <dgm:cxn modelId="{6FCA01C3-C8AE-B348-BBEA-198449AFF095}" type="presOf" srcId="{08E4BAA4-3118-4DC7-9377-BD11CCE7C0AE}" destId="{D53508C6-4899-7D47-9D1C-8A2252D9113D}" srcOrd="0" destOrd="0" presId="urn:microsoft.com/office/officeart/2024/3/layout/hArchList1"/>
    <dgm:cxn modelId="{2B79C0F1-512C-4A11-B5DD-0F98EF6C3EEA}" srcId="{08E4BAA4-3118-4DC7-9377-BD11CCE7C0AE}" destId="{7274538C-775A-499C-A851-16F23A6591E5}" srcOrd="0" destOrd="0" parTransId="{EDEEBA06-E6BA-477A-B961-3506DE905D60}" sibTransId="{7FC51D17-796C-4BEF-A84A-7C69941A2CB7}"/>
    <dgm:cxn modelId="{FC23E98B-4CFA-204E-8FDA-FD3FD44B8583}" type="presParOf" srcId="{FA786F2D-18EC-E348-990B-31CF2CADFC84}" destId="{825EA199-B354-F04B-8E4D-6E682C85652A}" srcOrd="0" destOrd="0" presId="urn:microsoft.com/office/officeart/2024/3/layout/hArchList1"/>
    <dgm:cxn modelId="{C2F78999-24F3-2C48-93F1-2ACE5DA546BA}" type="presParOf" srcId="{825EA199-B354-F04B-8E4D-6E682C85652A}" destId="{4261D6D0-B615-F946-9455-13D60EB890D2}" srcOrd="0" destOrd="0" presId="urn:microsoft.com/office/officeart/2024/3/layout/hArchList1"/>
    <dgm:cxn modelId="{B88234EF-21B6-1946-B18D-173D390E95B9}" type="presParOf" srcId="{825EA199-B354-F04B-8E4D-6E682C85652A}" destId="{8E71ED08-D23F-B940-A683-AE0D89DC0CA4}" srcOrd="1" destOrd="0" presId="urn:microsoft.com/office/officeart/2024/3/layout/hArchList1"/>
    <dgm:cxn modelId="{47D7AE4D-0169-5E44-BDB7-A4E07B8526E2}" type="presParOf" srcId="{FA786F2D-18EC-E348-990B-31CF2CADFC84}" destId="{8A635364-763A-9345-9C08-D9944000A307}" srcOrd="1" destOrd="0" presId="urn:microsoft.com/office/officeart/2024/3/layout/hArchList1"/>
    <dgm:cxn modelId="{D82BA231-0D7F-4D4B-BDA5-BA6EE3851D7E}" type="presParOf" srcId="{FA786F2D-18EC-E348-990B-31CF2CADFC84}" destId="{7ADE8C99-B53B-0147-B954-797BC281E287}" srcOrd="2" destOrd="0" presId="urn:microsoft.com/office/officeart/2024/3/layout/hArchList1"/>
    <dgm:cxn modelId="{579523C5-FDD4-1D4F-8F3E-F4F5FDC78BAB}" type="presParOf" srcId="{7ADE8C99-B53B-0147-B954-797BC281E287}" destId="{D4BF5903-111B-074E-B5BF-6C8D7FCC8784}" srcOrd="0" destOrd="0" presId="urn:microsoft.com/office/officeart/2024/3/layout/hArchList1"/>
    <dgm:cxn modelId="{EC8ABAA7-C908-9C49-9480-F317308CA9BC}" type="presParOf" srcId="{7ADE8C99-B53B-0147-B954-797BC281E287}" destId="{CCBB3A3E-A3A7-E444-902B-73849ED763E8}" srcOrd="1" destOrd="0" presId="urn:microsoft.com/office/officeart/2024/3/layout/hArchList1"/>
    <dgm:cxn modelId="{6FCDDF91-374E-3649-A3D8-212B0DAB694A}" type="presParOf" srcId="{FA786F2D-18EC-E348-990B-31CF2CADFC84}" destId="{475A5954-7E24-874F-A6D7-AF0A11B97DCA}" srcOrd="3" destOrd="0" presId="urn:microsoft.com/office/officeart/2024/3/layout/hArchList1"/>
    <dgm:cxn modelId="{C69D9C28-E780-214F-BDC4-D40B41823FEB}" type="presParOf" srcId="{FA786F2D-18EC-E348-990B-31CF2CADFC84}" destId="{44F682FE-A8F5-6C4C-95CA-8F95C5D8FCE5}" srcOrd="4" destOrd="0" presId="urn:microsoft.com/office/officeart/2024/3/layout/hArchList1"/>
    <dgm:cxn modelId="{54500F65-4BD8-354B-B10F-739415A29059}" type="presParOf" srcId="{44F682FE-A8F5-6C4C-95CA-8F95C5D8FCE5}" destId="{A73B63E7-75A3-5847-A1E1-83591ADCE68F}" srcOrd="0" destOrd="0" presId="urn:microsoft.com/office/officeart/2024/3/layout/hArchList1"/>
    <dgm:cxn modelId="{11A72F56-968D-9E4D-AF48-6BA3422B72F1}" type="presParOf" srcId="{44F682FE-A8F5-6C4C-95CA-8F95C5D8FCE5}" destId="{C122DFBD-EF30-244F-BA83-A2C206E32C1E}" srcOrd="1" destOrd="0" presId="urn:microsoft.com/office/officeart/2024/3/layout/hArchList1"/>
    <dgm:cxn modelId="{CF7A01B2-FE39-C646-B79F-63A4BF94CEC2}" type="presParOf" srcId="{FA786F2D-18EC-E348-990B-31CF2CADFC84}" destId="{0000B2B1-421A-3B42-9659-DABDCD8335AD}" srcOrd="5" destOrd="0" presId="urn:microsoft.com/office/officeart/2024/3/layout/hArchList1"/>
    <dgm:cxn modelId="{197F78C8-CFBC-E749-96A0-A7EBB17C3F50}" type="presParOf" srcId="{FA786F2D-18EC-E348-990B-31CF2CADFC84}" destId="{D0340379-0029-0E43-8121-1FFC572C61D4}" srcOrd="6" destOrd="0" presId="urn:microsoft.com/office/officeart/2024/3/layout/hArchList1"/>
    <dgm:cxn modelId="{AB4DF16C-DDEA-034E-9E22-4378776D8089}" type="presParOf" srcId="{D0340379-0029-0E43-8121-1FFC572C61D4}" destId="{D53508C6-4899-7D47-9D1C-8A2252D9113D}" srcOrd="0" destOrd="0" presId="urn:microsoft.com/office/officeart/2024/3/layout/hArchList1"/>
    <dgm:cxn modelId="{5A15A604-7157-754D-BD00-9DEDB3FB3A4C}" type="presParOf" srcId="{D0340379-0029-0E43-8121-1FFC572C61D4}" destId="{CE719EEE-82F4-8F49-B5D6-992A48AB172F}"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61D6D0-B615-F946-9455-13D60EB890D2}">
      <dsp:nvSpPr>
        <dsp:cNvPr id="0" name=""/>
        <dsp:cNvSpPr/>
      </dsp:nvSpPr>
      <dsp:spPr>
        <a:xfrm>
          <a:off x="0" y="0"/>
          <a:ext cx="2512063" cy="60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Understanding Market Mechanics</a:t>
          </a:r>
        </a:p>
      </dsp:txBody>
      <dsp:txXfrm>
        <a:off x="0" y="0"/>
        <a:ext cx="2512063" cy="604600"/>
      </dsp:txXfrm>
    </dsp:sp>
    <dsp:sp modelId="{8E71ED08-D23F-B940-A683-AE0D89DC0CA4}">
      <dsp:nvSpPr>
        <dsp:cNvPr id="0" name=""/>
        <dsp:cNvSpPr/>
      </dsp:nvSpPr>
      <dsp:spPr>
        <a:xfrm>
          <a:off x="0" y="604600"/>
          <a:ext cx="2512063" cy="1901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nuanced understanding of stock market mechanics is essential for successful investing and making informed decisions.</a:t>
          </a:r>
        </a:p>
      </dsp:txBody>
      <dsp:txXfrm>
        <a:off x="0" y="604600"/>
        <a:ext cx="2512063" cy="1901100"/>
      </dsp:txXfrm>
    </dsp:sp>
    <dsp:sp modelId="{D4BF5903-111B-074E-B5BF-6C8D7FCC8784}">
      <dsp:nvSpPr>
        <dsp:cNvPr id="0" name=""/>
        <dsp:cNvSpPr/>
      </dsp:nvSpPr>
      <dsp:spPr>
        <a:xfrm>
          <a:off x="2763270" y="0"/>
          <a:ext cx="2512063" cy="60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Benefits of Investing</a:t>
          </a:r>
        </a:p>
      </dsp:txBody>
      <dsp:txXfrm>
        <a:off x="2763270" y="0"/>
        <a:ext cx="2512063" cy="604600"/>
      </dsp:txXfrm>
    </dsp:sp>
    <dsp:sp modelId="{CCBB3A3E-A3A7-E444-902B-73849ED763E8}">
      <dsp:nvSpPr>
        <dsp:cNvPr id="0" name=""/>
        <dsp:cNvSpPr/>
      </dsp:nvSpPr>
      <dsp:spPr>
        <a:xfrm>
          <a:off x="2763270" y="604600"/>
          <a:ext cx="2512063" cy="1901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Investing in the stock market can provide significant benefits, including potential wealth growth and portfolio diversification.</a:t>
          </a:r>
        </a:p>
      </dsp:txBody>
      <dsp:txXfrm>
        <a:off x="2763270" y="604600"/>
        <a:ext cx="2512063" cy="1901100"/>
      </dsp:txXfrm>
    </dsp:sp>
    <dsp:sp modelId="{A73B63E7-75A3-5847-A1E1-83591ADCE68F}">
      <dsp:nvSpPr>
        <dsp:cNvPr id="0" name=""/>
        <dsp:cNvSpPr/>
      </dsp:nvSpPr>
      <dsp:spPr>
        <a:xfrm>
          <a:off x="5526540" y="0"/>
          <a:ext cx="2512063" cy="60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Risk Awareness</a:t>
          </a:r>
        </a:p>
      </dsp:txBody>
      <dsp:txXfrm>
        <a:off x="5526540" y="0"/>
        <a:ext cx="2512063" cy="604600"/>
      </dsp:txXfrm>
    </dsp:sp>
    <dsp:sp modelId="{C122DFBD-EF30-244F-BA83-A2C206E32C1E}">
      <dsp:nvSpPr>
        <dsp:cNvPr id="0" name=""/>
        <dsp:cNvSpPr/>
      </dsp:nvSpPr>
      <dsp:spPr>
        <a:xfrm>
          <a:off x="5526540" y="604600"/>
          <a:ext cx="2512063" cy="1901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Understanding the risks associated with stock market investing is crucial for mitigating potential losses and enhancing success.</a:t>
          </a:r>
        </a:p>
      </dsp:txBody>
      <dsp:txXfrm>
        <a:off x="5526540" y="604600"/>
        <a:ext cx="2512063" cy="1901100"/>
      </dsp:txXfrm>
    </dsp:sp>
    <dsp:sp modelId="{D53508C6-4899-7D47-9D1C-8A2252D9113D}">
      <dsp:nvSpPr>
        <dsp:cNvPr id="0" name=""/>
        <dsp:cNvSpPr/>
      </dsp:nvSpPr>
      <dsp:spPr>
        <a:xfrm>
          <a:off x="8289811" y="0"/>
          <a:ext cx="2512063" cy="60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Effective Investment Strategies</a:t>
          </a:r>
        </a:p>
      </dsp:txBody>
      <dsp:txXfrm>
        <a:off x="8289811" y="0"/>
        <a:ext cx="2512063" cy="604600"/>
      </dsp:txXfrm>
    </dsp:sp>
    <dsp:sp modelId="{CE719EEE-82F4-8F49-B5D6-992A48AB172F}">
      <dsp:nvSpPr>
        <dsp:cNvPr id="0" name=""/>
        <dsp:cNvSpPr/>
      </dsp:nvSpPr>
      <dsp:spPr>
        <a:xfrm>
          <a:off x="8289811" y="604600"/>
          <a:ext cx="2512063" cy="1901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Employing effective investment strategies and staying informed can significantly enhance investors' chances of success in the market.</a:t>
          </a:r>
        </a:p>
      </dsp:txBody>
      <dsp:txXfrm>
        <a:off x="8289811" y="604600"/>
        <a:ext cx="2512063" cy="1901100"/>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1951AF-740F-5046-8CE8-0EFC1007D6BC}" type="datetimeFigureOut">
              <a:rPr lang="en-US" smtClean="0"/>
              <a:t>4/19/25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E71ED1-A371-FC42-9FBA-2E6BFDCAE0FC}" type="slidenum">
              <a:rPr lang="en-US" smtClean="0"/>
              <a:t>‹#›</a:t>
            </a:fld>
            <a:endParaRPr lang="en-US"/>
          </a:p>
        </p:txBody>
      </p:sp>
    </p:spTree>
    <p:extLst>
      <p:ext uri="{BB962C8B-B14F-4D97-AF65-F5344CB8AC3E}">
        <p14:creationId xmlns:p14="http://schemas.microsoft.com/office/powerpoint/2010/main" val="3078948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Investing in the stock market can be both exhilarating and daunting. This presentation will provide a thorough overview of the stock market, its benefits and risks, effective investment strategies, notable historical events, and future trends.
</a:t>
            </a:r>
          </a:p>
        </p:txBody>
      </p:sp>
      <p:sp>
        <p:nvSpPr>
          <p:cNvPr id="4" name="Slide Number Placeholder 3"/>
          <p:cNvSpPr>
            <a:spLocks noGrp="1"/>
          </p:cNvSpPr>
          <p:nvPr>
            <p:ph type="sldNum" sz="quarter" idx="5"/>
          </p:nvPr>
        </p:nvSpPr>
        <p:spPr/>
        <p:txBody>
          <a:bodyPr/>
          <a:lstStyle/>
          <a:p>
            <a:fld id="{040F920E-E8BE-EA41-94CC-E1F4C1F9F404}" type="slidenum">
              <a:rPr lang="en-US" smtClean="0"/>
              <a:t>1</a:t>
            </a:fld>
            <a:endParaRPr lang="en-US"/>
          </a:p>
        </p:txBody>
      </p:sp>
    </p:spTree>
    <p:extLst>
      <p:ext uri="{BB962C8B-B14F-4D97-AF65-F5344CB8AC3E}">
        <p14:creationId xmlns:p14="http://schemas.microsoft.com/office/powerpoint/2010/main" val="836146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presentation, we will explore the stock market's fundamentals, including its history, key players, and components. We will then discuss the benefits of investing, along with the risks and challenges investors face. Next, we'll delve into effective investment strategies and examine notable market events. Finally, we'll look at future trends influencing stock market investments.</a:t>
            </a:r>
          </a:p>
        </p:txBody>
      </p:sp>
      <p:sp>
        <p:nvSpPr>
          <p:cNvPr id="4" name="Slide Number Placeholder 3"/>
          <p:cNvSpPr>
            <a:spLocks noGrp="1"/>
          </p:cNvSpPr>
          <p:nvPr>
            <p:ph type="sldNum" sz="quarter" idx="5"/>
          </p:nvPr>
        </p:nvSpPr>
        <p:spPr/>
        <p:txBody>
          <a:bodyPr/>
          <a:lstStyle/>
          <a:p>
            <a:fld id="{040F920E-E8BE-EA41-94CC-E1F4C1F9F404}" type="slidenum">
              <a:rPr lang="en-US" smtClean="0"/>
              <a:t>2</a:t>
            </a:fld>
            <a:endParaRPr lang="en-US"/>
          </a:p>
        </p:txBody>
      </p:sp>
    </p:spTree>
    <p:extLst>
      <p:ext uri="{BB962C8B-B14F-4D97-AF65-F5344CB8AC3E}">
        <p14:creationId xmlns:p14="http://schemas.microsoft.com/office/powerpoint/2010/main" val="997706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stock market is crucial for any investor. It serves as a platform where shares of publicly traded companies are bought and sold, reflecting the economy's health and investor sentiment.</a:t>
            </a:r>
          </a:p>
        </p:txBody>
      </p:sp>
      <p:sp>
        <p:nvSpPr>
          <p:cNvPr id="4" name="Slide Number Placeholder 3"/>
          <p:cNvSpPr>
            <a:spLocks noGrp="1"/>
          </p:cNvSpPr>
          <p:nvPr>
            <p:ph type="sldNum" sz="quarter" idx="5"/>
          </p:nvPr>
        </p:nvSpPr>
        <p:spPr/>
        <p:txBody>
          <a:bodyPr/>
          <a:lstStyle/>
          <a:p>
            <a:fld id="{040F920E-E8BE-EA41-94CC-E1F4C1F9F404}" type="slidenum">
              <a:rPr lang="en-US" smtClean="0"/>
              <a:t>3</a:t>
            </a:fld>
            <a:endParaRPr lang="en-US"/>
          </a:p>
        </p:txBody>
      </p:sp>
    </p:spTree>
    <p:extLst>
      <p:ext uri="{BB962C8B-B14F-4D97-AF65-F5344CB8AC3E}">
        <p14:creationId xmlns:p14="http://schemas.microsoft.com/office/powerpoint/2010/main" val="2789050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stock market is a collection of markets where shares of publicly held companies are traded. It helps companies raise capital by selling shares and allows investors to buy ownership in these companies.</a:t>
            </a:r>
          </a:p>
        </p:txBody>
      </p:sp>
      <p:sp>
        <p:nvSpPr>
          <p:cNvPr id="4" name="Slide Number Placeholder 3"/>
          <p:cNvSpPr>
            <a:spLocks noGrp="1"/>
          </p:cNvSpPr>
          <p:nvPr>
            <p:ph type="sldNum" sz="quarter" idx="5"/>
          </p:nvPr>
        </p:nvSpPr>
        <p:spPr/>
        <p:txBody>
          <a:bodyPr/>
          <a:lstStyle/>
          <a:p>
            <a:fld id="{040F920E-E8BE-EA41-94CC-E1F4C1F9F404}" type="slidenum">
              <a:rPr lang="en-US" smtClean="0"/>
              <a:t>4</a:t>
            </a:fld>
            <a:endParaRPr lang="en-US"/>
          </a:p>
        </p:txBody>
      </p:sp>
    </p:spTree>
    <p:extLst>
      <p:ext uri="{BB962C8B-B14F-4D97-AF65-F5344CB8AC3E}">
        <p14:creationId xmlns:p14="http://schemas.microsoft.com/office/powerpoint/2010/main" val="3514761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stock market has evolved significantly since its inception in the 1600s. It has transitioned from a simple exchange of shares to a complex global marketplace influenced by technology and regulation.</a:t>
            </a:r>
          </a:p>
        </p:txBody>
      </p:sp>
      <p:sp>
        <p:nvSpPr>
          <p:cNvPr id="4" name="Slide Number Placeholder 3"/>
          <p:cNvSpPr>
            <a:spLocks noGrp="1"/>
          </p:cNvSpPr>
          <p:nvPr>
            <p:ph type="sldNum" sz="quarter" idx="5"/>
          </p:nvPr>
        </p:nvSpPr>
        <p:spPr/>
        <p:txBody>
          <a:bodyPr/>
          <a:lstStyle/>
          <a:p>
            <a:fld id="{040F920E-E8BE-EA41-94CC-E1F4C1F9F404}" type="slidenum">
              <a:rPr lang="en-US" smtClean="0"/>
              <a:t>5</a:t>
            </a:fld>
            <a:endParaRPr lang="en-US"/>
          </a:p>
        </p:txBody>
      </p:sp>
    </p:spTree>
    <p:extLst>
      <p:ext uri="{BB962C8B-B14F-4D97-AF65-F5344CB8AC3E}">
        <p14:creationId xmlns:p14="http://schemas.microsoft.com/office/powerpoint/2010/main" val="4264756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stock market comprises various players, including individual investors, institutional investors, brokers, and market makers. Key components include stock exchanges, indices, and regulatory bodies that ensure fair practices.</a:t>
            </a:r>
          </a:p>
        </p:txBody>
      </p:sp>
      <p:sp>
        <p:nvSpPr>
          <p:cNvPr id="4" name="Slide Number Placeholder 3"/>
          <p:cNvSpPr>
            <a:spLocks noGrp="1"/>
          </p:cNvSpPr>
          <p:nvPr>
            <p:ph type="sldNum" sz="quarter" idx="5"/>
          </p:nvPr>
        </p:nvSpPr>
        <p:spPr/>
        <p:txBody>
          <a:bodyPr/>
          <a:lstStyle/>
          <a:p>
            <a:fld id="{040F920E-E8BE-EA41-94CC-E1F4C1F9F404}" type="slidenum">
              <a:rPr lang="en-US" smtClean="0"/>
              <a:t>6</a:t>
            </a:fld>
            <a:endParaRPr lang="en-US"/>
          </a:p>
        </p:txBody>
      </p:sp>
    </p:spTree>
    <p:extLst>
      <p:ext uri="{BB962C8B-B14F-4D97-AF65-F5344CB8AC3E}">
        <p14:creationId xmlns:p14="http://schemas.microsoft.com/office/powerpoint/2010/main" val="692756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Investing in the stock market offers numerous advantages. Understanding these benefits helps investors make informed decisions to grow their wealth effectively.</a:t>
            </a:r>
          </a:p>
        </p:txBody>
      </p:sp>
      <p:sp>
        <p:nvSpPr>
          <p:cNvPr id="4" name="Slide Number Placeholder 3"/>
          <p:cNvSpPr>
            <a:spLocks noGrp="1"/>
          </p:cNvSpPr>
          <p:nvPr>
            <p:ph type="sldNum" sz="quarter" idx="5"/>
          </p:nvPr>
        </p:nvSpPr>
        <p:spPr/>
        <p:txBody>
          <a:bodyPr/>
          <a:lstStyle/>
          <a:p>
            <a:fld id="{040F920E-E8BE-EA41-94CC-E1F4C1F9F404}" type="slidenum">
              <a:rPr lang="en-US" smtClean="0"/>
              <a:t>7</a:t>
            </a:fld>
            <a:endParaRPr lang="en-US"/>
          </a:p>
        </p:txBody>
      </p:sp>
    </p:spTree>
    <p:extLst>
      <p:ext uri="{BB962C8B-B14F-4D97-AF65-F5344CB8AC3E}">
        <p14:creationId xmlns:p14="http://schemas.microsoft.com/office/powerpoint/2010/main" val="1532493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primary advantages of investing in stocks is the potential for high returns over the long term. Historically, equities have outperformed other asset classes, making them an attractive investment option.</a:t>
            </a:r>
          </a:p>
        </p:txBody>
      </p:sp>
      <p:sp>
        <p:nvSpPr>
          <p:cNvPr id="4" name="Slide Number Placeholder 3"/>
          <p:cNvSpPr>
            <a:spLocks noGrp="1"/>
          </p:cNvSpPr>
          <p:nvPr>
            <p:ph type="sldNum" sz="quarter" idx="5"/>
          </p:nvPr>
        </p:nvSpPr>
        <p:spPr/>
        <p:txBody>
          <a:bodyPr/>
          <a:lstStyle/>
          <a:p>
            <a:fld id="{040F920E-E8BE-EA41-94CC-E1F4C1F9F404}" type="slidenum">
              <a:rPr lang="en-US" smtClean="0"/>
              <a:t>8</a:t>
            </a:fld>
            <a:endParaRPr lang="en-US"/>
          </a:p>
        </p:txBody>
      </p:sp>
    </p:spTree>
    <p:extLst>
      <p:ext uri="{BB962C8B-B14F-4D97-AF65-F5344CB8AC3E}">
        <p14:creationId xmlns:p14="http://schemas.microsoft.com/office/powerpoint/2010/main" val="240977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stock market provides high liquidity, allowing investors to buy and sell shares quickly. Additionally, with advancements in technology, investing has become more accessible to people worldwide through online trading platforms.</a:t>
            </a:r>
          </a:p>
        </p:txBody>
      </p:sp>
      <p:sp>
        <p:nvSpPr>
          <p:cNvPr id="4" name="Slide Number Placeholder 3"/>
          <p:cNvSpPr>
            <a:spLocks noGrp="1"/>
          </p:cNvSpPr>
          <p:nvPr>
            <p:ph type="sldNum" sz="quarter" idx="5"/>
          </p:nvPr>
        </p:nvSpPr>
        <p:spPr/>
        <p:txBody>
          <a:bodyPr/>
          <a:lstStyle/>
          <a:p>
            <a:fld id="{040F920E-E8BE-EA41-94CC-E1F4C1F9F404}" type="slidenum">
              <a:rPr lang="en-US" smtClean="0"/>
              <a:t>9</a:t>
            </a:fld>
            <a:endParaRPr lang="en-US"/>
          </a:p>
        </p:txBody>
      </p:sp>
    </p:spTree>
    <p:extLst>
      <p:ext uri="{BB962C8B-B14F-4D97-AF65-F5344CB8AC3E}">
        <p14:creationId xmlns:p14="http://schemas.microsoft.com/office/powerpoint/2010/main" val="2581499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Investing in diverse stocks can help mitigate risks. By spreading investments across various sectors and asset classes, investors can reduce the impact of underperforming stocks on their overall portfolio.</a:t>
            </a:r>
          </a:p>
        </p:txBody>
      </p:sp>
      <p:sp>
        <p:nvSpPr>
          <p:cNvPr id="4" name="Slide Number Placeholder 3"/>
          <p:cNvSpPr>
            <a:spLocks noGrp="1"/>
          </p:cNvSpPr>
          <p:nvPr>
            <p:ph type="sldNum" sz="quarter" idx="5"/>
          </p:nvPr>
        </p:nvSpPr>
        <p:spPr/>
        <p:txBody>
          <a:bodyPr/>
          <a:lstStyle/>
          <a:p>
            <a:fld id="{040F920E-E8BE-EA41-94CC-E1F4C1F9F404}" type="slidenum">
              <a:rPr lang="en-US" smtClean="0"/>
              <a:t>10</a:t>
            </a:fld>
            <a:endParaRPr lang="en-US"/>
          </a:p>
        </p:txBody>
      </p:sp>
    </p:spTree>
    <p:extLst>
      <p:ext uri="{BB962C8B-B14F-4D97-AF65-F5344CB8AC3E}">
        <p14:creationId xmlns:p14="http://schemas.microsoft.com/office/powerpoint/2010/main" val="2835686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the stock market offers potential rewards, it also comes with risks and challenges. Understanding these factors is essential for effective risk management.</a:t>
            </a:r>
          </a:p>
        </p:txBody>
      </p:sp>
      <p:sp>
        <p:nvSpPr>
          <p:cNvPr id="4" name="Slide Number Placeholder 3"/>
          <p:cNvSpPr>
            <a:spLocks noGrp="1"/>
          </p:cNvSpPr>
          <p:nvPr>
            <p:ph type="sldNum" sz="quarter" idx="5"/>
          </p:nvPr>
        </p:nvSpPr>
        <p:spPr/>
        <p:txBody>
          <a:bodyPr/>
          <a:lstStyle/>
          <a:p>
            <a:fld id="{040F920E-E8BE-EA41-94CC-E1F4C1F9F404}" type="slidenum">
              <a:rPr lang="en-US" smtClean="0"/>
              <a:t>11</a:t>
            </a:fld>
            <a:endParaRPr lang="en-US"/>
          </a:p>
        </p:txBody>
      </p:sp>
    </p:spTree>
    <p:extLst>
      <p:ext uri="{BB962C8B-B14F-4D97-AF65-F5344CB8AC3E}">
        <p14:creationId xmlns:p14="http://schemas.microsoft.com/office/powerpoint/2010/main" val="539202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Market volatility refers to the fluctuations in stock prices. Factors such as economic indicators, interest rates, and geopolitical events can cause significant price swings, posing risks to investors.</a:t>
            </a:r>
          </a:p>
        </p:txBody>
      </p:sp>
      <p:sp>
        <p:nvSpPr>
          <p:cNvPr id="4" name="Slide Number Placeholder 3"/>
          <p:cNvSpPr>
            <a:spLocks noGrp="1"/>
          </p:cNvSpPr>
          <p:nvPr>
            <p:ph type="sldNum" sz="quarter" idx="5"/>
          </p:nvPr>
        </p:nvSpPr>
        <p:spPr/>
        <p:txBody>
          <a:bodyPr/>
          <a:lstStyle/>
          <a:p>
            <a:fld id="{040F920E-E8BE-EA41-94CC-E1F4C1F9F404}" type="slidenum">
              <a:rPr lang="en-US" smtClean="0"/>
              <a:t>12</a:t>
            </a:fld>
            <a:endParaRPr lang="en-US"/>
          </a:p>
        </p:txBody>
      </p:sp>
    </p:spTree>
    <p:extLst>
      <p:ext uri="{BB962C8B-B14F-4D97-AF65-F5344CB8AC3E}">
        <p14:creationId xmlns:p14="http://schemas.microsoft.com/office/powerpoint/2010/main" val="3496707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stock market is influenced by macroeconomic factors such as inflation, unemployment rates, and government policies. Political events can also impact investor confidence and market performance.</a:t>
            </a:r>
          </a:p>
        </p:txBody>
      </p:sp>
      <p:sp>
        <p:nvSpPr>
          <p:cNvPr id="4" name="Slide Number Placeholder 3"/>
          <p:cNvSpPr>
            <a:spLocks noGrp="1"/>
          </p:cNvSpPr>
          <p:nvPr>
            <p:ph type="sldNum" sz="quarter" idx="5"/>
          </p:nvPr>
        </p:nvSpPr>
        <p:spPr/>
        <p:txBody>
          <a:bodyPr/>
          <a:lstStyle/>
          <a:p>
            <a:fld id="{040F920E-E8BE-EA41-94CC-E1F4C1F9F404}" type="slidenum">
              <a:rPr lang="en-US" smtClean="0"/>
              <a:t>13</a:t>
            </a:fld>
            <a:endParaRPr lang="en-US"/>
          </a:p>
        </p:txBody>
      </p:sp>
    </p:spTree>
    <p:extLst>
      <p:ext uri="{BB962C8B-B14F-4D97-AF65-F5344CB8AC3E}">
        <p14:creationId xmlns:p14="http://schemas.microsoft.com/office/powerpoint/2010/main" val="3541257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Investors' emotional responses can significantly affect their decision-making. Fear and greed often drive market behaviors, leading to poor investment choices if not managed properly.</a:t>
            </a:r>
          </a:p>
        </p:txBody>
      </p:sp>
      <p:sp>
        <p:nvSpPr>
          <p:cNvPr id="4" name="Slide Number Placeholder 3"/>
          <p:cNvSpPr>
            <a:spLocks noGrp="1"/>
          </p:cNvSpPr>
          <p:nvPr>
            <p:ph type="sldNum" sz="quarter" idx="5"/>
          </p:nvPr>
        </p:nvSpPr>
        <p:spPr/>
        <p:txBody>
          <a:bodyPr/>
          <a:lstStyle/>
          <a:p>
            <a:fld id="{040F920E-E8BE-EA41-94CC-E1F4C1F9F404}" type="slidenum">
              <a:rPr lang="en-US" smtClean="0"/>
              <a:t>14</a:t>
            </a:fld>
            <a:endParaRPr lang="en-US"/>
          </a:p>
        </p:txBody>
      </p:sp>
    </p:spTree>
    <p:extLst>
      <p:ext uri="{BB962C8B-B14F-4D97-AF65-F5344CB8AC3E}">
        <p14:creationId xmlns:p14="http://schemas.microsoft.com/office/powerpoint/2010/main" val="2747103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Adopting effective strategies can enhance investment outcomes. Investors must consider their goals, risk tolerance, and market conditions when developing their strategies.</a:t>
            </a:r>
          </a:p>
        </p:txBody>
      </p:sp>
      <p:sp>
        <p:nvSpPr>
          <p:cNvPr id="4" name="Slide Number Placeholder 3"/>
          <p:cNvSpPr>
            <a:spLocks noGrp="1"/>
          </p:cNvSpPr>
          <p:nvPr>
            <p:ph type="sldNum" sz="quarter" idx="5"/>
          </p:nvPr>
        </p:nvSpPr>
        <p:spPr/>
        <p:txBody>
          <a:bodyPr/>
          <a:lstStyle/>
          <a:p>
            <a:fld id="{040F920E-E8BE-EA41-94CC-E1F4C1F9F404}" type="slidenum">
              <a:rPr lang="en-US" smtClean="0"/>
              <a:t>15</a:t>
            </a:fld>
            <a:endParaRPr lang="en-US"/>
          </a:p>
        </p:txBody>
      </p:sp>
    </p:spTree>
    <p:extLst>
      <p:ext uri="{BB962C8B-B14F-4D97-AF65-F5344CB8AC3E}">
        <p14:creationId xmlns:p14="http://schemas.microsoft.com/office/powerpoint/2010/main" val="23782148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Investors can choose between long-term strategies, which focus on growth over years, and short-term strategies that capitalize on market fluctuations. Each approach has its own risk–reward profile.</a:t>
            </a:r>
          </a:p>
        </p:txBody>
      </p:sp>
      <p:sp>
        <p:nvSpPr>
          <p:cNvPr id="4" name="Slide Number Placeholder 3"/>
          <p:cNvSpPr>
            <a:spLocks noGrp="1"/>
          </p:cNvSpPr>
          <p:nvPr>
            <p:ph type="sldNum" sz="quarter" idx="5"/>
          </p:nvPr>
        </p:nvSpPr>
        <p:spPr/>
        <p:txBody>
          <a:bodyPr/>
          <a:lstStyle/>
          <a:p>
            <a:fld id="{040F920E-E8BE-EA41-94CC-E1F4C1F9F404}" type="slidenum">
              <a:rPr lang="en-US" smtClean="0"/>
              <a:t>16</a:t>
            </a:fld>
            <a:endParaRPr lang="en-US"/>
          </a:p>
        </p:txBody>
      </p:sp>
    </p:spTree>
    <p:extLst>
      <p:ext uri="{BB962C8B-B14F-4D97-AF65-F5344CB8AC3E}">
        <p14:creationId xmlns:p14="http://schemas.microsoft.com/office/powerpoint/2010/main" val="3660597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Investors use fundamental analysis to evaluate a company's financial health and growth potential, while technical analysis focuses on price patterns and market trends to make trading decisions.</a:t>
            </a:r>
          </a:p>
        </p:txBody>
      </p:sp>
      <p:sp>
        <p:nvSpPr>
          <p:cNvPr id="4" name="Slide Number Placeholder 3"/>
          <p:cNvSpPr>
            <a:spLocks noGrp="1"/>
          </p:cNvSpPr>
          <p:nvPr>
            <p:ph type="sldNum" sz="quarter" idx="5"/>
          </p:nvPr>
        </p:nvSpPr>
        <p:spPr/>
        <p:txBody>
          <a:bodyPr/>
          <a:lstStyle/>
          <a:p>
            <a:fld id="{040F920E-E8BE-EA41-94CC-E1F4C1F9F404}" type="slidenum">
              <a:rPr lang="en-US" smtClean="0"/>
              <a:t>17</a:t>
            </a:fld>
            <a:endParaRPr lang="en-US"/>
          </a:p>
        </p:txBody>
      </p:sp>
    </p:spTree>
    <p:extLst>
      <p:ext uri="{BB962C8B-B14F-4D97-AF65-F5344CB8AC3E}">
        <p14:creationId xmlns:p14="http://schemas.microsoft.com/office/powerpoint/2010/main" val="1786721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Effective risk management involves setting clear investment goals, using stop-loss orders, and diversifying portfolios to minimize exposure to any single investment's risks.</a:t>
            </a:r>
          </a:p>
        </p:txBody>
      </p:sp>
      <p:sp>
        <p:nvSpPr>
          <p:cNvPr id="4" name="Slide Number Placeholder 3"/>
          <p:cNvSpPr>
            <a:spLocks noGrp="1"/>
          </p:cNvSpPr>
          <p:nvPr>
            <p:ph type="sldNum" sz="quarter" idx="5"/>
          </p:nvPr>
        </p:nvSpPr>
        <p:spPr/>
        <p:txBody>
          <a:bodyPr/>
          <a:lstStyle/>
          <a:p>
            <a:fld id="{040F920E-E8BE-EA41-94CC-E1F4C1F9F404}" type="slidenum">
              <a:rPr lang="en-US" smtClean="0"/>
              <a:t>18</a:t>
            </a:fld>
            <a:endParaRPr lang="en-US"/>
          </a:p>
        </p:txBody>
      </p:sp>
    </p:spTree>
    <p:extLst>
      <p:ext uri="{BB962C8B-B14F-4D97-AF65-F5344CB8AC3E}">
        <p14:creationId xmlns:p14="http://schemas.microsoft.com/office/powerpoint/2010/main" val="1367253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Examining historical market events provides valuable insights into the factors that influence market movements and investor behavior during crises.</a:t>
            </a:r>
          </a:p>
        </p:txBody>
      </p:sp>
      <p:sp>
        <p:nvSpPr>
          <p:cNvPr id="4" name="Slide Number Placeholder 3"/>
          <p:cNvSpPr>
            <a:spLocks noGrp="1"/>
          </p:cNvSpPr>
          <p:nvPr>
            <p:ph type="sldNum" sz="quarter" idx="5"/>
          </p:nvPr>
        </p:nvSpPr>
        <p:spPr/>
        <p:txBody>
          <a:bodyPr/>
          <a:lstStyle/>
          <a:p>
            <a:fld id="{040F920E-E8BE-EA41-94CC-E1F4C1F9F404}" type="slidenum">
              <a:rPr lang="en-US" smtClean="0"/>
              <a:t>19</a:t>
            </a:fld>
            <a:endParaRPr lang="en-US"/>
          </a:p>
        </p:txBody>
      </p:sp>
    </p:spTree>
    <p:extLst>
      <p:ext uri="{BB962C8B-B14F-4D97-AF65-F5344CB8AC3E}">
        <p14:creationId xmlns:p14="http://schemas.microsoft.com/office/powerpoint/2010/main" val="3139768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Great Depression (1929) was a catastrophic economic downturn that led to severe market declines, widespread unemployment, and significant regulatory changes in the stock market.</a:t>
            </a:r>
          </a:p>
        </p:txBody>
      </p:sp>
      <p:sp>
        <p:nvSpPr>
          <p:cNvPr id="4" name="Slide Number Placeholder 3"/>
          <p:cNvSpPr>
            <a:spLocks noGrp="1"/>
          </p:cNvSpPr>
          <p:nvPr>
            <p:ph type="sldNum" sz="quarter" idx="5"/>
          </p:nvPr>
        </p:nvSpPr>
        <p:spPr/>
        <p:txBody>
          <a:bodyPr/>
          <a:lstStyle/>
          <a:p>
            <a:fld id="{040F920E-E8BE-EA41-94CC-E1F4C1F9F404}" type="slidenum">
              <a:rPr lang="en-US" smtClean="0"/>
              <a:t>20</a:t>
            </a:fld>
            <a:endParaRPr lang="en-US"/>
          </a:p>
        </p:txBody>
      </p:sp>
    </p:spTree>
    <p:extLst>
      <p:ext uri="{BB962C8B-B14F-4D97-AF65-F5344CB8AC3E}">
        <p14:creationId xmlns:p14="http://schemas.microsoft.com/office/powerpoint/2010/main" val="7103496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late 1990s, the dot-com bubble saw excessive speculation in technology stocks, leading to a market crash in 2000. This case study highlights the risks of overvaluation and herd behavior.</a:t>
            </a:r>
          </a:p>
        </p:txBody>
      </p:sp>
      <p:sp>
        <p:nvSpPr>
          <p:cNvPr id="4" name="Slide Number Placeholder 3"/>
          <p:cNvSpPr>
            <a:spLocks noGrp="1"/>
          </p:cNvSpPr>
          <p:nvPr>
            <p:ph type="sldNum" sz="quarter" idx="5"/>
          </p:nvPr>
        </p:nvSpPr>
        <p:spPr/>
        <p:txBody>
          <a:bodyPr/>
          <a:lstStyle/>
          <a:p>
            <a:fld id="{040F920E-E8BE-EA41-94CC-E1F4C1F9F404}" type="slidenum">
              <a:rPr lang="en-US" smtClean="0"/>
              <a:t>21</a:t>
            </a:fld>
            <a:endParaRPr lang="en-US"/>
          </a:p>
        </p:txBody>
      </p:sp>
    </p:spTree>
    <p:extLst>
      <p:ext uri="{BB962C8B-B14F-4D97-AF65-F5344CB8AC3E}">
        <p14:creationId xmlns:p14="http://schemas.microsoft.com/office/powerpoint/2010/main" val="84320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2008 financial crisis was triggered by the collapse of the housing market and mortgage-backed securities. It offers lessons in risk management and the importance of regulatory oversight in financial markets.</a:t>
            </a:r>
          </a:p>
        </p:txBody>
      </p:sp>
      <p:sp>
        <p:nvSpPr>
          <p:cNvPr id="4" name="Slide Number Placeholder 3"/>
          <p:cNvSpPr>
            <a:spLocks noGrp="1"/>
          </p:cNvSpPr>
          <p:nvPr>
            <p:ph type="sldNum" sz="quarter" idx="5"/>
          </p:nvPr>
        </p:nvSpPr>
        <p:spPr/>
        <p:txBody>
          <a:bodyPr/>
          <a:lstStyle/>
          <a:p>
            <a:fld id="{040F920E-E8BE-EA41-94CC-E1F4C1F9F404}" type="slidenum">
              <a:rPr lang="en-US" smtClean="0"/>
              <a:t>22</a:t>
            </a:fld>
            <a:endParaRPr lang="en-US"/>
          </a:p>
        </p:txBody>
      </p:sp>
    </p:spTree>
    <p:extLst>
      <p:ext uri="{BB962C8B-B14F-4D97-AF65-F5344CB8AC3E}">
        <p14:creationId xmlns:p14="http://schemas.microsoft.com/office/powerpoint/2010/main" val="41281419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ahead, several trends are shaping the future of investing in the stock market. Understanding these trends can help investors navigate the changing landscape.</a:t>
            </a:r>
          </a:p>
        </p:txBody>
      </p:sp>
      <p:sp>
        <p:nvSpPr>
          <p:cNvPr id="4" name="Slide Number Placeholder 3"/>
          <p:cNvSpPr>
            <a:spLocks noGrp="1"/>
          </p:cNvSpPr>
          <p:nvPr>
            <p:ph type="sldNum" sz="quarter" idx="5"/>
          </p:nvPr>
        </p:nvSpPr>
        <p:spPr/>
        <p:txBody>
          <a:bodyPr/>
          <a:lstStyle/>
          <a:p>
            <a:fld id="{040F920E-E8BE-EA41-94CC-E1F4C1F9F404}" type="slidenum">
              <a:rPr lang="en-US" smtClean="0"/>
              <a:t>23</a:t>
            </a:fld>
            <a:endParaRPr lang="en-US"/>
          </a:p>
        </p:txBody>
      </p:sp>
    </p:spTree>
    <p:extLst>
      <p:ext uri="{BB962C8B-B14F-4D97-AF65-F5344CB8AC3E}">
        <p14:creationId xmlns:p14="http://schemas.microsoft.com/office/powerpoint/2010/main" val="3817749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Technological advancements are revolutionizing trading, analysis, and data accessibility. Algorithmic trading and AI are becoming increasingly influential in the stock market.</a:t>
            </a:r>
          </a:p>
        </p:txBody>
      </p:sp>
      <p:sp>
        <p:nvSpPr>
          <p:cNvPr id="4" name="Slide Number Placeholder 3"/>
          <p:cNvSpPr>
            <a:spLocks noGrp="1"/>
          </p:cNvSpPr>
          <p:nvPr>
            <p:ph type="sldNum" sz="quarter" idx="5"/>
          </p:nvPr>
        </p:nvSpPr>
        <p:spPr/>
        <p:txBody>
          <a:bodyPr/>
          <a:lstStyle/>
          <a:p>
            <a:fld id="{040F920E-E8BE-EA41-94CC-E1F4C1F9F404}" type="slidenum">
              <a:rPr lang="en-US" smtClean="0"/>
              <a:t>24</a:t>
            </a:fld>
            <a:endParaRPr lang="en-US"/>
          </a:p>
        </p:txBody>
      </p:sp>
    </p:spTree>
    <p:extLst>
      <p:ext uri="{BB962C8B-B14F-4D97-AF65-F5344CB8AC3E}">
        <p14:creationId xmlns:p14="http://schemas.microsoft.com/office/powerpoint/2010/main" val="3984650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markets become more interconnected, global events can impact local markets. Investors need to stay informed about international developments and their potential effects on investments.</a:t>
            </a:r>
          </a:p>
        </p:txBody>
      </p:sp>
      <p:sp>
        <p:nvSpPr>
          <p:cNvPr id="4" name="Slide Number Placeholder 3"/>
          <p:cNvSpPr>
            <a:spLocks noGrp="1"/>
          </p:cNvSpPr>
          <p:nvPr>
            <p:ph type="sldNum" sz="quarter" idx="5"/>
          </p:nvPr>
        </p:nvSpPr>
        <p:spPr/>
        <p:txBody>
          <a:bodyPr/>
          <a:lstStyle/>
          <a:p>
            <a:fld id="{040F920E-E8BE-EA41-94CC-E1F4C1F9F404}" type="slidenum">
              <a:rPr lang="en-US" smtClean="0"/>
              <a:t>25</a:t>
            </a:fld>
            <a:endParaRPr lang="en-US"/>
          </a:p>
        </p:txBody>
      </p:sp>
    </p:spTree>
    <p:extLst>
      <p:ext uri="{BB962C8B-B14F-4D97-AF65-F5344CB8AC3E}">
        <p14:creationId xmlns:p14="http://schemas.microsoft.com/office/powerpoint/2010/main" val="29147802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Sustainable and ethical investing focuses on companies that prioritize social responsibility and environmental sustainability. This trend is gaining traction as investors seek to align their values with their investments.</a:t>
            </a:r>
          </a:p>
        </p:txBody>
      </p:sp>
      <p:sp>
        <p:nvSpPr>
          <p:cNvPr id="4" name="Slide Number Placeholder 3"/>
          <p:cNvSpPr>
            <a:spLocks noGrp="1"/>
          </p:cNvSpPr>
          <p:nvPr>
            <p:ph type="sldNum" sz="quarter" idx="5"/>
          </p:nvPr>
        </p:nvSpPr>
        <p:spPr/>
        <p:txBody>
          <a:bodyPr/>
          <a:lstStyle/>
          <a:p>
            <a:fld id="{040F920E-E8BE-EA41-94CC-E1F4C1F9F404}" type="slidenum">
              <a:rPr lang="en-US" smtClean="0"/>
              <a:t>26</a:t>
            </a:fld>
            <a:endParaRPr lang="en-US"/>
          </a:p>
        </p:txBody>
      </p:sp>
    </p:spTree>
    <p:extLst>
      <p:ext uri="{BB962C8B-B14F-4D97-AF65-F5344CB8AC3E}">
        <p14:creationId xmlns:p14="http://schemas.microsoft.com/office/powerpoint/2010/main" val="2537312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Investing in the stock market requires a nuanced understanding of its mechanics, benefits, and risks. By employing effective strategies and staying informed about market trends, investors can enhance their chances of success.</a:t>
            </a:r>
          </a:p>
        </p:txBody>
      </p:sp>
      <p:sp>
        <p:nvSpPr>
          <p:cNvPr id="4" name="Slide Number Placeholder 3"/>
          <p:cNvSpPr>
            <a:spLocks noGrp="1"/>
          </p:cNvSpPr>
          <p:nvPr>
            <p:ph type="sldNum" sz="quarter" idx="5"/>
          </p:nvPr>
        </p:nvSpPr>
        <p:spPr/>
        <p:txBody>
          <a:bodyPr/>
          <a:lstStyle/>
          <a:p>
            <a:fld id="{040F920E-E8BE-EA41-94CC-E1F4C1F9F404}" type="slidenum">
              <a:rPr lang="en-US" smtClean="0"/>
              <a:t>27</a:t>
            </a:fld>
            <a:endParaRPr lang="en-US"/>
          </a:p>
        </p:txBody>
      </p:sp>
    </p:spTree>
    <p:extLst>
      <p:ext uri="{BB962C8B-B14F-4D97-AF65-F5344CB8AC3E}">
        <p14:creationId xmlns:p14="http://schemas.microsoft.com/office/powerpoint/2010/main" val="3003721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4/19/25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32551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4/19/25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69569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4/19/25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7448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4/19/25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79718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4/19/25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15411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4/19/25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09352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4/19/25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1308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4/19/25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83544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4/19/25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39895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4/19/25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50016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4/19/25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002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4/19/25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6549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884DC2-C3BA-7F89-8E3F-E66C79DF5B52}"/>
              </a:ext>
            </a:extLst>
          </p:cNvPr>
          <p:cNvSpPr>
            <a:spLocks noGrp="1"/>
          </p:cNvSpPr>
          <p:nvPr>
            <p:ph type="ctrTitle"/>
          </p:nvPr>
        </p:nvSpPr>
        <p:spPr>
          <a:xfrm>
            <a:off x="7501083" y="1409700"/>
            <a:ext cx="4167042" cy="2875865"/>
          </a:xfrm>
        </p:spPr>
        <p:txBody>
          <a:bodyPr anchor="b">
            <a:normAutofit/>
          </a:bodyPr>
          <a:lstStyle/>
          <a:p>
            <a:pPr>
              <a:lnSpc>
                <a:spcPct val="90000"/>
              </a:lnSpc>
            </a:pPr>
            <a:r>
              <a:rPr lang="en-US" sz="3500"/>
              <a:t>The Ups and Downs of Investing in the Stock Market: A Comprehensive Guide</a:t>
            </a:r>
          </a:p>
        </p:txBody>
      </p:sp>
      <p:sp>
        <p:nvSpPr>
          <p:cNvPr id="3" name="Subtitle 2">
            <a:extLst>
              <a:ext uri="{FF2B5EF4-FFF2-40B4-BE49-F238E27FC236}">
                <a16:creationId xmlns:a16="http://schemas.microsoft.com/office/drawing/2014/main" id="{F742B3E2-2B1F-660C-D07A-8B49E0CB9281}"/>
              </a:ext>
            </a:extLst>
          </p:cNvPr>
          <p:cNvSpPr>
            <a:spLocks noGrp="1"/>
          </p:cNvSpPr>
          <p:nvPr>
            <p:ph type="subTitle" idx="1"/>
          </p:nvPr>
        </p:nvSpPr>
        <p:spPr>
          <a:xfrm>
            <a:off x="7509191" y="4431107"/>
            <a:ext cx="3972865" cy="1344426"/>
          </a:xfrm>
        </p:spPr>
        <p:txBody>
          <a:bodyPr anchor="t">
            <a:normAutofit/>
          </a:bodyPr>
          <a:lstStyle/>
          <a:p>
            <a:r>
              <a:rPr lang="en-US"/>
              <a:t>Exploring strategies, risks, and market trends</a:t>
            </a:r>
          </a:p>
        </p:txBody>
      </p:sp>
      <p:pic>
        <p:nvPicPr>
          <p:cNvPr id="4" name="Picture 3" descr="Blue stock ticker">
            <a:extLst>
              <a:ext uri="{FF2B5EF4-FFF2-40B4-BE49-F238E27FC236}">
                <a16:creationId xmlns:a16="http://schemas.microsoft.com/office/drawing/2014/main" id="{8DF6483A-E727-4621-A6A9-0F2C5A6E6BA5}"/>
              </a:ext>
            </a:extLst>
          </p:cNvPr>
          <p:cNvPicPr>
            <a:picLocks noChangeAspect="1"/>
          </p:cNvPicPr>
          <p:nvPr/>
        </p:nvPicPr>
        <p:blipFill>
          <a:blip r:embed="rId3"/>
          <a:srcRect l="9408" r="18498" b="-2"/>
          <a:stretch/>
        </p:blipFill>
        <p:spPr>
          <a:xfrm>
            <a:off x="20" y="609600"/>
            <a:ext cx="6778327" cy="5688323"/>
          </a:xfrm>
          <a:prstGeom prst="rect">
            <a:avLst/>
          </a:prstGeom>
        </p:spPr>
      </p:pic>
      <p:cxnSp>
        <p:nvCxnSpPr>
          <p:cNvPr id="11" name="Straight Connector 10">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248400"/>
            <a:ext cx="6778350" cy="49006"/>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30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1DC064-5182-8FE9-4CAA-7455C15DDB49}"/>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Outline of Topics</a:t>
            </a:r>
          </a:p>
        </p:txBody>
      </p:sp>
      <p:pic>
        <p:nvPicPr>
          <p:cNvPr id="5" name="Content Placeholder 4" descr="http://teekid.com/istockphoto/banner/banner3.jpg">
            <a:extLst>
              <a:ext uri="{FF2B5EF4-FFF2-40B4-BE49-F238E27FC236}">
                <a16:creationId xmlns:a16="http://schemas.microsoft.com/office/drawing/2014/main" id="{E31171C1-D1B2-4DC4-AD49-F99F999B16E3}"/>
              </a:ext>
            </a:extLst>
          </p:cNvPr>
          <p:cNvPicPr>
            <a:picLocks noGrp="1" noChangeAspect="1"/>
          </p:cNvPicPr>
          <p:nvPr>
            <p:ph sz="half" idx="1"/>
          </p:nvPr>
        </p:nvPicPr>
        <p:blipFill>
          <a:blip r:embed="rId3"/>
          <a:srcRect l="14941" r="2563" b="1"/>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46A274D7-16AC-8445-7A7B-FD35462E6FAE}"/>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5029200" y="2176036"/>
            <a:ext cx="6501810" cy="4121885"/>
          </a:xfrm>
        </p:spPr>
        <p:txBody>
          <a:bodyPr vert="horz" lIns="91440" tIns="45720" rIns="91440" bIns="45720" rtlCol="0">
            <a:normAutofit/>
          </a:bodyPr>
          <a:lstStyle/>
          <a:p>
            <a:r>
              <a:rPr lang="en-US"/>
              <a:t>Introduction to the Stock Market</a:t>
            </a:r>
          </a:p>
          <a:p>
            <a:r>
              <a:rPr lang="en-US"/>
              <a:t>Benefits of Investing in the Stock Market</a:t>
            </a:r>
          </a:p>
          <a:p>
            <a:r>
              <a:rPr lang="en-US"/>
              <a:t>Risks and Challenges of Stock Market Investing</a:t>
            </a:r>
          </a:p>
          <a:p>
            <a:r>
              <a:rPr lang="en-US"/>
              <a:t>Strategies for Successful Investing</a:t>
            </a:r>
          </a:p>
          <a:p>
            <a:r>
              <a:rPr lang="en-US"/>
              <a:t>Case Studies of Notable Market Ups and Downs</a:t>
            </a:r>
          </a:p>
          <a:p>
            <a:r>
              <a:rPr lang="en-US"/>
              <a:t>Future Trends and Considerations</a:t>
            </a:r>
          </a:p>
        </p:txBody>
      </p:sp>
    </p:spTree>
    <p:extLst>
      <p:ext uri="{BB962C8B-B14F-4D97-AF65-F5344CB8AC3E}">
        <p14:creationId xmlns:p14="http://schemas.microsoft.com/office/powerpoint/2010/main" val="1351303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3764D77D-4E93-4C5B-F588-E33584044FE8}"/>
              </a:ext>
            </a:extLst>
          </p:cNvPr>
          <p:cNvSpPr>
            <a:spLocks noGrp="1"/>
          </p:cNvSpPr>
          <p:nvPr>
            <p:ph type="ctrTitle"/>
          </p:nvPr>
        </p:nvSpPr>
        <p:spPr>
          <a:xfrm>
            <a:off x="559219" y="1115844"/>
            <a:ext cx="7680960" cy="4631911"/>
          </a:xfrm>
        </p:spPr>
        <p:txBody>
          <a:bodyPr anchor="b">
            <a:normAutofit/>
          </a:bodyPr>
          <a:lstStyle/>
          <a:p>
            <a:r>
              <a:rPr lang="en-US" sz="6500"/>
              <a:t>Introduction to the Stock Market</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9367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8EDB2A-CF64-6D8C-D60C-CC92382C689B}"/>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en-US"/>
              <a:t>What Is the Stock Market?</a:t>
            </a:r>
          </a:p>
        </p:txBody>
      </p:sp>
      <p:sp>
        <p:nvSpPr>
          <p:cNvPr id="4" name="Content Placeholder 3">
            <a:extLst>
              <a:ext uri="{FF2B5EF4-FFF2-40B4-BE49-F238E27FC236}">
                <a16:creationId xmlns:a16="http://schemas.microsoft.com/office/drawing/2014/main" id="{90126F17-6834-1DDA-82B4-B847A141869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Definition of Stock Market</a:t>
            </a:r>
          </a:p>
          <a:p>
            <a:pPr marL="0" lvl="1" indent="0">
              <a:buNone/>
            </a:pPr>
            <a:r>
              <a:rPr lang="en-US" sz="1400"/>
              <a:t>The stock market consists of various markets where shares of publicly traded companies are bought and sold, facilitating capital movement.</a:t>
            </a:r>
          </a:p>
          <a:p>
            <a:pPr marL="0" indent="0">
              <a:spcBef>
                <a:spcPts val="2500"/>
              </a:spcBef>
              <a:buNone/>
            </a:pPr>
            <a:r>
              <a:rPr lang="en-US" sz="1400" b="1"/>
              <a:t>Capital Raising for Companies</a:t>
            </a:r>
          </a:p>
          <a:p>
            <a:pPr marL="0" lvl="1" indent="0">
              <a:buNone/>
            </a:pPr>
            <a:r>
              <a:rPr lang="en-US" sz="1400"/>
              <a:t>Companies raise capital by issuing shares in the stock market, allowing for expansion and growth opportunities.</a:t>
            </a:r>
          </a:p>
          <a:p>
            <a:pPr marL="0" indent="0">
              <a:spcBef>
                <a:spcPts val="2500"/>
              </a:spcBef>
              <a:buNone/>
            </a:pPr>
            <a:r>
              <a:rPr lang="en-US" sz="1400" b="1"/>
              <a:t>Ownership for Investors</a:t>
            </a:r>
          </a:p>
          <a:p>
            <a:pPr marL="0" lvl="1" indent="0">
              <a:buNone/>
            </a:pPr>
            <a:r>
              <a:rPr lang="en-US" sz="1400"/>
              <a:t>Investors can buy shares to gain ownership in companies, leading to potential profits from dividends and capital appreciation.</a:t>
            </a:r>
          </a:p>
        </p:txBody>
      </p:sp>
      <p:pic>
        <p:nvPicPr>
          <p:cNvPr id="5" name="Content Placeholder 4" descr="A stock chart with orange graphs and numbers">
            <a:extLst>
              <a:ext uri="{FF2B5EF4-FFF2-40B4-BE49-F238E27FC236}">
                <a16:creationId xmlns:a16="http://schemas.microsoft.com/office/drawing/2014/main" id="{FCEB6BBE-4BBB-4EA2-ABEF-2DBAA5E8CAA7}"/>
              </a:ext>
            </a:extLst>
          </p:cNvPr>
          <p:cNvPicPr>
            <a:picLocks noGrp="1" noChangeAspect="1"/>
          </p:cNvPicPr>
          <p:nvPr>
            <p:ph sz="half" idx="1"/>
          </p:nvPr>
        </p:nvPicPr>
        <p:blipFill>
          <a:blip r:embed="rId3"/>
          <a:srcRect l="29454" r="15539"/>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72153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92D8EA-F86A-EB18-75EC-F884FFDEE3F4}"/>
              </a:ext>
            </a:extLst>
          </p:cNvPr>
          <p:cNvSpPr>
            <a:spLocks noGrp="1"/>
          </p:cNvSpPr>
          <p:nvPr>
            <p:ph type="title"/>
          </p:nvPr>
        </p:nvSpPr>
        <p:spPr>
          <a:xfrm>
            <a:off x="640080" y="1371601"/>
            <a:ext cx="4297680" cy="1789608"/>
          </a:xfrm>
        </p:spPr>
        <p:txBody>
          <a:bodyPr vert="horz" lIns="91440" tIns="45720" rIns="91440" bIns="45720" rtlCol="0" anchor="t">
            <a:normAutofit/>
          </a:bodyPr>
          <a:lstStyle/>
          <a:p>
            <a:pPr>
              <a:lnSpc>
                <a:spcPct val="90000"/>
              </a:lnSpc>
            </a:pPr>
            <a:r>
              <a:rPr lang="en-US"/>
              <a:t>History and Evolution of Stock Markets</a:t>
            </a:r>
          </a:p>
        </p:txBody>
      </p:sp>
      <p:cxnSp>
        <p:nvCxnSpPr>
          <p:cNvPr id="14" name="Straight Connector 13">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Content Placeholder 4" descr="Stock exchange numbers">
            <a:extLst>
              <a:ext uri="{FF2B5EF4-FFF2-40B4-BE49-F238E27FC236}">
                <a16:creationId xmlns:a16="http://schemas.microsoft.com/office/drawing/2014/main" id="{2CDBA3DF-F594-4E92-8A56-2BE56857D4F1}"/>
              </a:ext>
            </a:extLst>
          </p:cNvPr>
          <p:cNvPicPr>
            <a:picLocks noGrp="1" noChangeAspect="1"/>
          </p:cNvPicPr>
          <p:nvPr>
            <p:ph sz="half" idx="1"/>
          </p:nvPr>
        </p:nvPicPr>
        <p:blipFill>
          <a:blip r:embed="rId3"/>
          <a:stretch>
            <a:fillRect/>
          </a:stretch>
        </p:blipFill>
        <p:spPr>
          <a:xfrm>
            <a:off x="716280" y="3552264"/>
            <a:ext cx="4113346" cy="2745660"/>
          </a:xfrm>
          <a:prstGeom prst="rect">
            <a:avLst/>
          </a:prstGeom>
        </p:spPr>
      </p:pic>
      <p:sp>
        <p:nvSpPr>
          <p:cNvPr id="4" name="Content Placeholder 3">
            <a:extLst>
              <a:ext uri="{FF2B5EF4-FFF2-40B4-BE49-F238E27FC236}">
                <a16:creationId xmlns:a16="http://schemas.microsoft.com/office/drawing/2014/main" id="{89CBEEA9-58EF-E0A3-44E7-C8C06A0B3A3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371601"/>
            <a:ext cx="5888736" cy="4926323"/>
          </a:xfrm>
        </p:spPr>
        <p:txBody>
          <a:bodyPr>
            <a:normAutofit/>
          </a:bodyPr>
          <a:lstStyle/>
          <a:p>
            <a:pPr marL="0" indent="0">
              <a:spcBef>
                <a:spcPts val="2500"/>
              </a:spcBef>
              <a:buNone/>
            </a:pPr>
            <a:r>
              <a:rPr lang="en-US" sz="1400" b="1"/>
              <a:t>Inception in the 1600s</a:t>
            </a:r>
          </a:p>
          <a:p>
            <a:pPr marL="0" lvl="1" indent="0">
              <a:buNone/>
            </a:pPr>
            <a:r>
              <a:rPr lang="en-US" sz="1400"/>
              <a:t>The stock market began in the 1600s, primarily as a means for companies to raise capital through share issuance.</a:t>
            </a:r>
          </a:p>
          <a:p>
            <a:pPr marL="0" indent="0">
              <a:spcBef>
                <a:spcPts val="2500"/>
              </a:spcBef>
              <a:buNone/>
            </a:pPr>
            <a:r>
              <a:rPr lang="en-US" sz="1400" b="1"/>
              <a:t>Transition to Global Marketplace</a:t>
            </a:r>
          </a:p>
          <a:p>
            <a:pPr marL="0" lvl="1" indent="0">
              <a:buNone/>
            </a:pPr>
            <a:r>
              <a:rPr lang="en-US" sz="1400"/>
              <a:t>Over the centuries, the stock market has transformed into a complex global marketplace for trading securities influenced by various factors.</a:t>
            </a:r>
          </a:p>
          <a:p>
            <a:pPr marL="0" indent="0">
              <a:spcBef>
                <a:spcPts val="2500"/>
              </a:spcBef>
              <a:buNone/>
            </a:pPr>
            <a:r>
              <a:rPr lang="en-US" sz="1400" b="1"/>
              <a:t>Influence of Technology</a:t>
            </a:r>
          </a:p>
          <a:p>
            <a:pPr marL="0" lvl="1" indent="0">
              <a:buNone/>
            </a:pPr>
            <a:r>
              <a:rPr lang="en-US" sz="1400"/>
              <a:t>Advancements in technology have revolutionized trading practices, making transactions faster and more accessible worldwide.</a:t>
            </a:r>
          </a:p>
          <a:p>
            <a:pPr marL="0" indent="0">
              <a:spcBef>
                <a:spcPts val="2500"/>
              </a:spcBef>
              <a:buNone/>
            </a:pPr>
            <a:r>
              <a:rPr lang="en-US" sz="1400" b="1"/>
              <a:t>Regulatory Changes</a:t>
            </a:r>
          </a:p>
          <a:p>
            <a:pPr marL="0" lvl="1" indent="0">
              <a:buNone/>
            </a:pPr>
            <a:r>
              <a:rPr lang="en-US" sz="1400"/>
              <a:t>Regulation has played a critical role in shaping stock markets to ensure fair trading and protect investors.</a:t>
            </a:r>
          </a:p>
        </p:txBody>
      </p:sp>
    </p:spTree>
    <p:extLst>
      <p:ext uri="{BB962C8B-B14F-4D97-AF65-F5344CB8AC3E}">
        <p14:creationId xmlns:p14="http://schemas.microsoft.com/office/powerpoint/2010/main" val="823991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87A885-4E5A-3D91-F8E7-896994AE2656}"/>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sz="3700"/>
              <a:t>Key Players and Components</a:t>
            </a:r>
          </a:p>
        </p:txBody>
      </p:sp>
      <p:pic>
        <p:nvPicPr>
          <p:cNvPr id="5" name="Content Placeholder 4" descr="stock or currency exchange market display screen board">
            <a:extLst>
              <a:ext uri="{FF2B5EF4-FFF2-40B4-BE49-F238E27FC236}">
                <a16:creationId xmlns:a16="http://schemas.microsoft.com/office/drawing/2014/main" id="{0A864295-2B76-433F-B3DE-A8C1C4192E34}"/>
              </a:ext>
            </a:extLst>
          </p:cNvPr>
          <p:cNvPicPr>
            <a:picLocks noGrp="1" noChangeAspect="1"/>
          </p:cNvPicPr>
          <p:nvPr>
            <p:ph sz="half" idx="1"/>
          </p:nvPr>
        </p:nvPicPr>
        <p:blipFill>
          <a:blip r:embed="rId3"/>
          <a:srcRect l="27669" r="17265"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2529F7B-D2CD-714D-1A76-036DA8F5768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Market Participants</a:t>
            </a:r>
          </a:p>
          <a:p>
            <a:pPr marL="0" lvl="1" indent="0">
              <a:buNone/>
            </a:pPr>
            <a:r>
              <a:rPr lang="en-US" sz="1400"/>
              <a:t>The stock market consists of individual and institutional investors, brokers, and market makers, each playing a crucial role.</a:t>
            </a:r>
          </a:p>
          <a:p>
            <a:pPr marL="0" indent="0">
              <a:spcBef>
                <a:spcPts val="2500"/>
              </a:spcBef>
              <a:buNone/>
            </a:pPr>
            <a:r>
              <a:rPr lang="en-US" sz="1400" b="1"/>
              <a:t>Stock Exchanges</a:t>
            </a:r>
          </a:p>
          <a:p>
            <a:pPr marL="0" lvl="1" indent="0">
              <a:buNone/>
            </a:pPr>
            <a:r>
              <a:rPr lang="en-US" sz="1400"/>
              <a:t>Stock exchanges are platforms where securities are bought and sold, vital for the functioning of the market.</a:t>
            </a:r>
          </a:p>
          <a:p>
            <a:pPr marL="0" indent="0">
              <a:spcBef>
                <a:spcPts val="2500"/>
              </a:spcBef>
              <a:buNone/>
            </a:pPr>
            <a:r>
              <a:rPr lang="en-US" sz="1400" b="1"/>
              <a:t>Regulatory Bodies</a:t>
            </a:r>
          </a:p>
          <a:p>
            <a:pPr marL="0" lvl="1" indent="0">
              <a:buNone/>
            </a:pPr>
            <a:r>
              <a:rPr lang="en-US" sz="1400"/>
              <a:t>Regulatory bodies ensure fair practices and protect investors by enforcing rules and regulations within the market.</a:t>
            </a:r>
          </a:p>
        </p:txBody>
      </p:sp>
    </p:spTree>
    <p:extLst>
      <p:ext uri="{BB962C8B-B14F-4D97-AF65-F5344CB8AC3E}">
        <p14:creationId xmlns:p14="http://schemas.microsoft.com/office/powerpoint/2010/main" val="40799365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B784DF4-763D-23C6-5552-E3E7F6D4DC45}"/>
              </a:ext>
            </a:extLst>
          </p:cNvPr>
          <p:cNvSpPr>
            <a:spLocks noGrp="1"/>
          </p:cNvSpPr>
          <p:nvPr>
            <p:ph type="ctrTitle"/>
          </p:nvPr>
        </p:nvSpPr>
        <p:spPr>
          <a:xfrm>
            <a:off x="559219" y="1115844"/>
            <a:ext cx="7680960" cy="4631911"/>
          </a:xfrm>
        </p:spPr>
        <p:txBody>
          <a:bodyPr anchor="b">
            <a:normAutofit/>
          </a:bodyPr>
          <a:lstStyle/>
          <a:p>
            <a:r>
              <a:rPr lang="en-US" sz="6500"/>
              <a:t>Benefits of Investing in the Stock Market</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97583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E185F4-9D71-6F9B-7D93-C677045BE603}"/>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3600"/>
              <a:t>Potential for High Returns</a:t>
            </a:r>
          </a:p>
        </p:txBody>
      </p:sp>
      <p:pic>
        <p:nvPicPr>
          <p:cNvPr id="5" name="Content Placeholder 4" descr="Blue background with arrows">
            <a:extLst>
              <a:ext uri="{FF2B5EF4-FFF2-40B4-BE49-F238E27FC236}">
                <a16:creationId xmlns:a16="http://schemas.microsoft.com/office/drawing/2014/main" id="{1E80A919-956C-49B1-B922-787CD0E5428C}"/>
              </a:ext>
            </a:extLst>
          </p:cNvPr>
          <p:cNvPicPr>
            <a:picLocks noGrp="1" noChangeAspect="1"/>
          </p:cNvPicPr>
          <p:nvPr>
            <p:ph sz="half" idx="1"/>
          </p:nvPr>
        </p:nvPicPr>
        <p:blipFill>
          <a:blip r:embed="rId3"/>
          <a:srcRect l="16094" r="13956" b="-2"/>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BDD6995E-0BCA-D8F5-66CA-58D7EC7C157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High Returns Potential</a:t>
            </a:r>
          </a:p>
          <a:p>
            <a:pPr marL="0" lvl="1" indent="0">
              <a:buNone/>
            </a:pPr>
            <a:r>
              <a:rPr lang="en-US" sz="1400"/>
              <a:t>Investing in stocks offers the potential for significantly high returns, especially over the long term.</a:t>
            </a:r>
          </a:p>
          <a:p>
            <a:pPr marL="0" indent="0">
              <a:spcBef>
                <a:spcPts val="2500"/>
              </a:spcBef>
              <a:buNone/>
            </a:pPr>
            <a:r>
              <a:rPr lang="en-US" sz="1400" b="1"/>
              <a:t>Equities vs. Other Assets</a:t>
            </a:r>
          </a:p>
          <a:p>
            <a:pPr marL="0" lvl="1" indent="0">
              <a:buNone/>
            </a:pPr>
            <a:r>
              <a:rPr lang="en-US" sz="1400"/>
              <a:t>Historically, equities have outperformed various other asset classes, making them a preferred investment choice.</a:t>
            </a:r>
          </a:p>
        </p:txBody>
      </p:sp>
    </p:spTree>
    <p:extLst>
      <p:ext uri="{BB962C8B-B14F-4D97-AF65-F5344CB8AC3E}">
        <p14:creationId xmlns:p14="http://schemas.microsoft.com/office/powerpoint/2010/main" val="21438720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A607B0-4F15-6880-6B7A-5B8A0EC4BA00}"/>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en-US"/>
              <a:t>Liquidity and Accessibility</a:t>
            </a:r>
          </a:p>
        </p:txBody>
      </p:sp>
      <p:sp>
        <p:nvSpPr>
          <p:cNvPr id="4" name="Content Placeholder 3">
            <a:extLst>
              <a:ext uri="{FF2B5EF4-FFF2-40B4-BE49-F238E27FC236}">
                <a16:creationId xmlns:a16="http://schemas.microsoft.com/office/drawing/2014/main" id="{7FFBF841-52B3-72A3-3DD9-90D94C2A549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High Liquidity</a:t>
            </a:r>
          </a:p>
          <a:p>
            <a:pPr marL="0" lvl="1" indent="0">
              <a:buNone/>
            </a:pPr>
            <a:r>
              <a:rPr lang="en-US" sz="1400"/>
              <a:t>The stock market offers high liquidity, enabling investors to quickly buy and sell shares as needed.</a:t>
            </a:r>
          </a:p>
          <a:p>
            <a:pPr marL="0" indent="0">
              <a:spcBef>
                <a:spcPts val="2500"/>
              </a:spcBef>
              <a:buNone/>
            </a:pPr>
            <a:r>
              <a:rPr lang="en-US" sz="1400" b="1"/>
              <a:t>Technological Advancements</a:t>
            </a:r>
          </a:p>
          <a:p>
            <a:pPr marL="0" lvl="1" indent="0">
              <a:buNone/>
            </a:pPr>
            <a:r>
              <a:rPr lang="en-US" sz="1400"/>
              <a:t>Advancements in technology have transformed the investing landscape, making it easier for individuals to participate in the stock market.</a:t>
            </a:r>
          </a:p>
          <a:p>
            <a:pPr marL="0" indent="0">
              <a:spcBef>
                <a:spcPts val="2500"/>
              </a:spcBef>
              <a:buNone/>
            </a:pPr>
            <a:r>
              <a:rPr lang="en-US" sz="1400" b="1"/>
              <a:t>Global Accessibility</a:t>
            </a:r>
          </a:p>
          <a:p>
            <a:pPr marL="0" lvl="1" indent="0">
              <a:buNone/>
            </a:pPr>
            <a:r>
              <a:rPr lang="en-US" sz="1400"/>
              <a:t>Investing is now accessible to people worldwide, allowing a broader range of individuals to engage in the financial markets.</a:t>
            </a:r>
          </a:p>
        </p:txBody>
      </p:sp>
      <p:pic>
        <p:nvPicPr>
          <p:cNvPr id="5" name="Content Placeholder 4" descr="Hand holding mobile phone showing the Stock market chart over the computer laptop screen. Business investment concept.">
            <a:extLst>
              <a:ext uri="{FF2B5EF4-FFF2-40B4-BE49-F238E27FC236}">
                <a16:creationId xmlns:a16="http://schemas.microsoft.com/office/drawing/2014/main" id="{290B690F-CA8D-48A9-87EF-428BD2B8538B}"/>
              </a:ext>
            </a:extLst>
          </p:cNvPr>
          <p:cNvPicPr>
            <a:picLocks noGrp="1" noChangeAspect="1"/>
          </p:cNvPicPr>
          <p:nvPr>
            <p:ph sz="half" idx="1"/>
          </p:nvPr>
        </p:nvPicPr>
        <p:blipFill>
          <a:blip r:embed="rId3"/>
          <a:srcRect l="15678" r="29316"/>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6717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B630C5-7B87-2BAE-CC4D-6F7615ECF47E}"/>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Portfolio Diversification</a:t>
            </a:r>
          </a:p>
        </p:txBody>
      </p:sp>
      <p:pic>
        <p:nvPicPr>
          <p:cNvPr id="5" name="Content Placeholder 4" descr="Calculator, pen, compass, money and a paper with graphs printed on it">
            <a:extLst>
              <a:ext uri="{FF2B5EF4-FFF2-40B4-BE49-F238E27FC236}">
                <a16:creationId xmlns:a16="http://schemas.microsoft.com/office/drawing/2014/main" id="{EB87EE8B-9B8D-4AEF-B9E1-D66800D22BCE}"/>
              </a:ext>
            </a:extLst>
          </p:cNvPr>
          <p:cNvPicPr>
            <a:picLocks noGrp="1" noChangeAspect="1"/>
          </p:cNvPicPr>
          <p:nvPr>
            <p:ph sz="half" idx="1"/>
          </p:nvPr>
        </p:nvPicPr>
        <p:blipFill>
          <a:blip r:embed="rId3"/>
          <a:srcRect l="25952" r="24344" b="1"/>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FCA17B2-6795-D07B-5B7B-75B39D706D2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Risk Mitigation</a:t>
            </a:r>
          </a:p>
          <a:p>
            <a:pPr marL="0" lvl="1" indent="0">
              <a:buNone/>
            </a:pPr>
            <a:r>
              <a:rPr lang="en-US" sz="1400"/>
              <a:t>Diversifying investments can significantly reduce risks associated with market volatility and sector-specific downturns.</a:t>
            </a:r>
          </a:p>
          <a:p>
            <a:pPr marL="0" indent="0">
              <a:spcBef>
                <a:spcPts val="2500"/>
              </a:spcBef>
              <a:buNone/>
            </a:pPr>
            <a:r>
              <a:rPr lang="en-US" sz="1400" b="1"/>
              <a:t>Sector Diversification</a:t>
            </a:r>
          </a:p>
          <a:p>
            <a:pPr marL="0" lvl="1" indent="0">
              <a:buNone/>
            </a:pPr>
            <a:r>
              <a:rPr lang="en-US" sz="1400"/>
              <a:t>Investing across different sectors can protect against poor performance in any single sector.</a:t>
            </a:r>
          </a:p>
          <a:p>
            <a:pPr marL="0" indent="0">
              <a:spcBef>
                <a:spcPts val="2500"/>
              </a:spcBef>
              <a:buNone/>
            </a:pPr>
            <a:r>
              <a:rPr lang="en-US" sz="1400" b="1"/>
              <a:t>Asset Class Variety</a:t>
            </a:r>
          </a:p>
          <a:p>
            <a:pPr marL="0" lvl="1" indent="0">
              <a:buNone/>
            </a:pPr>
            <a:r>
              <a:rPr lang="en-US" sz="1400"/>
              <a:t>Including different asset classes like stocks, bonds, and real estate can enhance portfolio stability and growth potential.</a:t>
            </a:r>
          </a:p>
        </p:txBody>
      </p:sp>
    </p:spTree>
    <p:extLst>
      <p:ext uri="{BB962C8B-B14F-4D97-AF65-F5344CB8AC3E}">
        <p14:creationId xmlns:p14="http://schemas.microsoft.com/office/powerpoint/2010/main" val="2075225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FD4F0FFA-7361-56F8-6A65-84255854F586}"/>
              </a:ext>
            </a:extLst>
          </p:cNvPr>
          <p:cNvSpPr>
            <a:spLocks noGrp="1"/>
          </p:cNvSpPr>
          <p:nvPr>
            <p:ph type="ctrTitle"/>
          </p:nvPr>
        </p:nvSpPr>
        <p:spPr>
          <a:xfrm>
            <a:off x="559219" y="1115844"/>
            <a:ext cx="7680960" cy="4631911"/>
          </a:xfrm>
        </p:spPr>
        <p:txBody>
          <a:bodyPr anchor="b">
            <a:normAutofit/>
          </a:bodyPr>
          <a:lstStyle/>
          <a:p>
            <a:r>
              <a:rPr lang="en-US" sz="6500"/>
              <a:t>Risks and Challenges of Stock Market Investing</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17162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A1A853-6F87-8C88-C8F5-1C3F052FBD49}"/>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Market Volatility</a:t>
            </a:r>
          </a:p>
        </p:txBody>
      </p:sp>
      <p:pic>
        <p:nvPicPr>
          <p:cNvPr id="5" name="Content Placeholder 4" descr="display stock information on LED screen">
            <a:extLst>
              <a:ext uri="{FF2B5EF4-FFF2-40B4-BE49-F238E27FC236}">
                <a16:creationId xmlns:a16="http://schemas.microsoft.com/office/drawing/2014/main" id="{21215DDE-62E9-455D-93A6-B3CBFC00202A}"/>
              </a:ext>
            </a:extLst>
          </p:cNvPr>
          <p:cNvPicPr>
            <a:picLocks noGrp="1" noChangeAspect="1"/>
          </p:cNvPicPr>
          <p:nvPr>
            <p:ph sz="half" idx="1"/>
          </p:nvPr>
        </p:nvPicPr>
        <p:blipFill>
          <a:blip r:embed="rId3"/>
          <a:srcRect l="44932" r="2"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C7152B0-1F4A-B9BC-2985-2702265AFB1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Understanding Market Volatility</a:t>
            </a:r>
          </a:p>
          <a:p>
            <a:pPr marL="0" lvl="1" indent="0">
              <a:buNone/>
            </a:pPr>
            <a:r>
              <a:rPr lang="en-US" sz="1400"/>
              <a:t>Market volatility represents the extent of price fluctuations in the stock market over a specific period.</a:t>
            </a:r>
          </a:p>
          <a:p>
            <a:pPr marL="0" indent="0">
              <a:spcBef>
                <a:spcPts val="2500"/>
              </a:spcBef>
              <a:buNone/>
            </a:pPr>
            <a:r>
              <a:rPr lang="en-US" sz="1400" b="1"/>
              <a:t>Causes of Volatility</a:t>
            </a:r>
          </a:p>
          <a:p>
            <a:pPr marL="0" lvl="1" indent="0">
              <a:buNone/>
            </a:pPr>
            <a:r>
              <a:rPr lang="en-US" sz="1400"/>
              <a:t>Economic indicators, interest rates, and geopolitical events are major factors that contribute to market volatility.</a:t>
            </a:r>
          </a:p>
          <a:p>
            <a:pPr marL="0" indent="0">
              <a:spcBef>
                <a:spcPts val="2500"/>
              </a:spcBef>
              <a:buNone/>
            </a:pPr>
            <a:r>
              <a:rPr lang="en-US" sz="1400" b="1"/>
              <a:t>Risks to Investors</a:t>
            </a:r>
          </a:p>
          <a:p>
            <a:pPr marL="0" lvl="1" indent="0">
              <a:buNone/>
            </a:pPr>
            <a:r>
              <a:rPr lang="en-US" sz="1400"/>
              <a:t>High market volatility can pose significant risks to investors, impacting their investment strategies and decisions.</a:t>
            </a:r>
          </a:p>
        </p:txBody>
      </p:sp>
    </p:spTree>
    <p:extLst>
      <p:ext uri="{BB962C8B-B14F-4D97-AF65-F5344CB8AC3E}">
        <p14:creationId xmlns:p14="http://schemas.microsoft.com/office/powerpoint/2010/main" val="37455369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49C8F1-E45F-CFA8-D60F-69A16A5AB99F}"/>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Economic and Political Influences</a:t>
            </a:r>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1DB74310-D54A-4C36-918F-FE540DF2B7D1}"/>
              </a:ext>
            </a:extLst>
          </p:cNvPr>
          <p:cNvPicPr>
            <a:picLocks noGrp="1" noChangeAspect="1"/>
          </p:cNvPicPr>
          <p:nvPr>
            <p:ph sz="half" idx="1"/>
          </p:nvPr>
        </p:nvPicPr>
        <p:blipFill>
          <a:blip r:embed="rId3"/>
          <a:srcRect l="26675" r="2584"/>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4AEF923-5BB4-74B9-AC27-64BB1A9C9B8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Macroeconomic Factors</a:t>
            </a:r>
          </a:p>
          <a:p>
            <a:pPr marL="0" lvl="1" indent="0">
              <a:buNone/>
            </a:pPr>
            <a:r>
              <a:rPr lang="en-US" sz="1400"/>
              <a:t>Macroeconomic factors like inflation and unemployment rates play a crucial role in influencing stock market trends.</a:t>
            </a:r>
          </a:p>
          <a:p>
            <a:pPr marL="0" indent="0">
              <a:spcBef>
                <a:spcPts val="2500"/>
              </a:spcBef>
              <a:buNone/>
            </a:pPr>
            <a:r>
              <a:rPr lang="en-US" sz="1400" b="1"/>
              <a:t>Government Policies</a:t>
            </a:r>
          </a:p>
          <a:p>
            <a:pPr marL="0" lvl="1" indent="0">
              <a:buNone/>
            </a:pPr>
            <a:r>
              <a:rPr lang="en-US" sz="1400"/>
              <a:t>Government policies can significantly affect investor confidence and stock market performance, driving investment strategies.</a:t>
            </a:r>
          </a:p>
          <a:p>
            <a:pPr marL="0" indent="0">
              <a:spcBef>
                <a:spcPts val="2500"/>
              </a:spcBef>
              <a:buNone/>
            </a:pPr>
            <a:r>
              <a:rPr lang="en-US" sz="1400" b="1"/>
              <a:t>Political Events</a:t>
            </a:r>
          </a:p>
          <a:p>
            <a:pPr marL="0" lvl="1" indent="0">
              <a:buNone/>
            </a:pPr>
            <a:r>
              <a:rPr lang="en-US" sz="1400"/>
              <a:t>Political events, such as elections and policy announcements, can create volatility in the stock market and affect investor behavior.</a:t>
            </a:r>
          </a:p>
        </p:txBody>
      </p:sp>
    </p:spTree>
    <p:extLst>
      <p:ext uri="{BB962C8B-B14F-4D97-AF65-F5344CB8AC3E}">
        <p14:creationId xmlns:p14="http://schemas.microsoft.com/office/powerpoint/2010/main" val="39140420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FEC13C-1C85-7DB9-449D-F0343B8D5719}"/>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Emotional and Psychological Factors</a:t>
            </a:r>
          </a:p>
        </p:txBody>
      </p:sp>
      <p:sp>
        <p:nvSpPr>
          <p:cNvPr id="4" name="Content Placeholder 3">
            <a:extLst>
              <a:ext uri="{FF2B5EF4-FFF2-40B4-BE49-F238E27FC236}">
                <a16:creationId xmlns:a16="http://schemas.microsoft.com/office/drawing/2014/main" id="{7E91373F-6A89-5D6C-6D92-5B5EC34296C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Impact of Emotions</a:t>
            </a:r>
          </a:p>
          <a:p>
            <a:pPr marL="0" lvl="1" indent="0">
              <a:buNone/>
            </a:pPr>
            <a:r>
              <a:rPr lang="en-US" sz="1400"/>
              <a:t>Investors' emotional responses can greatly influence their decisions, often leading to irrational choices in the market.</a:t>
            </a:r>
          </a:p>
          <a:p>
            <a:pPr marL="0" indent="0">
              <a:spcBef>
                <a:spcPts val="2500"/>
              </a:spcBef>
              <a:buNone/>
            </a:pPr>
            <a:r>
              <a:rPr lang="en-US" sz="1400" b="1"/>
              <a:t>Fear in Investing</a:t>
            </a:r>
          </a:p>
          <a:p>
            <a:pPr marL="0" lvl="1" indent="0">
              <a:buNone/>
            </a:pPr>
            <a:r>
              <a:rPr lang="en-US" sz="1400"/>
              <a:t>Fear can lead to panic selling and missed opportunities, negatively impacting investment strategies and outcomes.</a:t>
            </a:r>
          </a:p>
          <a:p>
            <a:pPr marL="0" indent="0">
              <a:spcBef>
                <a:spcPts val="2500"/>
              </a:spcBef>
              <a:buNone/>
            </a:pPr>
            <a:r>
              <a:rPr lang="en-US" sz="1400" b="1"/>
              <a:t>Greed and Risk</a:t>
            </a:r>
          </a:p>
          <a:p>
            <a:pPr marL="0" lvl="1" indent="0">
              <a:buNone/>
            </a:pPr>
            <a:r>
              <a:rPr lang="en-US" sz="1400"/>
              <a:t>Greed drives investors to take excessive risks, which can result in poor investment choices if not managed carefully.</a:t>
            </a:r>
          </a:p>
        </p:txBody>
      </p:sp>
      <p:pic>
        <p:nvPicPr>
          <p:cNvPr id="5" name="Content Placeholder 4" descr="A man looks up at a chart that shows a bear market market in stock prices.">
            <a:extLst>
              <a:ext uri="{FF2B5EF4-FFF2-40B4-BE49-F238E27FC236}">
                <a16:creationId xmlns:a16="http://schemas.microsoft.com/office/drawing/2014/main" id="{09263223-6B5A-44AB-9796-15796A4BA191}"/>
              </a:ext>
            </a:extLst>
          </p:cNvPr>
          <p:cNvPicPr>
            <a:picLocks noGrp="1" noChangeAspect="1"/>
          </p:cNvPicPr>
          <p:nvPr>
            <p:ph sz="half" idx="1"/>
          </p:nvPr>
        </p:nvPicPr>
        <p:blipFill>
          <a:blip r:embed="rId3"/>
          <a:srcRect l="22502" r="22492"/>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8093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75B48987-F9E3-2432-DCF6-D7231462F959}"/>
              </a:ext>
            </a:extLst>
          </p:cNvPr>
          <p:cNvSpPr>
            <a:spLocks noGrp="1"/>
          </p:cNvSpPr>
          <p:nvPr>
            <p:ph type="ctrTitle"/>
          </p:nvPr>
        </p:nvSpPr>
        <p:spPr>
          <a:xfrm>
            <a:off x="559219" y="1115844"/>
            <a:ext cx="7680960" cy="4631911"/>
          </a:xfrm>
        </p:spPr>
        <p:txBody>
          <a:bodyPr anchor="b">
            <a:normAutofit/>
          </a:bodyPr>
          <a:lstStyle/>
          <a:p>
            <a:r>
              <a:rPr lang="en-US" sz="6500"/>
              <a:t>Strategies for Successful Investing</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2108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692BA1-9D2E-5D92-9659-718446AE67FC}"/>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Long-Term Vs. Short-Term Investing</a:t>
            </a:r>
          </a:p>
        </p:txBody>
      </p:sp>
      <p:pic>
        <p:nvPicPr>
          <p:cNvPr id="5" name="Content Placeholder 4" descr="Graph with arrows moving up.">
            <a:extLst>
              <a:ext uri="{FF2B5EF4-FFF2-40B4-BE49-F238E27FC236}">
                <a16:creationId xmlns:a16="http://schemas.microsoft.com/office/drawing/2014/main" id="{7B2B979F-43F6-49D3-94C4-66AB5844325F}"/>
              </a:ext>
            </a:extLst>
          </p:cNvPr>
          <p:cNvPicPr>
            <a:picLocks noGrp="1" noChangeAspect="1"/>
          </p:cNvPicPr>
          <p:nvPr>
            <p:ph sz="half" idx="1"/>
          </p:nvPr>
        </p:nvPicPr>
        <p:blipFill>
          <a:blip r:embed="rId3"/>
          <a:srcRect l="18024" r="32476"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64401B8-EB22-DEFF-FDAC-6B3F339D96B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Long-Term Investing</a:t>
            </a:r>
          </a:p>
          <a:p>
            <a:pPr marL="0" lvl="1" indent="0">
              <a:buNone/>
            </a:pPr>
            <a:r>
              <a:rPr lang="en-US" sz="1400"/>
              <a:t>Long-term investing emphasizes growth over several years, allowing investments to compound and mitigate volatility.</a:t>
            </a:r>
          </a:p>
          <a:p>
            <a:pPr marL="0" indent="0">
              <a:spcBef>
                <a:spcPts val="2500"/>
              </a:spcBef>
              <a:buNone/>
            </a:pPr>
            <a:r>
              <a:rPr lang="en-US" sz="1400" b="1"/>
              <a:t>Short-Term Investing</a:t>
            </a:r>
          </a:p>
          <a:p>
            <a:pPr marL="0" lvl="1" indent="0">
              <a:buNone/>
            </a:pPr>
            <a:r>
              <a:rPr lang="en-US" sz="1400"/>
              <a:t>Short-term investing focuses on capitalizing on market fluctuations to achieve quick returns, often involving higher risk.</a:t>
            </a:r>
          </a:p>
          <a:p>
            <a:pPr marL="0" indent="0">
              <a:spcBef>
                <a:spcPts val="2500"/>
              </a:spcBef>
              <a:buNone/>
            </a:pPr>
            <a:r>
              <a:rPr lang="en-US" sz="1400" b="1"/>
              <a:t>Risk-Reward Profiles</a:t>
            </a:r>
          </a:p>
          <a:p>
            <a:pPr marL="0" lvl="1" indent="0">
              <a:buNone/>
            </a:pPr>
            <a:r>
              <a:rPr lang="en-US" sz="1400"/>
              <a:t>Each investment approach has distinct risk-reward profiles; longer commitments typically offer stability, while shorter ones can yield rapid gains or losses.</a:t>
            </a:r>
          </a:p>
        </p:txBody>
      </p:sp>
    </p:spTree>
    <p:extLst>
      <p:ext uri="{BB962C8B-B14F-4D97-AF65-F5344CB8AC3E}">
        <p14:creationId xmlns:p14="http://schemas.microsoft.com/office/powerpoint/2010/main" val="157137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FA8D5D-2CEB-DACC-F518-EA2CAD7B981A}"/>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3600"/>
              <a:t>Fundamental and Technical Analysis</a:t>
            </a:r>
          </a:p>
        </p:txBody>
      </p:sp>
      <p:pic>
        <p:nvPicPr>
          <p:cNvPr id="5" name="Content Placeholder 4" descr="Stock market graph on display">
            <a:extLst>
              <a:ext uri="{FF2B5EF4-FFF2-40B4-BE49-F238E27FC236}">
                <a16:creationId xmlns:a16="http://schemas.microsoft.com/office/drawing/2014/main" id="{F438A759-C4DC-4C4D-8DDB-911175477369}"/>
              </a:ext>
            </a:extLst>
          </p:cNvPr>
          <p:cNvPicPr>
            <a:picLocks noGrp="1" noChangeAspect="1"/>
          </p:cNvPicPr>
          <p:nvPr>
            <p:ph sz="half" idx="1"/>
          </p:nvPr>
        </p:nvPicPr>
        <p:blipFill>
          <a:blip r:embed="rId3"/>
          <a:srcRect l="26352" r="1525" b="2"/>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141DF58-996F-ECB7-063A-DADF9A95508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Fundamental Analysis</a:t>
            </a:r>
          </a:p>
          <a:p>
            <a:pPr marL="0" lvl="1" indent="0">
              <a:buNone/>
            </a:pPr>
            <a:r>
              <a:rPr lang="en-US" sz="1400"/>
              <a:t>Fundamental analysis evaluates a company's financial health by examining its financial statements and growth potential, informing investment decisions.</a:t>
            </a:r>
          </a:p>
          <a:p>
            <a:pPr marL="0" indent="0">
              <a:spcBef>
                <a:spcPts val="2500"/>
              </a:spcBef>
              <a:buNone/>
            </a:pPr>
            <a:r>
              <a:rPr lang="en-US" sz="1400" b="1"/>
              <a:t>Technical Analysis</a:t>
            </a:r>
          </a:p>
          <a:p>
            <a:pPr marL="0" lvl="1" indent="0">
              <a:buNone/>
            </a:pPr>
            <a:r>
              <a:rPr lang="en-US" sz="1400"/>
              <a:t>Technical analysis focuses on price patterns and market trends, using historical data to predict future price movements in the stock market.</a:t>
            </a:r>
          </a:p>
        </p:txBody>
      </p:sp>
    </p:spTree>
    <p:extLst>
      <p:ext uri="{BB962C8B-B14F-4D97-AF65-F5344CB8AC3E}">
        <p14:creationId xmlns:p14="http://schemas.microsoft.com/office/powerpoint/2010/main" val="661245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857EA5-51C0-1F5F-8836-97D628952DBF}"/>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Risk Management and Diversification</a:t>
            </a:r>
          </a:p>
        </p:txBody>
      </p:sp>
      <p:sp>
        <p:nvSpPr>
          <p:cNvPr id="4" name="Content Placeholder 3">
            <a:extLst>
              <a:ext uri="{FF2B5EF4-FFF2-40B4-BE49-F238E27FC236}">
                <a16:creationId xmlns:a16="http://schemas.microsoft.com/office/drawing/2014/main" id="{31C2677E-9A91-4C0F-0176-C95BEC1D292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Clear Investment Goals</a:t>
            </a:r>
          </a:p>
          <a:p>
            <a:pPr marL="0" lvl="1" indent="0">
              <a:buNone/>
            </a:pPr>
            <a:r>
              <a:rPr lang="en-US" sz="1400"/>
              <a:t>Setting clear investment goals is crucial for effective risk management, helping to align strategies with desired outcomes.</a:t>
            </a:r>
          </a:p>
          <a:p>
            <a:pPr marL="0" indent="0">
              <a:spcBef>
                <a:spcPts val="2500"/>
              </a:spcBef>
              <a:buNone/>
            </a:pPr>
            <a:r>
              <a:rPr lang="en-US" sz="1400" b="1"/>
              <a:t>Stop-Loss Orders</a:t>
            </a:r>
          </a:p>
          <a:p>
            <a:pPr marL="0" lvl="1" indent="0">
              <a:buNone/>
            </a:pPr>
            <a:r>
              <a:rPr lang="en-US" sz="1400"/>
              <a:t>Using stop-loss orders can help mitigate losses by automatically selling an asset when it reaches a certain price.</a:t>
            </a:r>
          </a:p>
          <a:p>
            <a:pPr marL="0" indent="0">
              <a:spcBef>
                <a:spcPts val="2500"/>
              </a:spcBef>
              <a:buNone/>
            </a:pPr>
            <a:r>
              <a:rPr lang="en-US" sz="1400" b="1"/>
              <a:t>Portfolio Diversification</a:t>
            </a:r>
          </a:p>
          <a:p>
            <a:pPr marL="0" lvl="1" indent="0">
              <a:buNone/>
            </a:pPr>
            <a:r>
              <a:rPr lang="en-US" sz="1400"/>
              <a:t>Diversifying portfolios minimizes exposure to any single investment's risks, spreading the risk across various assets.</a:t>
            </a:r>
          </a:p>
        </p:txBody>
      </p:sp>
      <p:pic>
        <p:nvPicPr>
          <p:cNvPr id="5" name="Content Placeholder 4" descr="Closeup of a pen on financial data.">
            <a:extLst>
              <a:ext uri="{FF2B5EF4-FFF2-40B4-BE49-F238E27FC236}">
                <a16:creationId xmlns:a16="http://schemas.microsoft.com/office/drawing/2014/main" id="{20299176-A645-46EB-8741-4829993A78B6}"/>
              </a:ext>
            </a:extLst>
          </p:cNvPr>
          <p:cNvPicPr>
            <a:picLocks noGrp="1" noChangeAspect="1"/>
          </p:cNvPicPr>
          <p:nvPr>
            <p:ph sz="half" idx="1"/>
          </p:nvPr>
        </p:nvPicPr>
        <p:blipFill>
          <a:blip r:embed="rId3"/>
          <a:srcRect l="44994"/>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82650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2E2823AD-05F6-5711-3EE8-181A24BFF8FA}"/>
              </a:ext>
            </a:extLst>
          </p:cNvPr>
          <p:cNvSpPr>
            <a:spLocks noGrp="1"/>
          </p:cNvSpPr>
          <p:nvPr>
            <p:ph type="ctrTitle"/>
          </p:nvPr>
        </p:nvSpPr>
        <p:spPr>
          <a:xfrm>
            <a:off x="559219" y="1115844"/>
            <a:ext cx="7680960" cy="4631911"/>
          </a:xfrm>
        </p:spPr>
        <p:txBody>
          <a:bodyPr anchor="b">
            <a:normAutofit/>
          </a:bodyPr>
          <a:lstStyle/>
          <a:p>
            <a:r>
              <a:rPr lang="en-US" sz="6500"/>
              <a:t>Case Studies of Notable Market Ups and Downs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2868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A677E7-C554-DD33-1ABE-64ABC505F046}"/>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The Great Depression and Its Aftermath</a:t>
            </a:r>
          </a:p>
        </p:txBody>
      </p:sp>
      <p:pic>
        <p:nvPicPr>
          <p:cNvPr id="5" name="Content Placeholder 4" descr="Vintage photograph of Recruiting sergeants of the British Army and new recuits, 1895, 19th Century">
            <a:extLst>
              <a:ext uri="{FF2B5EF4-FFF2-40B4-BE49-F238E27FC236}">
                <a16:creationId xmlns:a16="http://schemas.microsoft.com/office/drawing/2014/main" id="{61BBF695-6BDC-432A-B5EF-A9731F88F6EA}"/>
              </a:ext>
            </a:extLst>
          </p:cNvPr>
          <p:cNvPicPr>
            <a:picLocks noGrp="1" noChangeAspect="1"/>
          </p:cNvPicPr>
          <p:nvPr>
            <p:ph sz="half" idx="1"/>
          </p:nvPr>
        </p:nvPicPr>
        <p:blipFill>
          <a:blip r:embed="rId3"/>
          <a:srcRect l="28660" r="25966" b="-1"/>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6EF8F53B-98AE-601F-9B3B-D30CA3EB871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Economic Downturn</a:t>
            </a:r>
          </a:p>
          <a:p>
            <a:pPr marL="0" lvl="1" indent="0">
              <a:buNone/>
            </a:pPr>
            <a:r>
              <a:rPr lang="en-US" sz="1400"/>
              <a:t>The Great Depression marked a significant economic downturn, leading to severe declines in markets across the globe.</a:t>
            </a:r>
          </a:p>
          <a:p>
            <a:pPr marL="0" indent="0">
              <a:spcBef>
                <a:spcPts val="2500"/>
              </a:spcBef>
              <a:buNone/>
            </a:pPr>
            <a:r>
              <a:rPr lang="en-US" sz="1400" b="1"/>
              <a:t>Widespread Unemployment</a:t>
            </a:r>
          </a:p>
          <a:p>
            <a:pPr marL="0" lvl="1" indent="0">
              <a:buNone/>
            </a:pPr>
            <a:r>
              <a:rPr lang="en-US" sz="1400"/>
              <a:t>This period saw unprecedented levels of unemployment, affecting millions of families and communities.</a:t>
            </a:r>
          </a:p>
          <a:p>
            <a:pPr marL="0" indent="0">
              <a:spcBef>
                <a:spcPts val="2500"/>
              </a:spcBef>
              <a:buNone/>
            </a:pPr>
            <a:r>
              <a:rPr lang="en-US" sz="1400" b="1"/>
              <a:t>Regulatory Changes</a:t>
            </a:r>
          </a:p>
          <a:p>
            <a:pPr marL="0" lvl="1" indent="0">
              <a:buNone/>
            </a:pPr>
            <a:r>
              <a:rPr lang="en-US" sz="1400"/>
              <a:t>The aftermath of the Great Depression resulted in significant regulatory changes aimed at preventing future economic crises.</a:t>
            </a:r>
          </a:p>
        </p:txBody>
      </p:sp>
    </p:spTree>
    <p:extLst>
      <p:ext uri="{BB962C8B-B14F-4D97-AF65-F5344CB8AC3E}">
        <p14:creationId xmlns:p14="http://schemas.microsoft.com/office/powerpoint/2010/main" val="4106764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CC4B388C-13B6-0811-9900-594E011C38C6}"/>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The Dot-Com Bubble</a:t>
            </a:r>
          </a:p>
        </p:txBody>
      </p:sp>
      <p:pic>
        <p:nvPicPr>
          <p:cNvPr id="5" name="Content Placeholder 4" descr="Magnifying glass showing decling performance">
            <a:extLst>
              <a:ext uri="{FF2B5EF4-FFF2-40B4-BE49-F238E27FC236}">
                <a16:creationId xmlns:a16="http://schemas.microsoft.com/office/drawing/2014/main" id="{9B5AD862-EA51-4AF1-A52D-D3BE2ED9856D}"/>
              </a:ext>
            </a:extLst>
          </p:cNvPr>
          <p:cNvPicPr>
            <a:picLocks noGrp="1" noChangeAspect="1"/>
          </p:cNvPicPr>
          <p:nvPr>
            <p:ph sz="half" idx="1"/>
          </p:nvPr>
        </p:nvPicPr>
        <p:blipFill>
          <a:blip r:embed="rId3"/>
          <a:srcRect r="10499" b="1"/>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ED502C2-3B4D-FE0C-843E-8A57E46BB69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Excessive Speculation</a:t>
            </a:r>
          </a:p>
          <a:p>
            <a:pPr marL="0" lvl="1" indent="0">
              <a:buNone/>
            </a:pPr>
            <a:r>
              <a:rPr lang="en-US" sz="1400"/>
              <a:t>The late 1990s experienced rampant speculation in technology stocks, driving prices to unsustainable levels.</a:t>
            </a:r>
          </a:p>
          <a:p>
            <a:pPr marL="0" indent="0">
              <a:spcBef>
                <a:spcPts val="2500"/>
              </a:spcBef>
              <a:buNone/>
            </a:pPr>
            <a:r>
              <a:rPr lang="en-US" sz="1400" b="1"/>
              <a:t>Market Crash of 2000</a:t>
            </a:r>
          </a:p>
          <a:p>
            <a:pPr marL="0" lvl="1" indent="0">
              <a:buNone/>
            </a:pPr>
            <a:r>
              <a:rPr lang="en-US" sz="1400"/>
              <a:t>In 2000, the bubble burst, resulting in a significant market crash and substantial financial losses.</a:t>
            </a:r>
          </a:p>
          <a:p>
            <a:pPr marL="0" indent="0">
              <a:spcBef>
                <a:spcPts val="2500"/>
              </a:spcBef>
              <a:buNone/>
            </a:pPr>
            <a:r>
              <a:rPr lang="en-US" sz="1400" b="1"/>
              <a:t>Risks of Overvaluation</a:t>
            </a:r>
          </a:p>
          <a:p>
            <a:pPr marL="0" lvl="1" indent="0">
              <a:buNone/>
            </a:pPr>
            <a:r>
              <a:rPr lang="en-US" sz="1400"/>
              <a:t>The dot-com bubble serves as a cautionary tale about the dangers of overvaluing technology stocks based on speculation.</a:t>
            </a:r>
          </a:p>
          <a:p>
            <a:pPr marL="0" indent="0">
              <a:spcBef>
                <a:spcPts val="2500"/>
              </a:spcBef>
              <a:buNone/>
            </a:pPr>
            <a:r>
              <a:rPr lang="en-US" sz="1400" b="1"/>
              <a:t>Herd Behavior</a:t>
            </a:r>
          </a:p>
          <a:p>
            <a:pPr marL="0" lvl="1" indent="0">
              <a:buNone/>
            </a:pPr>
            <a:r>
              <a:rPr lang="en-US" sz="1400"/>
              <a:t>The phenomenon of herd behavior greatly contributed to the bubble as investors followed trends without thorough analysis.</a:t>
            </a:r>
          </a:p>
        </p:txBody>
      </p:sp>
    </p:spTree>
    <p:extLst>
      <p:ext uri="{BB962C8B-B14F-4D97-AF65-F5344CB8AC3E}">
        <p14:creationId xmlns:p14="http://schemas.microsoft.com/office/powerpoint/2010/main" val="40217880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2306FF-F1FC-D136-A375-E4D7EF8F4A77}"/>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The 2008 Financial Crisis and Recovery</a:t>
            </a:r>
          </a:p>
        </p:txBody>
      </p:sp>
      <p:sp>
        <p:nvSpPr>
          <p:cNvPr id="4" name="Content Placeholder 3">
            <a:extLst>
              <a:ext uri="{FF2B5EF4-FFF2-40B4-BE49-F238E27FC236}">
                <a16:creationId xmlns:a16="http://schemas.microsoft.com/office/drawing/2014/main" id="{787F2FFF-3BF1-EA7B-6776-FD94CC4783E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Triggers of the Crisis</a:t>
            </a:r>
          </a:p>
          <a:p>
            <a:pPr marL="0" lvl="1" indent="0">
              <a:buNone/>
            </a:pPr>
            <a:r>
              <a:rPr lang="en-US" sz="1400"/>
              <a:t>The crisis was primarily triggered by the collapse of the housing market coupled with the failure of mortgage-backed securities.</a:t>
            </a:r>
          </a:p>
          <a:p>
            <a:pPr marL="0" indent="0">
              <a:spcBef>
                <a:spcPts val="2500"/>
              </a:spcBef>
              <a:buNone/>
            </a:pPr>
            <a:r>
              <a:rPr lang="en-US" sz="1400" b="1"/>
              <a:t>Risk Management Lessons</a:t>
            </a:r>
          </a:p>
          <a:p>
            <a:pPr marL="0" lvl="1" indent="0">
              <a:buNone/>
            </a:pPr>
            <a:r>
              <a:rPr lang="en-US" sz="1400"/>
              <a:t>The crisis highlighted essential lessons in risk management that are crucial for preventing future financial disasters.</a:t>
            </a:r>
          </a:p>
          <a:p>
            <a:pPr marL="0" indent="0">
              <a:spcBef>
                <a:spcPts val="2500"/>
              </a:spcBef>
              <a:buNone/>
            </a:pPr>
            <a:r>
              <a:rPr lang="en-US" sz="1400" b="1"/>
              <a:t>Regulatory Oversight Importance</a:t>
            </a:r>
          </a:p>
          <a:p>
            <a:pPr marL="0" lvl="1" indent="0">
              <a:buNone/>
            </a:pPr>
            <a:r>
              <a:rPr lang="en-US" sz="1400"/>
              <a:t>The financial crisis underscored the critical need for regulatory oversight to maintain stability in financial markets.</a:t>
            </a:r>
          </a:p>
        </p:txBody>
      </p:sp>
      <p:pic>
        <p:nvPicPr>
          <p:cNvPr id="5" name="Content Placeholder 4" descr="COVID-19 impact business and economy">
            <a:extLst>
              <a:ext uri="{FF2B5EF4-FFF2-40B4-BE49-F238E27FC236}">
                <a16:creationId xmlns:a16="http://schemas.microsoft.com/office/drawing/2014/main" id="{A0DC07C1-C153-4912-BA52-50ACF78056B1}"/>
              </a:ext>
            </a:extLst>
          </p:cNvPr>
          <p:cNvPicPr>
            <a:picLocks noGrp="1" noChangeAspect="1"/>
          </p:cNvPicPr>
          <p:nvPr>
            <p:ph sz="half" idx="1"/>
          </p:nvPr>
        </p:nvPicPr>
        <p:blipFill>
          <a:blip r:embed="rId3"/>
          <a:srcRect l="1517" r="52129" b="-2"/>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57065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3E1CAA8E-4BAD-4511-CE88-4667FB04B60A}"/>
              </a:ext>
            </a:extLst>
          </p:cNvPr>
          <p:cNvSpPr>
            <a:spLocks noGrp="1"/>
          </p:cNvSpPr>
          <p:nvPr>
            <p:ph type="ctrTitle"/>
          </p:nvPr>
        </p:nvSpPr>
        <p:spPr>
          <a:xfrm>
            <a:off x="559219" y="1115844"/>
            <a:ext cx="7680960" cy="4631911"/>
          </a:xfrm>
        </p:spPr>
        <p:txBody>
          <a:bodyPr anchor="b">
            <a:normAutofit/>
          </a:bodyPr>
          <a:lstStyle/>
          <a:p>
            <a:r>
              <a:rPr lang="en-US" sz="6500"/>
              <a:t>Future Trends and Considerations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7773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19B12-8F3E-59B6-573D-B7D290BFCF18}"/>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Impact of Technology and Innovation</a:t>
            </a:r>
          </a:p>
        </p:txBody>
      </p:sp>
      <p:sp>
        <p:nvSpPr>
          <p:cNvPr id="4" name="Content Placeholder 3">
            <a:extLst>
              <a:ext uri="{FF2B5EF4-FFF2-40B4-BE49-F238E27FC236}">
                <a16:creationId xmlns:a16="http://schemas.microsoft.com/office/drawing/2014/main" id="{924DBB5D-89E1-9873-8E1D-388542C0B9C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Revolutionizing Trading</a:t>
            </a:r>
          </a:p>
          <a:p>
            <a:pPr marL="0" lvl="1" indent="0">
              <a:buNone/>
            </a:pPr>
            <a:r>
              <a:rPr lang="en-US" sz="1400"/>
              <a:t>Technological advancements are changing the way trading is conducted, making it faster and more efficient than ever.</a:t>
            </a:r>
          </a:p>
          <a:p>
            <a:pPr marL="0" indent="0">
              <a:spcBef>
                <a:spcPts val="2500"/>
              </a:spcBef>
              <a:buNone/>
            </a:pPr>
            <a:r>
              <a:rPr lang="en-US" sz="1400" b="1"/>
              <a:t>Influence of AI</a:t>
            </a:r>
          </a:p>
          <a:p>
            <a:pPr marL="0" lvl="1" indent="0">
              <a:buNone/>
            </a:pPr>
            <a:r>
              <a:rPr lang="en-US" sz="1400"/>
              <a:t>Artificial intelligence is increasingly influencing trading decisions, providing insights that were previously unattainable.</a:t>
            </a:r>
          </a:p>
          <a:p>
            <a:pPr marL="0" indent="0">
              <a:spcBef>
                <a:spcPts val="2500"/>
              </a:spcBef>
              <a:buNone/>
            </a:pPr>
            <a:r>
              <a:rPr lang="en-US" sz="1400" b="1"/>
              <a:t>Algorithmic Trading</a:t>
            </a:r>
          </a:p>
          <a:p>
            <a:pPr marL="0" lvl="1" indent="0">
              <a:buNone/>
            </a:pPr>
            <a:r>
              <a:rPr lang="en-US" sz="1400"/>
              <a:t>Algorithmic trading utilizes complex algorithms to execute trades at high speed, enhancing market efficiency.</a:t>
            </a:r>
          </a:p>
        </p:txBody>
      </p:sp>
      <p:pic>
        <p:nvPicPr>
          <p:cNvPr id="5" name="Content Placeholder 4" descr="Abstract particle graph background">
            <a:extLst>
              <a:ext uri="{FF2B5EF4-FFF2-40B4-BE49-F238E27FC236}">
                <a16:creationId xmlns:a16="http://schemas.microsoft.com/office/drawing/2014/main" id="{79AF9FB2-2067-4BEC-A38B-94C30CBE4B32}"/>
              </a:ext>
            </a:extLst>
          </p:cNvPr>
          <p:cNvPicPr>
            <a:picLocks noGrp="1" noChangeAspect="1"/>
          </p:cNvPicPr>
          <p:nvPr>
            <p:ph sz="half" idx="1"/>
          </p:nvPr>
        </p:nvPicPr>
        <p:blipFill>
          <a:blip r:embed="rId3"/>
          <a:srcRect l="27757" r="17236"/>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4093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6C8680-B236-07C0-4417-44889AFE6D06}"/>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Globalization and Market Interconnectivity</a:t>
            </a:r>
          </a:p>
        </p:txBody>
      </p:sp>
      <p:sp>
        <p:nvSpPr>
          <p:cNvPr id="4" name="Content Placeholder 3">
            <a:extLst>
              <a:ext uri="{FF2B5EF4-FFF2-40B4-BE49-F238E27FC236}">
                <a16:creationId xmlns:a16="http://schemas.microsoft.com/office/drawing/2014/main" id="{D9FFB0CA-C2D0-984F-D697-8FC514F0FAF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Impact of Global Events</a:t>
            </a:r>
          </a:p>
          <a:p>
            <a:pPr marL="0" lvl="1" indent="0">
              <a:buNone/>
            </a:pPr>
            <a:r>
              <a:rPr lang="en-US" sz="1400"/>
              <a:t>Global events like economic shifts or political changes can significantly influence local markets and economies.</a:t>
            </a:r>
          </a:p>
          <a:p>
            <a:pPr marL="0" indent="0">
              <a:spcBef>
                <a:spcPts val="2500"/>
              </a:spcBef>
              <a:buNone/>
            </a:pPr>
            <a:r>
              <a:rPr lang="en-US" sz="1400" b="1"/>
              <a:t>Investor Awareness</a:t>
            </a:r>
          </a:p>
          <a:p>
            <a:pPr marL="0" lvl="1" indent="0">
              <a:buNone/>
            </a:pPr>
            <a:r>
              <a:rPr lang="en-US" sz="1400"/>
              <a:t>Investors must stay updated on international developments to make informed decisions regarding their investments.</a:t>
            </a:r>
          </a:p>
          <a:p>
            <a:pPr marL="0" indent="0">
              <a:spcBef>
                <a:spcPts val="2500"/>
              </a:spcBef>
              <a:buNone/>
            </a:pPr>
            <a:r>
              <a:rPr lang="en-US" sz="1400" b="1"/>
              <a:t>Market Interconnectivity</a:t>
            </a:r>
          </a:p>
          <a:p>
            <a:pPr marL="0" lvl="1" indent="0">
              <a:buNone/>
            </a:pPr>
            <a:r>
              <a:rPr lang="en-US" sz="1400"/>
              <a:t>The interconnectivity of markets requires a comprehensive understanding of how global dynamics affect local investments.</a:t>
            </a:r>
          </a:p>
        </p:txBody>
      </p:sp>
      <p:pic>
        <p:nvPicPr>
          <p:cNvPr id="5" name="Content Placeholder 4" descr="Digital map with light leak background">
            <a:extLst>
              <a:ext uri="{FF2B5EF4-FFF2-40B4-BE49-F238E27FC236}">
                <a16:creationId xmlns:a16="http://schemas.microsoft.com/office/drawing/2014/main" id="{7CC4D71F-7459-4518-BEDC-AB6A7037A230}"/>
              </a:ext>
            </a:extLst>
          </p:cNvPr>
          <p:cNvPicPr>
            <a:picLocks noGrp="1" noChangeAspect="1"/>
          </p:cNvPicPr>
          <p:nvPr>
            <p:ph sz="half" idx="1"/>
          </p:nvPr>
        </p:nvPicPr>
        <p:blipFill>
          <a:blip r:embed="rId3"/>
          <a:srcRect l="26761" r="18233"/>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341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628CFB-ED06-75BF-1160-75BFBCC3BA87}"/>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Sustainable and Ethical Investing</a:t>
            </a:r>
          </a:p>
        </p:txBody>
      </p:sp>
      <p:pic>
        <p:nvPicPr>
          <p:cNvPr id="5" name="Content Placeholder 4" descr="Growing money">
            <a:extLst>
              <a:ext uri="{FF2B5EF4-FFF2-40B4-BE49-F238E27FC236}">
                <a16:creationId xmlns:a16="http://schemas.microsoft.com/office/drawing/2014/main" id="{3494588F-1704-46BA-B702-1ADE1837816E}"/>
              </a:ext>
            </a:extLst>
          </p:cNvPr>
          <p:cNvPicPr>
            <a:picLocks noGrp="1" noChangeAspect="1"/>
          </p:cNvPicPr>
          <p:nvPr>
            <p:ph sz="half" idx="1"/>
          </p:nvPr>
        </p:nvPicPr>
        <p:blipFill>
          <a:blip r:embed="rId3"/>
          <a:srcRect l="610" r="5014" b="-1"/>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BDAB11C6-4406-D5B3-1AFF-B05D2D33366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lnSpc>
                <a:spcPct val="110000"/>
              </a:lnSpc>
              <a:spcBef>
                <a:spcPts val="2500"/>
              </a:spcBef>
              <a:buNone/>
            </a:pPr>
            <a:r>
              <a:rPr lang="en-US" sz="1000" b="1"/>
              <a:t>Definition of Ethical Investing</a:t>
            </a:r>
          </a:p>
          <a:p>
            <a:pPr marL="0" lvl="1" indent="0">
              <a:lnSpc>
                <a:spcPct val="110000"/>
              </a:lnSpc>
              <a:buNone/>
            </a:pPr>
            <a:r>
              <a:rPr lang="en-US" sz="1000"/>
              <a:t>Ethical investing involves choosing companies that prioritize social responsibility, sustainability, and ethical practices in their operations.</a:t>
            </a:r>
          </a:p>
          <a:p>
            <a:pPr marL="0" indent="0">
              <a:lnSpc>
                <a:spcPct val="110000"/>
              </a:lnSpc>
              <a:spcBef>
                <a:spcPts val="2500"/>
              </a:spcBef>
              <a:buNone/>
            </a:pPr>
            <a:r>
              <a:rPr lang="en-US" sz="1000" b="1"/>
              <a:t>Growing Investor Interest</a:t>
            </a:r>
          </a:p>
          <a:p>
            <a:pPr marL="0" lvl="1" indent="0">
              <a:lnSpc>
                <a:spcPct val="110000"/>
              </a:lnSpc>
              <a:buNone/>
            </a:pPr>
            <a:r>
              <a:rPr lang="en-US" sz="1000"/>
              <a:t>The trend of sustainable investing is growing as more investors look to align their personal values with their financial choices.</a:t>
            </a:r>
          </a:p>
          <a:p>
            <a:pPr marL="0" indent="0">
              <a:lnSpc>
                <a:spcPct val="110000"/>
              </a:lnSpc>
              <a:spcBef>
                <a:spcPts val="2500"/>
              </a:spcBef>
              <a:buNone/>
            </a:pPr>
            <a:r>
              <a:rPr lang="en-US" sz="1000" b="1"/>
              <a:t>Impact on Companies</a:t>
            </a:r>
          </a:p>
          <a:p>
            <a:pPr marL="0" lvl="1" indent="0">
              <a:lnSpc>
                <a:spcPct val="110000"/>
              </a:lnSpc>
              <a:buNone/>
            </a:pPr>
            <a:r>
              <a:rPr lang="en-US" sz="1000"/>
              <a:t>Companies that adopt sustainable practices not only contribute positively to society but also enhance their market reputation and performance.</a:t>
            </a:r>
          </a:p>
        </p:txBody>
      </p:sp>
    </p:spTree>
    <p:extLst>
      <p:ext uri="{BB962C8B-B14F-4D97-AF65-F5344CB8AC3E}">
        <p14:creationId xmlns:p14="http://schemas.microsoft.com/office/powerpoint/2010/main" val="1160609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2C72D8AB-54AB-BC5F-DAE5-E628D01D8003}"/>
              </a:ext>
            </a:extLst>
          </p:cNvPr>
          <p:cNvSpPr>
            <a:spLocks noGrp="1"/>
          </p:cNvSpPr>
          <p:nvPr>
            <p:ph type="title"/>
          </p:nvPr>
        </p:nvSpPr>
        <p:spPr>
          <a:xfrm>
            <a:off x="640079" y="1572768"/>
            <a:ext cx="8162176" cy="1406993"/>
          </a:xfrm>
        </p:spPr>
        <p:txBody>
          <a:bodyPr anchor="b">
            <a:normAutofit/>
          </a:bodyPr>
          <a:lstStyle/>
          <a:p>
            <a:r>
              <a:rPr lang="en-US" sz="6000"/>
              <a:t>Conclusion</a:t>
            </a:r>
          </a:p>
        </p:txBody>
      </p:sp>
      <p:cxnSp>
        <p:nvCxnSpPr>
          <p:cNvPr id="10" name="Straight Connector 9">
            <a:extLst>
              <a:ext uri="{FF2B5EF4-FFF2-40B4-BE49-F238E27FC236}">
                <a16:creationId xmlns:a16="http://schemas.microsoft.com/office/drawing/2014/main" id="{F21FC8CC-145C-8745-889B-6521F9CCB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3256965"/>
            <a:ext cx="978862" cy="0"/>
          </a:xfrm>
          <a:prstGeom prst="line">
            <a:avLst/>
          </a:prstGeom>
          <a:ln w="57150"/>
        </p:spPr>
        <p:style>
          <a:lnRef idx="1">
            <a:schemeClr val="accent1"/>
          </a:lnRef>
          <a:fillRef idx="0">
            <a:schemeClr val="accent1"/>
          </a:fillRef>
          <a:effectRef idx="0">
            <a:schemeClr val="accent1"/>
          </a:effectRef>
          <a:fontRef idx="minor">
            <a:schemeClr val="tx1"/>
          </a:fontRef>
        </p:style>
      </p:cxnSp>
      <p:graphicFrame>
        <p:nvGraphicFramePr>
          <p:cNvPr id="11" name="Content Placeholder 2">
            <a:extLst>
              <a:ext uri="{FF2B5EF4-FFF2-40B4-BE49-F238E27FC236}">
                <a16:creationId xmlns:a16="http://schemas.microsoft.com/office/drawing/2014/main" id="{C91CCB8A-B370-F0A6-21CD-B172CE2DE2FB}"/>
              </a:ext>
            </a:extLst>
          </p:cNvPr>
          <p:cNvGraphicFramePr>
            <a:graphicFrameLocks noGrp="1"/>
          </p:cNvGraphicFramePr>
          <p:nvPr>
            <p:ph idx="1"/>
            <p:extLst>
              <p:ext uri="{D42A27DB-BD31-4B8C-83A1-F6EECF244321}">
                <p14:modId xmlns:p14="http://schemas.microsoft.com/office/powerpoint/2010/main" val="1255429109"/>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2051681"/>
      </p:ext>
    </p:extLst>
  </p:cSld>
  <p:clrMapOvr>
    <a:masterClrMapping/>
  </p:clrMapOvr>
  <p:transition>
    <p:fade/>
  </p:transition>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2296</Words>
  <Application>Microsoft Macintosh PowerPoint</Application>
  <PresentationFormat>Widescreen</PresentationFormat>
  <Paragraphs>204</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Grandview Display</vt:lpstr>
      <vt:lpstr>DashVTI</vt:lpstr>
      <vt:lpstr>The Ups and Downs of Investing in the Stock Market: A Comprehensive Guide</vt:lpstr>
      <vt:lpstr>Outline of Topics</vt:lpstr>
      <vt:lpstr>Introduction to the Stock Market</vt:lpstr>
      <vt:lpstr>What Is the Stock Market?</vt:lpstr>
      <vt:lpstr>History and Evolution of Stock Markets</vt:lpstr>
      <vt:lpstr>Key Players and Components</vt:lpstr>
      <vt:lpstr>Benefits of Investing in the Stock Market</vt:lpstr>
      <vt:lpstr>Potential for High Returns</vt:lpstr>
      <vt:lpstr>Liquidity and Accessibility</vt:lpstr>
      <vt:lpstr>Portfolio Diversification</vt:lpstr>
      <vt:lpstr>Risks and Challenges of Stock Market Investing</vt:lpstr>
      <vt:lpstr>Market Volatility</vt:lpstr>
      <vt:lpstr>Economic and Political Influences</vt:lpstr>
      <vt:lpstr>Emotional and Psychological Factors</vt:lpstr>
      <vt:lpstr>Strategies for Successful Investing</vt:lpstr>
      <vt:lpstr>Long-Term Vs. Short-Term Investing</vt:lpstr>
      <vt:lpstr>Fundamental and Technical Analysis</vt:lpstr>
      <vt:lpstr>Risk Management and Diversification</vt:lpstr>
      <vt:lpstr>Case Studies of Notable Market Ups and Downs</vt:lpstr>
      <vt:lpstr>The Great Depression and Its Aftermath</vt:lpstr>
      <vt:lpstr>The Dot-Com Bubble</vt:lpstr>
      <vt:lpstr>The 2008 Financial Crisis and Recovery</vt:lpstr>
      <vt:lpstr>Future Trends and Considerations</vt:lpstr>
      <vt:lpstr>Impact of Technology and Innovation</vt:lpstr>
      <vt:lpstr>Globalization and Market Interconnectivity</vt:lpstr>
      <vt:lpstr>Sustainable and Ethical Investing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Surjit Das</dc:creator>
  <cp:lastModifiedBy>Surjit Das</cp:lastModifiedBy>
  <cp:revision>1</cp:revision>
  <dcterms:created xsi:type="dcterms:W3CDTF">2025-04-19T13:38:39Z</dcterms:created>
  <dcterms:modified xsi:type="dcterms:W3CDTF">2025-04-19T13:42:05Z</dcterms:modified>
</cp:coreProperties>
</file>