
<file path=[Content_Types].xml><?xml version="1.0" encoding="utf-8"?>
<Types xmlns="http://schemas.openxmlformats.org/package/2006/content-types"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0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64" d="100"/>
          <a:sy n="164" d="100"/>
        </p:scale>
        <p:origin x="568" y="16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_rels/chart2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GB"/>
  <c:roundedCorners val="1"/>
  <c:style val="2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Budget</c:v>
                </c:pt>
              </c:strCache>
            </c:strRef>
          </c:tx>
          <c:spPr>
            <a:solidFill>
              <a:srgbClr val="CBD5E1"/>
            </a:solidFill>
            <a:effectLst/>
          </c:spPr>
          <c:invertIfNegative val="0"/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800" b="0" i="0" u="none" strike="noStrike">
                    <a:solidFill>
                      <a:srgbClr val="1E293B"/>
                    </a:solidFill>
                    <a:latin typeface="Arial"/>
                  </a:defRPr>
                </a:pPr>
                <a:endParaRPr lang="en-US"/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Sheet1!$A$2:$A$7</c:f>
              <c:strCache>
                <c:ptCount val="6"/>
                <c:pt idx="0">
                  <c:v>Data Pipelines</c:v>
                </c:pt>
                <c:pt idx="1">
                  <c:v>Cloud Infra</c:v>
                </c:pt>
                <c:pt idx="2">
                  <c:v>Data Governance</c:v>
                </c:pt>
                <c:pt idx="3">
                  <c:v>Analytics</c:v>
                </c:pt>
                <c:pt idx="4">
                  <c:v>Security</c:v>
                </c:pt>
                <c:pt idx="5">
                  <c:v>Change Mgmt</c:v>
                </c:pt>
              </c:strCache>
            </c: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1800</c:v>
                </c:pt>
                <c:pt idx="1">
                  <c:v>2100</c:v>
                </c:pt>
                <c:pt idx="2">
                  <c:v>900</c:v>
                </c:pt>
                <c:pt idx="3">
                  <c:v>1200</c:v>
                </c:pt>
                <c:pt idx="4">
                  <c:v>650</c:v>
                </c:pt>
                <c:pt idx="5">
                  <c:v>550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E2B9-4041-875F-D83394CE88FE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Actual / Forecast</c:v>
                </c:pt>
              </c:strCache>
            </c:strRef>
          </c:tx>
          <c:spPr>
            <a:solidFill>
              <a:srgbClr val="0D9488"/>
            </a:solidFill>
            <a:effectLst/>
          </c:spPr>
          <c:invertIfNegative val="0"/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800" b="0" i="0" u="none" strike="noStrike">
                    <a:solidFill>
                      <a:srgbClr val="1E293B"/>
                    </a:solidFill>
                    <a:latin typeface="Arial"/>
                  </a:defRPr>
                </a:pPr>
                <a:endParaRPr lang="en-US"/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Sheet1!$A$2:$A$7</c:f>
              <c:strCache>
                <c:ptCount val="6"/>
                <c:pt idx="0">
                  <c:v>Data Pipelines</c:v>
                </c:pt>
                <c:pt idx="1">
                  <c:v>Cloud Infra</c:v>
                </c:pt>
                <c:pt idx="2">
                  <c:v>Data Governance</c:v>
                </c:pt>
                <c:pt idx="3">
                  <c:v>Analytics</c:v>
                </c:pt>
                <c:pt idx="4">
                  <c:v>Security</c:v>
                </c:pt>
                <c:pt idx="5">
                  <c:v>Change Mgmt</c:v>
                </c:pt>
              </c:strCache>
            </c:strRef>
          </c:cat>
          <c:val>
            <c:numRef>
              <c:f>Sheet1!$C$2:$C$7</c:f>
              <c:numCache>
                <c:formatCode>General</c:formatCode>
                <c:ptCount val="6"/>
                <c:pt idx="0">
                  <c:v>1420</c:v>
                </c:pt>
                <c:pt idx="1">
                  <c:v>1310</c:v>
                </c:pt>
                <c:pt idx="2">
                  <c:v>390</c:v>
                </c:pt>
                <c:pt idx="3">
                  <c:v>870</c:v>
                </c:pt>
                <c:pt idx="4">
                  <c:v>250</c:v>
                </c:pt>
                <c:pt idx="5">
                  <c:v>180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E2B9-4041-875F-D83394CE88FE}"/>
            </c:ext>
          </c:extLst>
        </c:ser>
        <c:dLbls>
          <c:dLblPos val="ctr"/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b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900"/>
          </a:pPr>
          <a:endParaRPr lang="en-US"/>
        </a:p>
      </c:txPr>
    </c:legend>
    <c:plotVisOnly val="1"/>
    <c:dispBlanksAs val="span"/>
    <c:showDLblsOverMax val="1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GB"/>
  <c:roundedCorners val="1"/>
  <c:style val="2"/>
  <c:chart>
    <c:autoTitleDeleted val="1"/>
    <c:plotArea>
      <c:layout/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Planned Cumulative</c:v>
                </c:pt>
              </c:strCache>
            </c:strRef>
          </c:tx>
          <c:spPr>
            <a:ln w="25400" cap="flat">
              <a:solidFill>
                <a:srgbClr val="CBD5E1"/>
              </a:solidFill>
              <a:prstDash val="solid"/>
              <a:round/>
            </a:ln>
            <a:effectLst/>
          </c:spPr>
          <c:marker>
            <c:symbol val="circle"/>
            <c:size val="6"/>
            <c:spPr>
              <a:solidFill>
                <a:srgbClr val="CBD5E1"/>
              </a:solidFill>
              <a:ln w="9525" cap="flat">
                <a:solidFill>
                  <a:srgbClr val="CBD5E1"/>
                </a:solidFill>
                <a:prstDash val="solid"/>
                <a:round/>
              </a:ln>
              <a:effectLst/>
            </c:spPr>
          </c:marker>
          <c:cat>
            <c:strRef>
              <c:f>Sheet1!$A$2:$A$7</c:f>
              <c:strCache>
                <c:ptCount val="6"/>
                <c:pt idx="0">
                  <c:v>Oct</c:v>
                </c:pt>
                <c:pt idx="1">
                  <c:v>Nov</c:v>
                </c:pt>
                <c:pt idx="2">
                  <c:v>Dec</c:v>
                </c:pt>
                <c:pt idx="3">
                  <c:v>Jan</c:v>
                </c:pt>
                <c:pt idx="4">
                  <c:v>Feb</c:v>
                </c:pt>
                <c:pt idx="5">
                  <c:v>Mar</c:v>
                </c:pt>
              </c:strCache>
            </c: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580</c:v>
                </c:pt>
                <c:pt idx="1">
                  <c:v>1250</c:v>
                </c:pt>
                <c:pt idx="2">
                  <c:v>2100</c:v>
                </c:pt>
                <c:pt idx="3">
                  <c:v>3050</c:v>
                </c:pt>
                <c:pt idx="4">
                  <c:v>4100</c:v>
                </c:pt>
                <c:pt idx="5">
                  <c:v>5200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1AFB-FD4E-9948-F0C90D62D98A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Actual Cumulative</c:v>
                </c:pt>
              </c:strCache>
            </c:strRef>
          </c:tx>
          <c:spPr>
            <a:ln w="25400" cap="flat">
              <a:solidFill>
                <a:srgbClr val="0D9488"/>
              </a:solidFill>
              <a:prstDash val="solid"/>
              <a:round/>
            </a:ln>
            <a:effectLst/>
          </c:spPr>
          <c:marker>
            <c:symbol val="circle"/>
            <c:size val="6"/>
            <c:spPr>
              <a:solidFill>
                <a:srgbClr val="0D9488"/>
              </a:solidFill>
              <a:ln w="9525" cap="flat">
                <a:solidFill>
                  <a:srgbClr val="0D9488"/>
                </a:solidFill>
                <a:prstDash val="solid"/>
                <a:round/>
              </a:ln>
              <a:effectLst/>
            </c:spPr>
          </c:marker>
          <c:cat>
            <c:strRef>
              <c:f>Sheet1!$A$2:$A$7</c:f>
              <c:strCache>
                <c:ptCount val="6"/>
                <c:pt idx="0">
                  <c:v>Oct</c:v>
                </c:pt>
                <c:pt idx="1">
                  <c:v>Nov</c:v>
                </c:pt>
                <c:pt idx="2">
                  <c:v>Dec</c:v>
                </c:pt>
                <c:pt idx="3">
                  <c:v>Jan</c:v>
                </c:pt>
                <c:pt idx="4">
                  <c:v>Feb</c:v>
                </c:pt>
                <c:pt idx="5">
                  <c:v>Mar</c:v>
                </c:pt>
              </c:strCache>
            </c:strRef>
          </c:cat>
          <c:val>
            <c:numRef>
              <c:f>Sheet1!$C$2:$C$7</c:f>
              <c:numCache>
                <c:formatCode>General</c:formatCode>
                <c:ptCount val="6"/>
                <c:pt idx="0">
                  <c:v>460</c:v>
                </c:pt>
                <c:pt idx="1">
                  <c:v>1100</c:v>
                </c:pt>
                <c:pt idx="2">
                  <c:v>1890</c:v>
                </c:pt>
                <c:pt idx="3">
                  <c:v>2750</c:v>
                </c:pt>
                <c:pt idx="4">
                  <c:v>3600</c:v>
                </c:pt>
                <c:pt idx="5">
                  <c:v>4800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1-1AFB-FD4E-9948-F0C90D62D98A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2094734554"/>
        <c:axId val="2094734552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900"/>
          </a:pPr>
          <a:endParaRPr lang="en-US"/>
        </a:p>
      </c:txPr>
    </c:legend>
    <c:plotVisOnly val="1"/>
    <c:dispBlanksAs val="span"/>
    <c:showDLblsOverMax val="1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37934446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4" Type="http://schemas.openxmlformats.org/officeDocument/2006/relationships/chart" Target="../charts/char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C2B5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D948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7498080" y="0"/>
            <a:ext cx="1645920" cy="1645920"/>
          </a:xfrm>
          <a:prstGeom prst="rect">
            <a:avLst/>
          </a:prstGeom>
          <a:solidFill>
            <a:srgbClr val="24367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8046720" y="0"/>
            <a:ext cx="1097280" cy="1097280"/>
          </a:xfrm>
          <a:prstGeom prst="rect">
            <a:avLst/>
          </a:prstGeom>
          <a:solidFill>
            <a:srgbClr val="0D9488">
              <a:alpha val="3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457200" y="91440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800" b="1" kern="0" spc="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MERIDIAN</a:t>
            </a:r>
            <a:endParaRPr lang="en-US" sz="3800" dirty="0"/>
          </a:p>
        </p:txBody>
      </p:sp>
      <p:sp>
        <p:nvSpPr>
          <p:cNvPr id="6" name="Text 4"/>
          <p:cNvSpPr/>
          <p:nvPr/>
        </p:nvSpPr>
        <p:spPr>
          <a:xfrm>
            <a:off x="457200" y="160020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dirty="0">
                <a:solidFill>
                  <a:srgbClr val="CADCFC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Enterprise Data Platform Transformation</a:t>
            </a:r>
            <a:endParaRPr lang="en-US" sz="2200" dirty="0"/>
          </a:p>
        </p:txBody>
      </p:sp>
      <p:sp>
        <p:nvSpPr>
          <p:cNvPr id="7" name="Shape 5"/>
          <p:cNvSpPr/>
          <p:nvPr/>
        </p:nvSpPr>
        <p:spPr>
          <a:xfrm>
            <a:off x="457200" y="2176272"/>
            <a:ext cx="4114800" cy="36576"/>
          </a:xfrm>
          <a:prstGeom prst="rect">
            <a:avLst/>
          </a:prstGeom>
          <a:solidFill>
            <a:srgbClr val="0D948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457200" y="2331720"/>
            <a:ext cx="6400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Executive Governance Review  ·  Q1 2025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457200" y="3063240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Programme Sponsor:  </a:t>
            </a:r>
            <a:r>
              <a:rPr lang="en-US" sz="12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Sarah Whitfield, Chief Data Officer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457200" y="3410712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Delivery Partner:  </a:t>
            </a:r>
            <a:r>
              <a:rPr lang="en-US" sz="12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Apex Consulting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457200" y="3758184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Client:  </a:t>
            </a:r>
            <a:r>
              <a:rPr lang="en-US" sz="12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NovaTech Solutions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457200" y="4105656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Review Date:  </a:t>
            </a:r>
            <a:r>
              <a:rPr lang="en-US" sz="12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24 January 2025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457200" y="4663440"/>
            <a:ext cx="2011680" cy="256032"/>
          </a:xfrm>
          <a:prstGeom prst="rect">
            <a:avLst/>
          </a:prstGeom>
          <a:solidFill>
            <a:srgbClr val="0D948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457200" y="4663440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</a:rPr>
              <a:t>STRICTLY CONFIDENTIAL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2743200" y="4709160"/>
            <a:ext cx="6126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NovaTech Solutions &amp; Apex Consulting  |  © 2025 Apex Consulting</a:t>
            </a:r>
            <a:endParaRPr lang="en-US" sz="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94360"/>
          </a:xfrm>
          <a:prstGeom prst="rect">
            <a:avLst/>
          </a:prstGeom>
          <a:solidFill>
            <a:srgbClr val="1C2B5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274320" y="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100" dirty="0">
                <a:solidFill>
                  <a:srgbClr val="FFFFFF"/>
                </a:solidFill>
              </a:rPr>
              <a:t>EXECUTIVE SUMMARY  ·  PROGRAMME HEALTH DASHBOARD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7132320" y="109728"/>
            <a:ext cx="1737360" cy="365760"/>
          </a:xfrm>
          <a:prstGeom prst="rect">
            <a:avLst/>
          </a:prstGeom>
          <a:solidFill>
            <a:srgbClr val="D9770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7132320" y="109728"/>
            <a:ext cx="1737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● OVERALL: AT RISK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228600" y="731520"/>
            <a:ext cx="2057400" cy="123444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228600" y="731520"/>
            <a:ext cx="2057400" cy="64008"/>
          </a:xfrm>
          <a:prstGeom prst="rect">
            <a:avLst/>
          </a:prstGeom>
          <a:solidFill>
            <a:srgbClr val="D9770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338328" y="822960"/>
            <a:ext cx="1828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62%</a:t>
            </a:r>
            <a:endParaRPr lang="en-US" sz="3000" dirty="0"/>
          </a:p>
        </p:txBody>
      </p:sp>
      <p:sp>
        <p:nvSpPr>
          <p:cNvPr id="9" name="Text 7"/>
          <p:cNvSpPr/>
          <p:nvPr/>
        </p:nvSpPr>
        <p:spPr>
          <a:xfrm>
            <a:off x="338328" y="1389888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E293B"/>
                </a:solidFill>
              </a:rPr>
              <a:t>Programme Progress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338328" y="1664208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</a:rPr>
              <a:t>vs 68% planned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2423160" y="731520"/>
            <a:ext cx="2057400" cy="123444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2" name="Shape 10"/>
          <p:cNvSpPr/>
          <p:nvPr/>
        </p:nvSpPr>
        <p:spPr>
          <a:xfrm>
            <a:off x="2423160" y="731520"/>
            <a:ext cx="2057400" cy="64008"/>
          </a:xfrm>
          <a:prstGeom prst="rect">
            <a:avLst/>
          </a:prstGeom>
          <a:solidFill>
            <a:srgbClr val="16A34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2532888" y="822960"/>
            <a:ext cx="1828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£4.1M</a:t>
            </a:r>
            <a:endParaRPr lang="en-US" sz="3000" dirty="0"/>
          </a:p>
        </p:txBody>
      </p:sp>
      <p:sp>
        <p:nvSpPr>
          <p:cNvPr id="14" name="Text 12"/>
          <p:cNvSpPr/>
          <p:nvPr/>
        </p:nvSpPr>
        <p:spPr>
          <a:xfrm>
            <a:off x="2532888" y="1389888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E293B"/>
                </a:solidFill>
              </a:rPr>
              <a:t>Budget Utilised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2532888" y="1664208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</a:rPr>
              <a:t>of £7.2M total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4617720" y="731520"/>
            <a:ext cx="2057400" cy="123444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7" name="Shape 15"/>
          <p:cNvSpPr/>
          <p:nvPr/>
        </p:nvSpPr>
        <p:spPr>
          <a:xfrm>
            <a:off x="4617720" y="731520"/>
            <a:ext cx="2057400" cy="64008"/>
          </a:xfrm>
          <a:prstGeom prst="rect">
            <a:avLst/>
          </a:prstGeom>
          <a:solidFill>
            <a:srgbClr val="DC262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4727448" y="822960"/>
            <a:ext cx="1828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3000" dirty="0"/>
          </a:p>
        </p:txBody>
      </p:sp>
      <p:sp>
        <p:nvSpPr>
          <p:cNvPr id="19" name="Text 17"/>
          <p:cNvSpPr/>
          <p:nvPr/>
        </p:nvSpPr>
        <p:spPr>
          <a:xfrm>
            <a:off x="4727448" y="1389888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E293B"/>
                </a:solidFill>
              </a:rPr>
              <a:t>Open Issues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4727448" y="1664208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</a:rPr>
              <a:t>3 critical</a:t>
            </a:r>
            <a:endParaRPr lang="en-US" sz="900" dirty="0"/>
          </a:p>
        </p:txBody>
      </p:sp>
      <p:sp>
        <p:nvSpPr>
          <p:cNvPr id="21" name="Shape 19"/>
          <p:cNvSpPr/>
          <p:nvPr/>
        </p:nvSpPr>
        <p:spPr>
          <a:xfrm>
            <a:off x="6812280" y="731520"/>
            <a:ext cx="2057400" cy="123444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2" name="Shape 20"/>
          <p:cNvSpPr/>
          <p:nvPr/>
        </p:nvSpPr>
        <p:spPr>
          <a:xfrm>
            <a:off x="6812280" y="731520"/>
            <a:ext cx="2057400" cy="64008"/>
          </a:xfrm>
          <a:prstGeom prst="rect">
            <a:avLst/>
          </a:prstGeom>
          <a:solidFill>
            <a:srgbClr val="16A34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3" name="Text 21"/>
          <p:cNvSpPr/>
          <p:nvPr/>
        </p:nvSpPr>
        <p:spPr>
          <a:xfrm>
            <a:off x="6922008" y="822960"/>
            <a:ext cx="1828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 / 18</a:t>
            </a:r>
            <a:endParaRPr lang="en-US" sz="3000" dirty="0"/>
          </a:p>
        </p:txBody>
      </p:sp>
      <p:sp>
        <p:nvSpPr>
          <p:cNvPr id="24" name="Text 22"/>
          <p:cNvSpPr/>
          <p:nvPr/>
        </p:nvSpPr>
        <p:spPr>
          <a:xfrm>
            <a:off x="6922008" y="1389888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E293B"/>
                </a:solidFill>
              </a:rPr>
              <a:t>Milestones Achieved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6922008" y="1664208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</a:rPr>
              <a:t>this quarter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228600" y="210312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100" dirty="0">
                <a:solidFill>
                  <a:srgbClr val="1C2B5E"/>
                </a:solidFill>
              </a:rPr>
              <a:t>WORKSTREAM STATUS AT A GLANCE</a:t>
            </a:r>
            <a:endParaRPr lang="en-US" sz="1000" dirty="0"/>
          </a:p>
        </p:txBody>
      </p:sp>
      <p:graphicFrame>
        <p:nvGraphicFramePr>
          <p:cNvPr id="2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228600" y="2423160"/>
          <a:ext cx="8595360" cy="2468880"/>
        </p:xfrm>
        <a:graphic>
          <a:graphicData uri="http://schemas.openxmlformats.org/drawingml/2006/table">
            <a:tbl>
              <a:tblPr/>
              <a:tblGrid>
                <a:gridCol w="2286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2801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400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6858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301752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347472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Workstream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2B5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Lead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2B5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RAG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2B5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Progress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2B5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Key Concern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2B5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47472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Data Ingestion &amp; Pipelines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A. Thornton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ON TRACK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A34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78%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On schedule; UAT in Feb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47472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Cloud Infrastructure (AWS)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D. Okafor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AT RISK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770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55%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Env. provisioning delayed 2wks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47472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Data Governance &amp; Quality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P. Navarro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AT RISK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770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48%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Policy sign-off pending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47472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Analytics &amp; Reporting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L. Yamamoto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ON TRACK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A34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71%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Phase 1 dashboards delivered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47472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Security &amp; Compliance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R. Mbeki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OFF TRACK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262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32%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IAM framework gaps — critical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47472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Change &amp; Training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C. Harrington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AT RISK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770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40%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Stakeholder engagement low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28" name="Shape 25"/>
          <p:cNvSpPr/>
          <p:nvPr/>
        </p:nvSpPr>
        <p:spPr>
          <a:xfrm>
            <a:off x="0" y="4919472"/>
            <a:ext cx="9144000" cy="224028"/>
          </a:xfrm>
          <a:prstGeom prst="rect">
            <a:avLst/>
          </a:prstGeom>
          <a:solidFill>
            <a:srgbClr val="1C2B5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9" name="Text 26"/>
          <p:cNvSpPr/>
          <p:nvPr/>
        </p:nvSpPr>
        <p:spPr>
          <a:xfrm>
            <a:off x="274320" y="4919472"/>
            <a:ext cx="8595360" cy="2240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CADCFC"/>
                </a:solidFill>
              </a:rPr>
              <a:t>NovaTech Solutions &amp; Apex Consulting  ·  Strictly Confidential  ·  Q1 2025  ·  Slide 2</a:t>
            </a:r>
            <a:endParaRPr lang="en-US" sz="7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94360"/>
          </a:xfrm>
          <a:prstGeom prst="rect">
            <a:avLst/>
          </a:prstGeom>
          <a:solidFill>
            <a:srgbClr val="1C2B5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274320" y="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100" dirty="0">
                <a:solidFill>
                  <a:srgbClr val="FFFFFF"/>
                </a:solidFill>
              </a:rPr>
              <a:t>PROGRAMME MILESTONES  ·  Q4 2024 – Q3 2025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365760" y="1664208"/>
            <a:ext cx="8412480" cy="54864"/>
          </a:xfrm>
          <a:prstGeom prst="rect">
            <a:avLst/>
          </a:prstGeom>
          <a:solidFill>
            <a:srgbClr val="CBD5E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384048" y="1618488"/>
            <a:ext cx="146304" cy="146304"/>
          </a:xfrm>
          <a:prstGeom prst="ellipse">
            <a:avLst/>
          </a:prstGeom>
          <a:solidFill>
            <a:srgbClr val="0D9488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457200" y="1133856"/>
            <a:ext cx="0" cy="502920"/>
          </a:xfrm>
          <a:prstGeom prst="line">
            <a:avLst/>
          </a:prstGeom>
          <a:noFill/>
          <a:ln w="1905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-45720" y="612648"/>
            <a:ext cx="1005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Kickoff</a:t>
            </a:r>
            <a:endParaRPr lang="en-US" sz="900" dirty="0"/>
          </a:p>
          <a:p>
            <a:pPr marL="0" indent="0" algn="ctr">
              <a:buNone/>
            </a:pPr>
            <a:r>
              <a:rPr lang="en-US" sz="9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&amp; Discovery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45720" y="512064"/>
            <a:ext cx="8229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0D9488"/>
                </a:solidFill>
              </a:rPr>
              <a:t>Oct '24</a:t>
            </a:r>
            <a:endParaRPr lang="en-US" sz="800" dirty="0"/>
          </a:p>
        </p:txBody>
      </p:sp>
      <p:sp>
        <p:nvSpPr>
          <p:cNvPr id="9" name="Shape 7"/>
          <p:cNvSpPr/>
          <p:nvPr/>
        </p:nvSpPr>
        <p:spPr>
          <a:xfrm>
            <a:off x="1618488" y="1618488"/>
            <a:ext cx="146304" cy="146304"/>
          </a:xfrm>
          <a:prstGeom prst="ellipse">
            <a:avLst/>
          </a:prstGeom>
          <a:solidFill>
            <a:srgbClr val="0D9488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Shape 8"/>
          <p:cNvSpPr/>
          <p:nvPr/>
        </p:nvSpPr>
        <p:spPr>
          <a:xfrm>
            <a:off x="1691640" y="1746504"/>
            <a:ext cx="0" cy="502920"/>
          </a:xfrm>
          <a:prstGeom prst="line">
            <a:avLst/>
          </a:prstGeom>
          <a:noFill/>
          <a:ln w="1905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1188720" y="2267712"/>
            <a:ext cx="1005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Infra</a:t>
            </a:r>
            <a:endParaRPr lang="en-US" sz="900" dirty="0"/>
          </a:p>
          <a:p>
            <a:pPr marL="0" indent="0" algn="ctr">
              <a:buNone/>
            </a:pPr>
            <a:r>
              <a:rPr lang="en-US" sz="9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Blueprint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1280160" y="2761488"/>
            <a:ext cx="8229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0D9488"/>
                </a:solidFill>
              </a:rPr>
              <a:t>Nov '24</a:t>
            </a:r>
            <a:endParaRPr lang="en-US" sz="800" dirty="0"/>
          </a:p>
        </p:txBody>
      </p:sp>
      <p:sp>
        <p:nvSpPr>
          <p:cNvPr id="13" name="Shape 11"/>
          <p:cNvSpPr/>
          <p:nvPr/>
        </p:nvSpPr>
        <p:spPr>
          <a:xfrm>
            <a:off x="2852928" y="1618488"/>
            <a:ext cx="146304" cy="146304"/>
          </a:xfrm>
          <a:prstGeom prst="ellipse">
            <a:avLst/>
          </a:prstGeom>
          <a:solidFill>
            <a:srgbClr val="0D9488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Shape 12"/>
          <p:cNvSpPr/>
          <p:nvPr/>
        </p:nvSpPr>
        <p:spPr>
          <a:xfrm>
            <a:off x="2926080" y="1133856"/>
            <a:ext cx="0" cy="502920"/>
          </a:xfrm>
          <a:prstGeom prst="line">
            <a:avLst/>
          </a:prstGeom>
          <a:noFill/>
          <a:ln w="1905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2423160" y="612648"/>
            <a:ext cx="1005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Model</a:t>
            </a:r>
            <a:endParaRPr lang="en-US" sz="900" dirty="0"/>
          </a:p>
          <a:p>
            <a:pPr marL="0" indent="0" algn="ctr">
              <a:buNone/>
            </a:pPr>
            <a:r>
              <a:rPr lang="en-US" sz="9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Approval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2514600" y="512064"/>
            <a:ext cx="8229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0D9488"/>
                </a:solidFill>
              </a:rPr>
              <a:t>Dec '24</a:t>
            </a:r>
            <a:endParaRPr lang="en-US" sz="800" dirty="0"/>
          </a:p>
        </p:txBody>
      </p:sp>
      <p:sp>
        <p:nvSpPr>
          <p:cNvPr id="17" name="Shape 15"/>
          <p:cNvSpPr/>
          <p:nvPr/>
        </p:nvSpPr>
        <p:spPr>
          <a:xfrm>
            <a:off x="4059936" y="1591056"/>
            <a:ext cx="201168" cy="201168"/>
          </a:xfrm>
          <a:prstGeom prst="ellipse">
            <a:avLst/>
          </a:prstGeom>
          <a:solidFill>
            <a:srgbClr val="D97706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Shape 16"/>
          <p:cNvSpPr/>
          <p:nvPr/>
        </p:nvSpPr>
        <p:spPr>
          <a:xfrm>
            <a:off x="4160520" y="1746504"/>
            <a:ext cx="0" cy="502920"/>
          </a:xfrm>
          <a:prstGeom prst="line">
            <a:avLst/>
          </a:prstGeom>
          <a:noFill/>
          <a:ln w="19050">
            <a:solidFill>
              <a:srgbClr val="D9770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3657600" y="2267712"/>
            <a:ext cx="1005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 Sprint</a:t>
            </a:r>
            <a:endParaRPr lang="en-US" sz="900" dirty="0"/>
          </a:p>
          <a:p>
            <a:pPr marL="0" indent="0" algn="ctr">
              <a:buNone/>
            </a:pPr>
            <a:r>
              <a:rPr lang="en-US" sz="9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Complete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3749040" y="2761488"/>
            <a:ext cx="8229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D97706"/>
                </a:solidFill>
              </a:rPr>
              <a:t>Jan '25</a:t>
            </a:r>
            <a:endParaRPr lang="en-US" sz="800" dirty="0"/>
          </a:p>
        </p:txBody>
      </p:sp>
      <p:sp>
        <p:nvSpPr>
          <p:cNvPr id="21" name="Shape 19"/>
          <p:cNvSpPr/>
          <p:nvPr/>
        </p:nvSpPr>
        <p:spPr>
          <a:xfrm>
            <a:off x="5321808" y="1618488"/>
            <a:ext cx="146304" cy="146304"/>
          </a:xfrm>
          <a:prstGeom prst="ellipse">
            <a:avLst/>
          </a:prstGeom>
          <a:solidFill>
            <a:srgbClr val="CBD5E1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Shape 20"/>
          <p:cNvSpPr/>
          <p:nvPr/>
        </p:nvSpPr>
        <p:spPr>
          <a:xfrm>
            <a:off x="5394960" y="1133856"/>
            <a:ext cx="0" cy="502920"/>
          </a:xfrm>
          <a:prstGeom prst="line">
            <a:avLst/>
          </a:prstGeom>
          <a:noFill/>
          <a:ln w="1905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Text 21"/>
          <p:cNvSpPr/>
          <p:nvPr/>
        </p:nvSpPr>
        <p:spPr>
          <a:xfrm>
            <a:off x="4892040" y="612648"/>
            <a:ext cx="1005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UAT</a:t>
            </a:r>
            <a:endParaRPr lang="en-US" sz="900" dirty="0"/>
          </a:p>
          <a:p>
            <a:pPr marL="0" indent="0" algn="ctr">
              <a:buNone/>
            </a:pPr>
            <a:r>
              <a:rPr lang="en-US" sz="9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Start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4983480" y="512064"/>
            <a:ext cx="8229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CBD5E1"/>
                </a:solidFill>
              </a:rPr>
              <a:t>Feb '25</a:t>
            </a:r>
            <a:endParaRPr lang="en-US" sz="800" dirty="0"/>
          </a:p>
        </p:txBody>
      </p:sp>
      <p:sp>
        <p:nvSpPr>
          <p:cNvPr id="25" name="Shape 23"/>
          <p:cNvSpPr/>
          <p:nvPr/>
        </p:nvSpPr>
        <p:spPr>
          <a:xfrm>
            <a:off x="6556248" y="1618488"/>
            <a:ext cx="146304" cy="146304"/>
          </a:xfrm>
          <a:prstGeom prst="ellipse">
            <a:avLst/>
          </a:prstGeom>
          <a:solidFill>
            <a:srgbClr val="CBD5E1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Shape 24"/>
          <p:cNvSpPr/>
          <p:nvPr/>
        </p:nvSpPr>
        <p:spPr>
          <a:xfrm>
            <a:off x="6629400" y="1746504"/>
            <a:ext cx="0" cy="502920"/>
          </a:xfrm>
          <a:prstGeom prst="line">
            <a:avLst/>
          </a:prstGeom>
          <a:noFill/>
          <a:ln w="1905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" name="Text 25"/>
          <p:cNvSpPr/>
          <p:nvPr/>
        </p:nvSpPr>
        <p:spPr>
          <a:xfrm>
            <a:off x="6126480" y="2267712"/>
            <a:ext cx="1005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Security</a:t>
            </a:r>
            <a:endParaRPr lang="en-US" sz="900" dirty="0"/>
          </a:p>
          <a:p>
            <a:pPr marL="0" indent="0" algn="ctr">
              <a:buNone/>
            </a:pPr>
            <a:r>
              <a:rPr lang="en-US" sz="9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Signoff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6217920" y="2761488"/>
            <a:ext cx="8229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CBD5E1"/>
                </a:solidFill>
              </a:rPr>
              <a:t>Mar '25</a:t>
            </a:r>
            <a:endParaRPr lang="en-US" sz="800" dirty="0"/>
          </a:p>
        </p:txBody>
      </p:sp>
      <p:sp>
        <p:nvSpPr>
          <p:cNvPr id="29" name="Shape 27"/>
          <p:cNvSpPr/>
          <p:nvPr/>
        </p:nvSpPr>
        <p:spPr>
          <a:xfrm>
            <a:off x="7790688" y="1618488"/>
            <a:ext cx="146304" cy="146304"/>
          </a:xfrm>
          <a:prstGeom prst="ellipse">
            <a:avLst/>
          </a:prstGeom>
          <a:solidFill>
            <a:srgbClr val="CBD5E1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0" name="Shape 28"/>
          <p:cNvSpPr/>
          <p:nvPr/>
        </p:nvSpPr>
        <p:spPr>
          <a:xfrm>
            <a:off x="7863840" y="1133856"/>
            <a:ext cx="0" cy="502920"/>
          </a:xfrm>
          <a:prstGeom prst="line">
            <a:avLst/>
          </a:prstGeom>
          <a:noFill/>
          <a:ln w="1905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1" name="Text 29"/>
          <p:cNvSpPr/>
          <p:nvPr/>
        </p:nvSpPr>
        <p:spPr>
          <a:xfrm>
            <a:off x="7360920" y="612648"/>
            <a:ext cx="1005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Go-Live</a:t>
            </a:r>
            <a:endParaRPr lang="en-US" sz="900" dirty="0"/>
          </a:p>
          <a:p>
            <a:pPr marL="0" indent="0" algn="ctr">
              <a:buNone/>
            </a:pPr>
            <a:r>
              <a:rPr lang="en-US" sz="9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1</a:t>
            </a:r>
            <a:endParaRPr lang="en-US" sz="900" dirty="0"/>
          </a:p>
        </p:txBody>
      </p:sp>
      <p:sp>
        <p:nvSpPr>
          <p:cNvPr id="32" name="Text 30"/>
          <p:cNvSpPr/>
          <p:nvPr/>
        </p:nvSpPr>
        <p:spPr>
          <a:xfrm>
            <a:off x="7452360" y="512064"/>
            <a:ext cx="8229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CBD5E1"/>
                </a:solidFill>
              </a:rPr>
              <a:t>Jun '25</a:t>
            </a:r>
            <a:endParaRPr lang="en-US" sz="800" dirty="0"/>
          </a:p>
        </p:txBody>
      </p:sp>
      <p:sp>
        <p:nvSpPr>
          <p:cNvPr id="33" name="Shape 31"/>
          <p:cNvSpPr/>
          <p:nvPr/>
        </p:nvSpPr>
        <p:spPr>
          <a:xfrm>
            <a:off x="365760" y="3154680"/>
            <a:ext cx="164592" cy="164592"/>
          </a:xfrm>
          <a:prstGeom prst="ellipse">
            <a:avLst/>
          </a:prstGeom>
          <a:solidFill>
            <a:srgbClr val="0D948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4" name="Text 32"/>
          <p:cNvSpPr/>
          <p:nvPr/>
        </p:nvSpPr>
        <p:spPr>
          <a:xfrm>
            <a:off x="594360" y="3127248"/>
            <a:ext cx="1280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</a:rPr>
              <a:t>Completed</a:t>
            </a:r>
            <a:endParaRPr lang="en-US" sz="900" dirty="0"/>
          </a:p>
        </p:txBody>
      </p:sp>
      <p:sp>
        <p:nvSpPr>
          <p:cNvPr id="35" name="Shape 33"/>
          <p:cNvSpPr/>
          <p:nvPr/>
        </p:nvSpPr>
        <p:spPr>
          <a:xfrm>
            <a:off x="2011680" y="3154680"/>
            <a:ext cx="164592" cy="164592"/>
          </a:xfrm>
          <a:prstGeom prst="ellipse">
            <a:avLst/>
          </a:prstGeom>
          <a:solidFill>
            <a:srgbClr val="D9770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6" name="Text 34"/>
          <p:cNvSpPr/>
          <p:nvPr/>
        </p:nvSpPr>
        <p:spPr>
          <a:xfrm>
            <a:off x="2240280" y="3127248"/>
            <a:ext cx="1280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</a:rPr>
              <a:t>In Progress</a:t>
            </a:r>
            <a:endParaRPr lang="en-US" sz="900" dirty="0"/>
          </a:p>
        </p:txBody>
      </p:sp>
      <p:sp>
        <p:nvSpPr>
          <p:cNvPr id="37" name="Shape 35"/>
          <p:cNvSpPr/>
          <p:nvPr/>
        </p:nvSpPr>
        <p:spPr>
          <a:xfrm>
            <a:off x="3657600" y="3154680"/>
            <a:ext cx="164592" cy="164592"/>
          </a:xfrm>
          <a:prstGeom prst="ellipse">
            <a:avLst/>
          </a:prstGeom>
          <a:solidFill>
            <a:srgbClr val="CBD5E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8" name="Text 36"/>
          <p:cNvSpPr/>
          <p:nvPr/>
        </p:nvSpPr>
        <p:spPr>
          <a:xfrm>
            <a:off x="3886200" y="3127248"/>
            <a:ext cx="1280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</a:rPr>
              <a:t>Planned</a:t>
            </a:r>
            <a:endParaRPr lang="en-US" sz="900" dirty="0"/>
          </a:p>
        </p:txBody>
      </p:sp>
      <p:sp>
        <p:nvSpPr>
          <p:cNvPr id="39" name="Text 37"/>
          <p:cNvSpPr/>
          <p:nvPr/>
        </p:nvSpPr>
        <p:spPr>
          <a:xfrm>
            <a:off x="274320" y="3474720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100" dirty="0">
                <a:solidFill>
                  <a:srgbClr val="1C2B5E"/>
                </a:solidFill>
              </a:rPr>
              <a:t>KEY MILESTONE DETAIL</a:t>
            </a:r>
            <a:endParaRPr lang="en-US" sz="1000" dirty="0"/>
          </a:p>
        </p:txBody>
      </p:sp>
      <p:graphicFrame>
        <p:nvGraphicFramePr>
          <p:cNvPr id="4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274320" y="3749040"/>
          <a:ext cx="8595360" cy="1097280"/>
        </p:xfrm>
        <a:graphic>
          <a:graphicData uri="http://schemas.openxmlformats.org/drawingml/2006/table">
            <a:tbl>
              <a:tblPr/>
              <a:tblGrid>
                <a:gridCol w="29260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972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0972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256032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32004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Milestone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2B5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Due Date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2B5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Owner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2B5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Status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2B5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Comment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2B5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2004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Dev Sprint Complete (Phase 1 modules)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31 Jan 2025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A. Thornton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 PROGRESS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770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 of 5 modules complete; 2 carry into Feb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2004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Security &amp; IAM Framework Sign-off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28 Feb 2025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R. Mbeki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OFF TRACK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262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IAM gaps identified; revised plan due 10 Feb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2004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UAT Commencement — Analytics Platform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14 Feb 2025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L. Yamamoto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ON TRACK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A34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Test scripts ready; business testers confirmed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41" name="Shape 38"/>
          <p:cNvSpPr/>
          <p:nvPr/>
        </p:nvSpPr>
        <p:spPr>
          <a:xfrm>
            <a:off x="0" y="4919472"/>
            <a:ext cx="9144000" cy="224028"/>
          </a:xfrm>
          <a:prstGeom prst="rect">
            <a:avLst/>
          </a:prstGeom>
          <a:solidFill>
            <a:srgbClr val="1C2B5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2" name="Text 39"/>
          <p:cNvSpPr/>
          <p:nvPr/>
        </p:nvSpPr>
        <p:spPr>
          <a:xfrm>
            <a:off x="274320" y="4919472"/>
            <a:ext cx="8595360" cy="2240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CADCFC"/>
                </a:solidFill>
              </a:rPr>
              <a:t>NovaTech Solutions &amp; Apex Consulting  ·  Strictly Confidential  ·  Q1 2025  ·  Slide 3</a:t>
            </a:r>
            <a:endParaRPr lang="en-US" sz="7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94360"/>
          </a:xfrm>
          <a:prstGeom prst="rect">
            <a:avLst/>
          </a:prstGeom>
          <a:solidFill>
            <a:srgbClr val="1C2B5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274320" y="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100" dirty="0">
                <a:solidFill>
                  <a:srgbClr val="FFFFFF"/>
                </a:solidFill>
              </a:rPr>
              <a:t>BUDGET &amp; FINANCIAL TRACKING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182880" y="731520"/>
            <a:ext cx="2057400" cy="109728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182880" y="731520"/>
            <a:ext cx="2057400" cy="54864"/>
          </a:xfrm>
          <a:prstGeom prst="rect">
            <a:avLst/>
          </a:prstGeom>
          <a:solidFill>
            <a:srgbClr val="1C2B5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292608" y="822960"/>
            <a:ext cx="1828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C2B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£7.2M</a:t>
            </a:r>
            <a:endParaRPr lang="en-US" sz="2600" dirty="0"/>
          </a:p>
        </p:txBody>
      </p:sp>
      <p:sp>
        <p:nvSpPr>
          <p:cNvPr id="7" name="Text 5"/>
          <p:cNvSpPr/>
          <p:nvPr/>
        </p:nvSpPr>
        <p:spPr>
          <a:xfrm>
            <a:off x="292608" y="1353312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E293B"/>
                </a:solidFill>
              </a:rPr>
              <a:t>Total Budget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292608" y="1600200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</a:rPr>
              <a:t>Approved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2395728" y="731520"/>
            <a:ext cx="2057400" cy="109728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0" name="Shape 8"/>
          <p:cNvSpPr/>
          <p:nvPr/>
        </p:nvSpPr>
        <p:spPr>
          <a:xfrm>
            <a:off x="2395728" y="731520"/>
            <a:ext cx="2057400" cy="54864"/>
          </a:xfrm>
          <a:prstGeom prst="rect">
            <a:avLst/>
          </a:prstGeom>
          <a:solidFill>
            <a:srgbClr val="0D948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2505456" y="822960"/>
            <a:ext cx="1828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£4.1M</a:t>
            </a:r>
            <a:endParaRPr lang="en-US" sz="2600" dirty="0"/>
          </a:p>
        </p:txBody>
      </p:sp>
      <p:sp>
        <p:nvSpPr>
          <p:cNvPr id="12" name="Text 10"/>
          <p:cNvSpPr/>
          <p:nvPr/>
        </p:nvSpPr>
        <p:spPr>
          <a:xfrm>
            <a:off x="2505456" y="1353312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E293B"/>
                </a:solidFill>
              </a:rPr>
              <a:t>Spent to Date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2505456" y="1600200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</a:rPr>
              <a:t>57% consumed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4608576" y="731520"/>
            <a:ext cx="2057400" cy="109728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5" name="Shape 13"/>
          <p:cNvSpPr/>
          <p:nvPr/>
        </p:nvSpPr>
        <p:spPr>
          <a:xfrm>
            <a:off x="4608576" y="731520"/>
            <a:ext cx="2057400" cy="54864"/>
          </a:xfrm>
          <a:prstGeom prst="rect">
            <a:avLst/>
          </a:prstGeom>
          <a:solidFill>
            <a:srgbClr val="D9770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4718304" y="822960"/>
            <a:ext cx="1828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£7.6M</a:t>
            </a:r>
            <a:endParaRPr lang="en-US" sz="2600" dirty="0"/>
          </a:p>
        </p:txBody>
      </p:sp>
      <p:sp>
        <p:nvSpPr>
          <p:cNvPr id="17" name="Text 15"/>
          <p:cNvSpPr/>
          <p:nvPr/>
        </p:nvSpPr>
        <p:spPr>
          <a:xfrm>
            <a:off x="4718304" y="1353312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E293B"/>
                </a:solidFill>
              </a:rPr>
              <a:t>Forecast at Completion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4718304" y="1600200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</a:rPr>
              <a:t>+£0.4M variance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6821424" y="731520"/>
            <a:ext cx="2057400" cy="109728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0" name="Shape 18"/>
          <p:cNvSpPr/>
          <p:nvPr/>
        </p:nvSpPr>
        <p:spPr>
          <a:xfrm>
            <a:off x="6821424" y="731520"/>
            <a:ext cx="2057400" cy="54864"/>
          </a:xfrm>
          <a:prstGeom prst="rect">
            <a:avLst/>
          </a:prstGeom>
          <a:solidFill>
            <a:srgbClr val="16A34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6931152" y="822960"/>
            <a:ext cx="1828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£0.38M</a:t>
            </a:r>
            <a:endParaRPr lang="en-US" sz="2600" dirty="0"/>
          </a:p>
        </p:txBody>
      </p:sp>
      <p:sp>
        <p:nvSpPr>
          <p:cNvPr id="22" name="Text 20"/>
          <p:cNvSpPr/>
          <p:nvPr/>
        </p:nvSpPr>
        <p:spPr>
          <a:xfrm>
            <a:off x="6931152" y="1353312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E293B"/>
                </a:solidFill>
              </a:rPr>
              <a:t>Contingency Remaining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6931152" y="1600200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</a:rPr>
              <a:t>of £0.6M available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274320" y="1965960"/>
            <a:ext cx="5029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100" dirty="0">
                <a:solidFill>
                  <a:srgbClr val="1C2B5E"/>
                </a:solidFill>
              </a:rPr>
              <a:t>SPEND BY WORKSTREAM (£'000)</a:t>
            </a:r>
            <a:endParaRPr lang="en-US" sz="1000" dirty="0"/>
          </a:p>
        </p:txBody>
      </p:sp>
      <p:graphicFrame>
        <p:nvGraphicFramePr>
          <p:cNvPr id="25" name="Chart 0"/>
          <p:cNvGraphicFramePr/>
          <p:nvPr/>
        </p:nvGraphicFramePr>
        <p:xfrm>
          <a:off x="182880" y="2240280"/>
          <a:ext cx="5029200" cy="27432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26" name="Text 23"/>
          <p:cNvSpPr/>
          <p:nvPr/>
        </p:nvSpPr>
        <p:spPr>
          <a:xfrm>
            <a:off x="5394960" y="1965960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100" dirty="0">
                <a:solidFill>
                  <a:srgbClr val="1C2B5E"/>
                </a:solidFill>
              </a:rPr>
              <a:t>MONTHLY SPEND TREND vs PLAN (£'000)</a:t>
            </a:r>
            <a:endParaRPr lang="en-US" sz="1000" dirty="0"/>
          </a:p>
        </p:txBody>
      </p:sp>
      <p:graphicFrame>
        <p:nvGraphicFramePr>
          <p:cNvPr id="27" name="Chart 1"/>
          <p:cNvGraphicFramePr/>
          <p:nvPr/>
        </p:nvGraphicFramePr>
        <p:xfrm>
          <a:off x="5394960" y="2240280"/>
          <a:ext cx="3566160" cy="27432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sp>
        <p:nvSpPr>
          <p:cNvPr id="28" name="Shape 24"/>
          <p:cNvSpPr/>
          <p:nvPr/>
        </p:nvSpPr>
        <p:spPr>
          <a:xfrm>
            <a:off x="0" y="4919472"/>
            <a:ext cx="9144000" cy="224028"/>
          </a:xfrm>
          <a:prstGeom prst="rect">
            <a:avLst/>
          </a:prstGeom>
          <a:solidFill>
            <a:srgbClr val="1C2B5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9" name="Text 25"/>
          <p:cNvSpPr/>
          <p:nvPr/>
        </p:nvSpPr>
        <p:spPr>
          <a:xfrm>
            <a:off x="274320" y="4919472"/>
            <a:ext cx="8595360" cy="2240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CADCFC"/>
                </a:solidFill>
              </a:rPr>
              <a:t>NovaTech Solutions &amp; Apex Consulting  ·  Strictly Confidential  ·  Q1 2025  ·  Slide 4</a:t>
            </a:r>
            <a:endParaRPr lang="en-US" sz="7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94360"/>
          </a:xfrm>
          <a:prstGeom prst="rect">
            <a:avLst/>
          </a:prstGeom>
          <a:solidFill>
            <a:srgbClr val="1C2B5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274320" y="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100" dirty="0">
                <a:solidFill>
                  <a:srgbClr val="FFFFFF"/>
                </a:solidFill>
              </a:rPr>
              <a:t>RISK REGISTER  ·  TOP PROGRAMME RISKS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274320" y="685800"/>
            <a:ext cx="1965960" cy="502920"/>
          </a:xfrm>
          <a:prstGeom prst="rect">
            <a:avLst/>
          </a:prstGeom>
          <a:solidFill>
            <a:srgbClr val="DC2626"/>
          </a:solidFill>
          <a:ln/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274320" y="685800"/>
            <a:ext cx="1965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2  Critical (5×5)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2423160" y="685800"/>
            <a:ext cx="1965960" cy="502920"/>
          </a:xfrm>
          <a:prstGeom prst="rect">
            <a:avLst/>
          </a:prstGeom>
          <a:solidFill>
            <a:srgbClr val="D97706"/>
          </a:solidFill>
          <a:ln/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2423160" y="685800"/>
            <a:ext cx="1965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5  High (4+ score)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4572000" y="685800"/>
            <a:ext cx="1965960" cy="502920"/>
          </a:xfrm>
          <a:prstGeom prst="rect">
            <a:avLst/>
          </a:prstGeom>
          <a:solidFill>
            <a:srgbClr val="EAB308"/>
          </a:solidFill>
          <a:ln/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4572000" y="685800"/>
            <a:ext cx="1965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7  Medium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6720840" y="685800"/>
            <a:ext cx="1965960" cy="502920"/>
          </a:xfrm>
          <a:prstGeom prst="rect">
            <a:avLst/>
          </a:prstGeom>
          <a:solidFill>
            <a:srgbClr val="16A34A"/>
          </a:solidFill>
          <a:ln/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6720840" y="685800"/>
            <a:ext cx="1965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4  Low</a:t>
            </a:r>
            <a:endParaRPr lang="en-US" sz="1200" dirty="0"/>
          </a:p>
        </p:txBody>
      </p:sp>
      <p:graphicFrame>
        <p:nvGraphicFramePr>
          <p:cNvPr id="1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228600" y="1280160"/>
          <a:ext cx="8686800" cy="3657600"/>
        </p:xfrm>
        <a:graphic>
          <a:graphicData uri="http://schemas.openxmlformats.org/drawingml/2006/table">
            <a:tbl>
              <a:tblPr/>
              <a:tblGrid>
                <a:gridCol w="4114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1031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82296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77724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77724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50292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2377440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</a:tblGrid>
              <a:tr h="4572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ID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2B5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Risk Description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2B5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Category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2B5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Owner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2B5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Likelihood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2B5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Impact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2B5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Rating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2B5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Mitigation / Action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2B5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1C2B5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R01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IAM framework gaps may block production deployment of secure data zones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Security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R. Mbeki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High (4)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Critical (5)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262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Remediation plan in review; interim controls in place; deadline 14 Feb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1C2B5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R02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Key AWS environment provisioning slippage threatens Feb UAT window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Infrastructure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D. Okafor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High (4)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High (4)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16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262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Escalated to AWS account team; workaround environment commissioned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1C2B5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R03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Data Governance policy sign-off delayed due to stakeholder availability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Governance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P. Navarro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Medium (3)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High (4)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12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770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Governance Committee slot booked 5 Feb; pre-read issued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1C2B5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R04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Change fatigue: business engagement below target for training uptake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People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C. Harrington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Medium (3)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Medium (3)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770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Targeted engagement campaign; senior sponsor communications planned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1C2B5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R05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Third-party data quality for legacy migration worse than estimated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Data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A. Thornton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Low (2)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High (4)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B30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Automated profiling in place; cleansing sprint added to backlog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1C2B5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R06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Programme resource attrition — 2 senior engineers at risk of leaving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Resourcing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Programme Mgr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Low (2)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High (4)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B30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HR retention review initiated; knowledge transfer in progress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1C2B5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R07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Regulatory change (DORA) may require rework to resilience architecture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Regulatory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R. Mbeki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Low (2)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Medium (3)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B30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Monitoring DORA guidance; architecture review on standby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sp>
        <p:nvSpPr>
          <p:cNvPr id="13" name="Shape 10"/>
          <p:cNvSpPr/>
          <p:nvPr/>
        </p:nvSpPr>
        <p:spPr>
          <a:xfrm>
            <a:off x="0" y="4919472"/>
            <a:ext cx="9144000" cy="224028"/>
          </a:xfrm>
          <a:prstGeom prst="rect">
            <a:avLst/>
          </a:prstGeom>
          <a:solidFill>
            <a:srgbClr val="1C2B5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" name="Text 11"/>
          <p:cNvSpPr/>
          <p:nvPr/>
        </p:nvSpPr>
        <p:spPr>
          <a:xfrm>
            <a:off x="274320" y="4919472"/>
            <a:ext cx="8595360" cy="2240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CADCFC"/>
                </a:solidFill>
              </a:rPr>
              <a:t>NovaTech Solutions &amp; Apex Consulting  ·  Strictly Confidential  ·  Q1 2025  ·  Slide 5</a:t>
            </a:r>
            <a:endParaRPr lang="en-US" sz="7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94360"/>
          </a:xfrm>
          <a:prstGeom prst="rect">
            <a:avLst/>
          </a:prstGeom>
          <a:solidFill>
            <a:srgbClr val="1C2B5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274320" y="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100" dirty="0">
                <a:solidFill>
                  <a:srgbClr val="FFFFFF"/>
                </a:solidFill>
              </a:rPr>
              <a:t>ISSUES LOG  ·  OPEN ISSUES REQUIRING ATTENTION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274320" y="685800"/>
            <a:ext cx="1965960" cy="502920"/>
          </a:xfrm>
          <a:prstGeom prst="rect">
            <a:avLst/>
          </a:prstGeom>
          <a:solidFill>
            <a:srgbClr val="1C2B5E"/>
          </a:solidFill>
          <a:ln/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274320" y="685800"/>
            <a:ext cx="1965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14  Total Open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2423160" y="685800"/>
            <a:ext cx="1965960" cy="502920"/>
          </a:xfrm>
          <a:prstGeom prst="rect">
            <a:avLst/>
          </a:prstGeom>
          <a:solidFill>
            <a:srgbClr val="DC2626"/>
          </a:solidFill>
          <a:ln/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2423160" y="685800"/>
            <a:ext cx="1965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3  Critical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4572000" y="685800"/>
            <a:ext cx="1965960" cy="502920"/>
          </a:xfrm>
          <a:prstGeom prst="rect">
            <a:avLst/>
          </a:prstGeom>
          <a:solidFill>
            <a:srgbClr val="D97706"/>
          </a:solidFill>
          <a:ln/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4572000" y="685800"/>
            <a:ext cx="1965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5  High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6720840" y="685800"/>
            <a:ext cx="1965960" cy="502920"/>
          </a:xfrm>
          <a:prstGeom prst="rect">
            <a:avLst/>
          </a:prstGeom>
          <a:solidFill>
            <a:srgbClr val="16A34A"/>
          </a:solidFill>
          <a:ln/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6720840" y="685800"/>
            <a:ext cx="1965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9  Resolved this month</a:t>
            </a:r>
            <a:endParaRPr lang="en-US" sz="1200" dirty="0"/>
          </a:p>
        </p:txBody>
      </p:sp>
      <p:graphicFrame>
        <p:nvGraphicFramePr>
          <p:cNvPr id="1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228600" y="1280160"/>
          <a:ext cx="8686800" cy="3657600"/>
        </p:xfrm>
        <a:graphic>
          <a:graphicData uri="http://schemas.openxmlformats.org/drawingml/2006/table">
            <a:tbl>
              <a:tblPr/>
              <a:tblGrid>
                <a:gridCol w="4114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286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00584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86868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73152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77724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260604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420624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ID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2B5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Issue Description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2B5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Workstream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2B5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Raised By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2B5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Priority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2B5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Due Date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2B5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Resolution / Action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2B5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20624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1C2B5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I01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Production-grade encryption keys not yet provisioned for data-at-rest in S3 zones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Security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R. Mbeki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Critical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262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 Feb 25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AWS KMS setup in progress; security team review 7 Feb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20624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1C2B5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I02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Legacy ETL jobs failing intermittently due to schema mismatch in source system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Data Pipelines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A. Thornton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Critical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262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31 Jan 25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Hotfix deployed; permanent fix targeted EOW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20624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1C2B5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I03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Business sign-off on data dictionary blocked pending Legal review of PII classifications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Governance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P. Navarro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Critical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262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14 Feb 25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Legal review scheduled 6 Feb; owner escalating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20624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1C2B5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I04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Test environment refresh SLA breached — 48hr delay to UAT readiness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Cloud Infra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D. Okafor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High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770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 Feb 25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Infrastructure automation script being corrected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20624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1C2B5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I05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Power BI licensing shortfall — 15 analyst seats not yet provisioned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Analytics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L. Yamamoto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High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770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14 Feb 25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Procurement request raised; approval pending CFO sign-off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20624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1C2B5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I06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Training content for Data Stewards not reviewed by SMEs — 2wk overdue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Change &amp; Training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C. Harrington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High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770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28 Jan 25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SME review session booked 30 Jan; content frozen after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20624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1C2B5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I07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API rate limiting on source system causing pipeline throughput degradation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Data Pipelines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A. Thornton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High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770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14 Feb 25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Throttling config under review with vendor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420624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1C2B5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I08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DPIA not yet initiated for new customer analytics module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Governance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P. Navarro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Medium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B30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28 Feb 25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DPO engaged; DPIA workshop scheduled 12 Feb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  <p:sp>
        <p:nvSpPr>
          <p:cNvPr id="13" name="Shape 10"/>
          <p:cNvSpPr/>
          <p:nvPr/>
        </p:nvSpPr>
        <p:spPr>
          <a:xfrm>
            <a:off x="0" y="4919472"/>
            <a:ext cx="9144000" cy="224028"/>
          </a:xfrm>
          <a:prstGeom prst="rect">
            <a:avLst/>
          </a:prstGeom>
          <a:solidFill>
            <a:srgbClr val="1C2B5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" name="Text 11"/>
          <p:cNvSpPr/>
          <p:nvPr/>
        </p:nvSpPr>
        <p:spPr>
          <a:xfrm>
            <a:off x="274320" y="4919472"/>
            <a:ext cx="8595360" cy="2240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CADCFC"/>
                </a:solidFill>
              </a:rPr>
              <a:t>NovaTech Solutions &amp; Apex Consulting  ·  Strictly Confidential  ·  Q1 2025  ·  Slide 6</a:t>
            </a:r>
            <a:endParaRPr lang="en-US" sz="7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94360"/>
          </a:xfrm>
          <a:prstGeom prst="rect">
            <a:avLst/>
          </a:prstGeom>
          <a:solidFill>
            <a:srgbClr val="1C2B5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274320" y="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100" dirty="0">
                <a:solidFill>
                  <a:srgbClr val="FFFFFF"/>
                </a:solidFill>
              </a:rPr>
              <a:t>DECISIONS REQUIRED FROM EXECUTIVE SPONSORS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182880" y="658368"/>
            <a:ext cx="8778240" cy="1353312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182880" y="658368"/>
            <a:ext cx="91440" cy="1353312"/>
          </a:xfrm>
          <a:prstGeom prst="rect">
            <a:avLst/>
          </a:prstGeom>
          <a:solidFill>
            <a:srgbClr val="DC262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329184" y="731520"/>
            <a:ext cx="457200" cy="292608"/>
          </a:xfrm>
          <a:prstGeom prst="rect">
            <a:avLst/>
          </a:prstGeom>
          <a:solidFill>
            <a:srgbClr val="DC262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329184" y="731520"/>
            <a:ext cx="457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D01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868680" y="731520"/>
            <a:ext cx="6217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C2B5E"/>
                </a:solidFill>
              </a:rPr>
              <a:t>Approve Revised Security Remediation Timeline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868680" y="1005840"/>
            <a:ext cx="6217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64748B"/>
                </a:solidFill>
              </a:rPr>
              <a:t>Owner: CDO / CISO  ·  Decision needed by: 31 Jan 2025</a:t>
            </a:r>
            <a:endParaRPr lang="en-US" sz="850" dirty="0"/>
          </a:p>
        </p:txBody>
      </p:sp>
      <p:sp>
        <p:nvSpPr>
          <p:cNvPr id="10" name="Text 8"/>
          <p:cNvSpPr/>
          <p:nvPr/>
        </p:nvSpPr>
        <p:spPr>
          <a:xfrm>
            <a:off x="868680" y="1188720"/>
            <a:ext cx="7909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E293B"/>
                </a:solidFill>
              </a:rPr>
              <a:t>The IAM framework gaps (Risk R01) require an additional 3-week remediation sprint. This pushes the Security Sign-off milestone from 28 Feb to 21 Mar 2025.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960120" y="1463040"/>
            <a:ext cx="76809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850" dirty="0">
                <a:solidFill>
                  <a:srgbClr val="1E293B"/>
                </a:solidFill>
              </a:rPr>
              <a:t>Option A: Approve revised timeline — accept 3-week delay to overall programme (recommended)</a:t>
            </a:r>
            <a:endParaRPr lang="en-US" sz="850" dirty="0"/>
          </a:p>
        </p:txBody>
      </p:sp>
      <p:sp>
        <p:nvSpPr>
          <p:cNvPr id="12" name="Text 10"/>
          <p:cNvSpPr/>
          <p:nvPr/>
        </p:nvSpPr>
        <p:spPr>
          <a:xfrm>
            <a:off x="960120" y="1691640"/>
            <a:ext cx="76809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850" dirty="0">
                <a:solidFill>
                  <a:srgbClr val="1E293B"/>
                </a:solidFill>
              </a:rPr>
              <a:t>Option B: Maintain Feb deadline — accept elevated risk with interim compensating controls</a:t>
            </a:r>
            <a:endParaRPr lang="en-US" sz="850" dirty="0"/>
          </a:p>
        </p:txBody>
      </p:sp>
      <p:sp>
        <p:nvSpPr>
          <p:cNvPr id="13" name="Shape 11"/>
          <p:cNvSpPr/>
          <p:nvPr/>
        </p:nvSpPr>
        <p:spPr>
          <a:xfrm>
            <a:off x="182880" y="2103120"/>
            <a:ext cx="8778240" cy="1353312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4" name="Shape 12"/>
          <p:cNvSpPr/>
          <p:nvPr/>
        </p:nvSpPr>
        <p:spPr>
          <a:xfrm>
            <a:off x="182880" y="2103120"/>
            <a:ext cx="91440" cy="1353312"/>
          </a:xfrm>
          <a:prstGeom prst="rect">
            <a:avLst/>
          </a:prstGeom>
          <a:solidFill>
            <a:srgbClr val="D9770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5" name="Shape 13"/>
          <p:cNvSpPr/>
          <p:nvPr/>
        </p:nvSpPr>
        <p:spPr>
          <a:xfrm>
            <a:off x="329184" y="2176272"/>
            <a:ext cx="457200" cy="292608"/>
          </a:xfrm>
          <a:prstGeom prst="rect">
            <a:avLst/>
          </a:prstGeom>
          <a:solidFill>
            <a:srgbClr val="D9770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329184" y="2176272"/>
            <a:ext cx="457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D02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868680" y="2176272"/>
            <a:ext cx="6217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C2B5E"/>
                </a:solidFill>
              </a:rPr>
              <a:t>Authorise Additional Budget — AWS Infrastructure Overrun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868680" y="2450592"/>
            <a:ext cx="6217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64748B"/>
                </a:solidFill>
              </a:rPr>
              <a:t>Owner: CFO / Programme Board  ·  Decision needed by: 7 Feb 2025</a:t>
            </a:r>
            <a:endParaRPr lang="en-US" sz="850" dirty="0"/>
          </a:p>
        </p:txBody>
      </p:sp>
      <p:sp>
        <p:nvSpPr>
          <p:cNvPr id="19" name="Text 17"/>
          <p:cNvSpPr/>
          <p:nvPr/>
        </p:nvSpPr>
        <p:spPr>
          <a:xfrm>
            <a:off x="868680" y="2633472"/>
            <a:ext cx="7909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E293B"/>
                </a:solidFill>
              </a:rPr>
              <a:t>Cloud infrastructure costs are tracking £400K above original estimate due to higher-than-anticipated data egress charges and additional compute needed for backfill runs.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960120" y="2907792"/>
            <a:ext cx="76809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850" dirty="0">
                <a:solidFill>
                  <a:srgbClr val="1E293B"/>
                </a:solidFill>
              </a:rPr>
              <a:t>Option A: Release £400K from programme contingency (contingency balance: £380K — shortfall of £20K)</a:t>
            </a:r>
            <a:endParaRPr lang="en-US" sz="850" dirty="0"/>
          </a:p>
        </p:txBody>
      </p:sp>
      <p:sp>
        <p:nvSpPr>
          <p:cNvPr id="21" name="Text 19"/>
          <p:cNvSpPr/>
          <p:nvPr/>
        </p:nvSpPr>
        <p:spPr>
          <a:xfrm>
            <a:off x="960120" y="3136392"/>
            <a:ext cx="76809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850" dirty="0">
                <a:solidFill>
                  <a:srgbClr val="1E293B"/>
                </a:solidFill>
              </a:rPr>
              <a:t>Option B: Approve supplementary budget of £420K via Change Control process (recommended)</a:t>
            </a:r>
            <a:endParaRPr lang="en-US" sz="850" dirty="0"/>
          </a:p>
        </p:txBody>
      </p:sp>
      <p:sp>
        <p:nvSpPr>
          <p:cNvPr id="22" name="Shape 20"/>
          <p:cNvSpPr/>
          <p:nvPr/>
        </p:nvSpPr>
        <p:spPr>
          <a:xfrm>
            <a:off x="182880" y="3547872"/>
            <a:ext cx="8778240" cy="1353312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3" name="Shape 21"/>
          <p:cNvSpPr/>
          <p:nvPr/>
        </p:nvSpPr>
        <p:spPr>
          <a:xfrm>
            <a:off x="182880" y="3547872"/>
            <a:ext cx="91440" cy="1353312"/>
          </a:xfrm>
          <a:prstGeom prst="rect">
            <a:avLst/>
          </a:prstGeom>
          <a:solidFill>
            <a:srgbClr val="D9770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4" name="Shape 22"/>
          <p:cNvSpPr/>
          <p:nvPr/>
        </p:nvSpPr>
        <p:spPr>
          <a:xfrm>
            <a:off x="329184" y="3621024"/>
            <a:ext cx="457200" cy="292608"/>
          </a:xfrm>
          <a:prstGeom prst="rect">
            <a:avLst/>
          </a:prstGeom>
          <a:solidFill>
            <a:srgbClr val="D9770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5" name="Text 23"/>
          <p:cNvSpPr/>
          <p:nvPr/>
        </p:nvSpPr>
        <p:spPr>
          <a:xfrm>
            <a:off x="329184" y="3621024"/>
            <a:ext cx="457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D03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868680" y="3621024"/>
            <a:ext cx="6217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C2B5E"/>
                </a:solidFill>
              </a:rPr>
              <a:t>Confirm Go-Live Approach: Big Bang vs Phased Rollout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868680" y="3895344"/>
            <a:ext cx="6217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64748B"/>
                </a:solidFill>
              </a:rPr>
              <a:t>Owner: CDO / CTO  ·  Decision needed by: 14 Feb 2025</a:t>
            </a:r>
            <a:endParaRPr lang="en-US" sz="850" dirty="0"/>
          </a:p>
        </p:txBody>
      </p:sp>
      <p:sp>
        <p:nvSpPr>
          <p:cNvPr id="28" name="Text 26"/>
          <p:cNvSpPr/>
          <p:nvPr/>
        </p:nvSpPr>
        <p:spPr>
          <a:xfrm>
            <a:off x="868680" y="4078224"/>
            <a:ext cx="7909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E293B"/>
                </a:solidFill>
              </a:rPr>
              <a:t>Original plan assumes a single go-live in June 2025. Given current delays, the team proposes a phased approach — Analytics in June, Data Platform in Aug — reducing deployment risk.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960120" y="4352544"/>
            <a:ext cx="76809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850" dirty="0">
                <a:solidFill>
                  <a:srgbClr val="1E293B"/>
                </a:solidFill>
              </a:rPr>
              <a:t>Option A: Proceed with phased rollout (Jun + Aug) — lower risk, business continuity maintained (recommended)</a:t>
            </a:r>
            <a:endParaRPr lang="en-US" sz="850" dirty="0"/>
          </a:p>
        </p:txBody>
      </p:sp>
      <p:sp>
        <p:nvSpPr>
          <p:cNvPr id="30" name="Text 28"/>
          <p:cNvSpPr/>
          <p:nvPr/>
        </p:nvSpPr>
        <p:spPr>
          <a:xfrm>
            <a:off x="960120" y="4581144"/>
            <a:ext cx="76809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850" dirty="0">
                <a:solidFill>
                  <a:srgbClr val="1E293B"/>
                </a:solidFill>
              </a:rPr>
              <a:t>Option B: Maintain big-bang June go-live — higher risk but avoids dual running of legacy and new platforms</a:t>
            </a:r>
            <a:endParaRPr lang="en-US" sz="850" dirty="0"/>
          </a:p>
        </p:txBody>
      </p:sp>
      <p:sp>
        <p:nvSpPr>
          <p:cNvPr id="31" name="Shape 29"/>
          <p:cNvSpPr/>
          <p:nvPr/>
        </p:nvSpPr>
        <p:spPr>
          <a:xfrm>
            <a:off x="0" y="4919472"/>
            <a:ext cx="9144000" cy="224028"/>
          </a:xfrm>
          <a:prstGeom prst="rect">
            <a:avLst/>
          </a:prstGeom>
          <a:solidFill>
            <a:srgbClr val="1C2B5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2" name="Text 30"/>
          <p:cNvSpPr/>
          <p:nvPr/>
        </p:nvSpPr>
        <p:spPr>
          <a:xfrm>
            <a:off x="274320" y="4919472"/>
            <a:ext cx="8595360" cy="2240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CADCFC"/>
                </a:solidFill>
              </a:rPr>
              <a:t>NovaTech Solutions &amp; Apex Consulting  ·  Strictly Confidential  ·  Q1 2025  ·  Slide 7</a:t>
            </a:r>
            <a:endParaRPr lang="en-US" sz="7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94360"/>
          </a:xfrm>
          <a:prstGeom prst="rect">
            <a:avLst/>
          </a:prstGeom>
          <a:solidFill>
            <a:srgbClr val="1C2B5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274320" y="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100" dirty="0">
                <a:solidFill>
                  <a:srgbClr val="FFFFFF"/>
                </a:solidFill>
              </a:rPr>
              <a:t>NEXT STEPS  ·  KEY ACTIONS FOR FEBRUARY 2025</a:t>
            </a:r>
            <a:endParaRPr lang="en-US" sz="1300" dirty="0"/>
          </a:p>
        </p:txBody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228600" y="685800"/>
          <a:ext cx="8686800" cy="4160520"/>
        </p:xfrm>
        <a:graphic>
          <a:graphicData uri="http://schemas.openxmlformats.org/drawingml/2006/table">
            <a:tbl>
              <a:tblPr/>
              <a:tblGrid>
                <a:gridCol w="3657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3891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3716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64008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00584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374904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#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2B5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Action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2B5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Owner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2B5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Due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2B5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Priority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2B5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4904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1C2B5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Finalise and present IAM remediation plan to Security Review Board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R. Mbeki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 Feb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Critical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262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4904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1C2B5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Raise Change Control for additional AWS infrastructure budget (£420K)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Programme Mgr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 Feb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Critical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262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4904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1C2B5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Convene Governance Committee to sign off Data Policy v2.0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P. Navarro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 Feb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Critical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262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74904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1C2B5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Fix legacy ETL schema mismatch — deploy permanent patch to production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A. Thornton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31 Jan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High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770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74904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1C2B5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Submit Power BI licence procurement request for CFO approval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L. Yamamoto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 Feb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High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770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74904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1C2B5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Complete SME review and freeze Change &amp; Training content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C. Harrington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30 Jan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High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770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74904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1C2B5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Provision corrected test environment refresh automation script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D. Okafor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 Feb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High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770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74904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1C2B5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Initiate DPIA workshop with DPO for new analytics module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P. Navarro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12 Feb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Medium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B30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374904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1C2B5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Confirm executive decision on Go-Live approach (D03)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CDO / CTO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14 Feb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Medium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B30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374904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1C2B5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Deliver monthly programme status report to Steering Committee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Programme Mgr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28 Feb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Standard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948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</a:tbl>
          </a:graphicData>
        </a:graphic>
      </p:graphicFrame>
      <p:sp>
        <p:nvSpPr>
          <p:cNvPr id="5" name="Shape 2"/>
          <p:cNvSpPr/>
          <p:nvPr/>
        </p:nvSpPr>
        <p:spPr>
          <a:xfrm>
            <a:off x="228600" y="4617720"/>
            <a:ext cx="8686800" cy="256032"/>
          </a:xfrm>
          <a:prstGeom prst="rect">
            <a:avLst/>
          </a:prstGeom>
          <a:solidFill>
            <a:srgbClr val="EEF2FF"/>
          </a:solidFill>
          <a:ln w="12700">
            <a:solidFill>
              <a:srgbClr val="1C2B5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3"/>
          <p:cNvSpPr/>
          <p:nvPr/>
        </p:nvSpPr>
        <p:spPr>
          <a:xfrm>
            <a:off x="320040" y="4617720"/>
            <a:ext cx="8503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1C2B5E"/>
                </a:solidFill>
              </a:rPr>
              <a:t>📅  Next Executive Governance Review: 28 February 2025  ·  09:00–10:30  ·  Boardroom 4B / Virtual</a:t>
            </a:r>
            <a:endParaRPr lang="en-US" sz="950" dirty="0"/>
          </a:p>
        </p:txBody>
      </p:sp>
      <p:sp>
        <p:nvSpPr>
          <p:cNvPr id="7" name="Shape 4"/>
          <p:cNvSpPr/>
          <p:nvPr/>
        </p:nvSpPr>
        <p:spPr>
          <a:xfrm>
            <a:off x="0" y="4919472"/>
            <a:ext cx="9144000" cy="224028"/>
          </a:xfrm>
          <a:prstGeom prst="rect">
            <a:avLst/>
          </a:prstGeom>
          <a:solidFill>
            <a:srgbClr val="1C2B5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Text 5"/>
          <p:cNvSpPr/>
          <p:nvPr/>
        </p:nvSpPr>
        <p:spPr>
          <a:xfrm>
            <a:off x="274320" y="4919472"/>
            <a:ext cx="8595360" cy="2240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CADCFC"/>
                </a:solidFill>
              </a:rPr>
              <a:t>NovaTech Solutions &amp; Apex Consulting  ·  Strictly Confidential  ·  Q1 2025  ·  Slide 8</a:t>
            </a:r>
            <a:endParaRPr lang="en-US" sz="7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1439</Words>
  <Application>Microsoft Macintosh PowerPoint</Application>
  <PresentationFormat>On-screen Show (16:9)</PresentationFormat>
  <Paragraphs>348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2" baseType="lpstr">
      <vt:lpstr>Arial</vt:lpstr>
      <vt:lpstr>Calibri</vt:lpstr>
      <vt:lpstr>Calibri Light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Project Meridian – Executive Governance Review</dc:title>
  <dc:subject>PptxGenJS Presentation</dc:subject>
  <dc:creator>Apex Consulting</dc:creator>
  <cp:lastModifiedBy>SURJIT DAS</cp:lastModifiedBy>
  <cp:revision>1</cp:revision>
  <dcterms:created xsi:type="dcterms:W3CDTF">2026-04-25T06:57:48Z</dcterms:created>
  <dcterms:modified xsi:type="dcterms:W3CDTF">2026-04-25T07:33:18Z</dcterms:modified>
</cp:coreProperties>
</file>